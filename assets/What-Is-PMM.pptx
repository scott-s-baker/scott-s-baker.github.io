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49"/>
  </p:notesMasterIdLst>
  <p:sldIdLst>
    <p:sldId id="374" r:id="rId2"/>
    <p:sldId id="375" r:id="rId3"/>
    <p:sldId id="262" r:id="rId4"/>
    <p:sldId id="263" r:id="rId5"/>
    <p:sldId id="376" r:id="rId6"/>
    <p:sldId id="265" r:id="rId7"/>
    <p:sldId id="256" r:id="rId8"/>
    <p:sldId id="362" r:id="rId9"/>
    <p:sldId id="347" r:id="rId10"/>
    <p:sldId id="261" r:id="rId11"/>
    <p:sldId id="296" r:id="rId12"/>
    <p:sldId id="355" r:id="rId13"/>
    <p:sldId id="341" r:id="rId14"/>
    <p:sldId id="290" r:id="rId15"/>
    <p:sldId id="264" r:id="rId16"/>
    <p:sldId id="266" r:id="rId17"/>
    <p:sldId id="267" r:id="rId18"/>
    <p:sldId id="357" r:id="rId19"/>
    <p:sldId id="370" r:id="rId20"/>
    <p:sldId id="358" r:id="rId21"/>
    <p:sldId id="361" r:id="rId22"/>
    <p:sldId id="349" r:id="rId23"/>
    <p:sldId id="350" r:id="rId24"/>
    <p:sldId id="351" r:id="rId25"/>
    <p:sldId id="346" r:id="rId26"/>
    <p:sldId id="342" r:id="rId27"/>
    <p:sldId id="343" r:id="rId28"/>
    <p:sldId id="344" r:id="rId29"/>
    <p:sldId id="345" r:id="rId30"/>
    <p:sldId id="277" r:id="rId31"/>
    <p:sldId id="270" r:id="rId32"/>
    <p:sldId id="363" r:id="rId33"/>
    <p:sldId id="268" r:id="rId34"/>
    <p:sldId id="269" r:id="rId35"/>
    <p:sldId id="371" r:id="rId36"/>
    <p:sldId id="364" r:id="rId37"/>
    <p:sldId id="365" r:id="rId38"/>
    <p:sldId id="366" r:id="rId39"/>
    <p:sldId id="367" r:id="rId40"/>
    <p:sldId id="372" r:id="rId41"/>
    <p:sldId id="368" r:id="rId42"/>
    <p:sldId id="373" r:id="rId43"/>
    <p:sldId id="369" r:id="rId44"/>
    <p:sldId id="291" r:id="rId45"/>
    <p:sldId id="292" r:id="rId46"/>
    <p:sldId id="352" r:id="rId47"/>
    <p:sldId id="293" r:id="rId4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bout Me" id="{96BD2977-C2C9-7349-AEE7-50A333587985}">
          <p14:sldIdLst>
            <p14:sldId id="374"/>
            <p14:sldId id="375"/>
            <p14:sldId id="262"/>
            <p14:sldId id="263"/>
            <p14:sldId id="376"/>
            <p14:sldId id="265"/>
          </p14:sldIdLst>
        </p14:section>
        <p14:section name="Title and Agenda" id="{7F32FD49-F839-D54E-82F3-7F94D916DC62}">
          <p14:sldIdLst>
            <p14:sldId id="256"/>
            <p14:sldId id="362"/>
          </p14:sldIdLst>
        </p14:section>
        <p14:section name="Introduction" id="{46993C55-5A6E-1940-BEEF-DA847D30EEE8}">
          <p14:sldIdLst>
            <p14:sldId id="347"/>
            <p14:sldId id="261"/>
            <p14:sldId id="296"/>
            <p14:sldId id="355"/>
            <p14:sldId id="341"/>
            <p14:sldId id="290"/>
            <p14:sldId id="264"/>
            <p14:sldId id="266"/>
          </p14:sldIdLst>
        </p14:section>
        <p14:section name="Product Marketing vs. Other Functions" id="{388C4523-A9A8-C548-AFE6-CCE02E284C47}">
          <p14:sldIdLst>
            <p14:sldId id="267"/>
            <p14:sldId id="357"/>
            <p14:sldId id="370"/>
            <p14:sldId id="358"/>
            <p14:sldId id="361"/>
            <p14:sldId id="349"/>
            <p14:sldId id="350"/>
            <p14:sldId id="351"/>
          </p14:sldIdLst>
        </p14:section>
        <p14:section name="The State of Product Marketing" id="{BDD08842-8894-5844-8FD9-48769490A9A0}">
          <p14:sldIdLst>
            <p14:sldId id="346"/>
            <p14:sldId id="342"/>
            <p14:sldId id="343"/>
            <p14:sldId id="344"/>
            <p14:sldId id="345"/>
            <p14:sldId id="277"/>
            <p14:sldId id="270"/>
          </p14:sldIdLst>
        </p14:section>
        <p14:section name="How a High Performing PMM Team Executes" id="{1247C7C9-6DA8-094C-9289-CD588A726312}">
          <p14:sldIdLst>
            <p14:sldId id="363"/>
            <p14:sldId id="268"/>
            <p14:sldId id="269"/>
            <p14:sldId id="371"/>
            <p14:sldId id="364"/>
            <p14:sldId id="365"/>
            <p14:sldId id="366"/>
            <p14:sldId id="367"/>
            <p14:sldId id="372"/>
            <p14:sldId id="368"/>
            <p14:sldId id="373"/>
            <p14:sldId id="369"/>
            <p14:sldId id="291"/>
            <p14:sldId id="292"/>
            <p14:sldId id="352"/>
          </p14:sldIdLst>
        </p14:section>
        <p14:section name="Summary" id="{E616BE15-6E78-D64C-9C5C-A1CEACF4E107}">
          <p14:sldIdLst>
            <p14:sldId id="293"/>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70"/>
    <p:restoredTop sz="78630"/>
  </p:normalViewPr>
  <p:slideViewPr>
    <p:cSldViewPr snapToGrid="0">
      <p:cViewPr varScale="1">
        <p:scale>
          <a:sx n="125" d="100"/>
          <a:sy n="125" d="100"/>
        </p:scale>
        <p:origin x="1512"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C9E1DFD1-3159-A5D6-0FB9-F76BF0079D63}"/>
            </a:ext>
          </a:extLst>
        </p:cNvPr>
        <p:cNvGrpSpPr/>
        <p:nvPr/>
      </p:nvGrpSpPr>
      <p:grpSpPr>
        <a:xfrm>
          <a:off x="0" y="0"/>
          <a:ext cx="0" cy="0"/>
          <a:chOff x="0" y="0"/>
          <a:chExt cx="0" cy="0"/>
        </a:xfrm>
      </p:grpSpPr>
      <p:sp>
        <p:nvSpPr>
          <p:cNvPr id="228" name="Google Shape;228;gdbf1d7a510_0_584:notes">
            <a:extLst>
              <a:ext uri="{FF2B5EF4-FFF2-40B4-BE49-F238E27FC236}">
                <a16:creationId xmlns:a16="http://schemas.microsoft.com/office/drawing/2014/main" id="{091AE629-7649-F834-E149-BE9E3EAF13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a:extLst>
              <a:ext uri="{FF2B5EF4-FFF2-40B4-BE49-F238E27FC236}">
                <a16:creationId xmlns:a16="http://schemas.microsoft.com/office/drawing/2014/main" id="{2F2F26B5-0B93-68A5-255A-BD04CCF378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4076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dbf1d7a510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dbf1d7a510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6f80d1f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c6f80d1f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dbf1d7a510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dbf1d7a510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c6f80d1ff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c6f80d1ff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dbf1d7a510_0_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dbf1d7a510_0_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40000"/>
              </a:lnSpc>
              <a:spcBef>
                <a:spcPts val="0"/>
              </a:spcBef>
              <a:spcAft>
                <a:spcPts val="0"/>
              </a:spcAft>
              <a:buClr>
                <a:srgbClr val="111111"/>
              </a:buClr>
              <a:buSzPts val="1100"/>
              <a:buAutoNum type="arabicPeriod"/>
            </a:pPr>
            <a:endParaRPr>
              <a:solidFill>
                <a:srgbClr val="111111"/>
              </a:solidFill>
            </a:endParaRPr>
          </a:p>
          <a:p>
            <a:pPr marL="0" lvl="0" indent="0" algn="l" rtl="0">
              <a:spcBef>
                <a:spcPts val="150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c6f80d1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c6f80d1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c6f80d1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c6f80d1f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5628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9176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dbf1d7a510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dbf1d7a510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SPEAKER 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evolution of Product Marketing is one of the newest and most important trends in marketing today, so it’s important to understand the role, what it’s responsible for and know how to apply it to your career or company.</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Product Marketing</a:t>
            </a:r>
            <a:r>
              <a:rPr lang="en-US" dirty="0"/>
              <a:t> is what connects the dots between the product and the market in both directions. This means that the Product Marketing role is responsible for two flows: understanding the market (demand/need), shaping the product, and communicating the product (solution) to the market.</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dbf1d7a510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dbf1d7a510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SPEAKER SCRIPT</a:t>
            </a:r>
          </a:p>
          <a:p>
            <a:pPr marL="0" lvl="0" indent="0" algn="l" rtl="0">
              <a:spcBef>
                <a:spcPts val="0"/>
              </a:spcBef>
              <a:spcAft>
                <a:spcPts val="0"/>
              </a:spcAft>
              <a:buNone/>
            </a:pPr>
            <a:endParaRPr lang="en-US" dirty="0"/>
          </a:p>
          <a:p>
            <a:pPr marL="139700" indent="0">
              <a:buNone/>
            </a:pPr>
            <a:r>
              <a:rPr lang="en-US" dirty="0"/>
              <a:t>In (a) </a:t>
            </a:r>
            <a:r>
              <a:rPr lang="en-US" b="1" dirty="0"/>
              <a:t>shaping the product (the Voice of the Market to the Product)</a:t>
            </a:r>
            <a:r>
              <a:rPr lang="en-US" dirty="0"/>
              <a:t>, Product Marketers will undertake activities such as:</a:t>
            </a:r>
          </a:p>
          <a:p>
            <a:r>
              <a:rPr lang="en-US" dirty="0"/>
              <a:t>Customer and competitor research (to help identify unmet needs)</a:t>
            </a:r>
          </a:p>
          <a:p>
            <a:r>
              <a:rPr lang="en-US" dirty="0"/>
              <a:t>Persona development and segmentation (to better define the target audience)</a:t>
            </a:r>
          </a:p>
          <a:p>
            <a:r>
              <a:rPr lang="en-US" dirty="0"/>
              <a:t>Messaging and position (the magic that is our story to evoke emotion and call people to action)</a:t>
            </a:r>
          </a:p>
          <a:p>
            <a:endParaRPr lang="en-US" dirty="0"/>
          </a:p>
          <a:p>
            <a:pPr marL="139700" indent="0">
              <a:buNone/>
            </a:pPr>
            <a:r>
              <a:rPr lang="en-US" dirty="0"/>
              <a:t>Ship the Product (Sales)</a:t>
            </a:r>
          </a:p>
          <a:p>
            <a:pPr marL="139700" indent="0">
              <a:buNone/>
            </a:pPr>
            <a:endParaRPr lang="en-US" dirty="0"/>
          </a:p>
          <a:p>
            <a:pPr marL="139700" indent="0">
              <a:buNone/>
            </a:pPr>
            <a:r>
              <a:rPr lang="en-US" dirty="0"/>
              <a:t>In (b) </a:t>
            </a:r>
            <a:r>
              <a:rPr lang="en-US" b="1" dirty="0"/>
              <a:t>communicating the product (the Voice of the Product to the Market)</a:t>
            </a:r>
            <a:r>
              <a:rPr lang="en-US" dirty="0"/>
              <a:t>, Product Marketers will undertake activities such as:</a:t>
            </a:r>
          </a:p>
          <a:p>
            <a:r>
              <a:rPr lang="en-US" dirty="0"/>
              <a:t>Content and collateral creation (to enable sales, success, support teams)</a:t>
            </a:r>
          </a:p>
          <a:p>
            <a:r>
              <a:rPr lang="en-US" dirty="0"/>
              <a:t>Promoting the product/feature (to educate the market)</a:t>
            </a:r>
          </a:p>
          <a:p>
            <a:r>
              <a:rPr lang="en-US" dirty="0"/>
              <a:t>Launch management (coordinating the whole team in the delivery process)</a:t>
            </a:r>
          </a:p>
          <a:p>
            <a:r>
              <a:rPr lang="en-US" dirty="0"/>
              <a:t>GTM execution (full marketing mix leverage to ensure marketing is contributing to the bottom-line objectives)</a:t>
            </a:r>
          </a:p>
          <a:p>
            <a:endParaRPr lang="en-US" dirty="0"/>
          </a:p>
          <a:p>
            <a:pPr marL="139700" indent="0">
              <a:buNone/>
            </a:pPr>
            <a:r>
              <a:rPr lang="en-US" dirty="0"/>
              <a:t>In short, we make magic happen</a:t>
            </a:r>
          </a:p>
        </p:txBody>
      </p:sp>
    </p:spTree>
    <p:extLst>
      <p:ext uri="{BB962C8B-B14F-4D97-AF65-F5344CB8AC3E}">
        <p14:creationId xmlns:p14="http://schemas.microsoft.com/office/powerpoint/2010/main" val="3703123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Source: “55 Product Marketing Stats”; Lawrence Chapman, Product Marketing Alliance, Sept. 2020</a:t>
            </a:r>
          </a:p>
        </p:txBody>
      </p:sp>
    </p:spTree>
    <p:extLst>
      <p:ext uri="{BB962C8B-B14F-4D97-AF65-F5344CB8AC3E}">
        <p14:creationId xmlns:p14="http://schemas.microsoft.com/office/powerpoint/2010/main" val="4148908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dbf1d7a510_0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dbf1d7a510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lvl="0" indent="0" algn="l" rtl="0">
              <a:lnSpc>
                <a:spcPct val="140000"/>
              </a:lnSpc>
              <a:spcBef>
                <a:spcPts val="0"/>
              </a:spcBef>
              <a:spcAft>
                <a:spcPts val="0"/>
              </a:spcAft>
              <a:buClr>
                <a:srgbClr val="111111"/>
              </a:buClr>
              <a:buSzPts val="1100"/>
              <a:buNone/>
            </a:pPr>
            <a:r>
              <a:rPr lang="en-US" b="1" dirty="0">
                <a:solidFill>
                  <a:srgbClr val="111111"/>
                </a:solidFill>
              </a:rPr>
              <a:t>SPEAKER SCRIPT</a:t>
            </a:r>
          </a:p>
          <a:p>
            <a:pPr marL="158750" lvl="0" indent="0" algn="l" rtl="0">
              <a:lnSpc>
                <a:spcPct val="140000"/>
              </a:lnSpc>
              <a:spcBef>
                <a:spcPts val="0"/>
              </a:spcBef>
              <a:spcAft>
                <a:spcPts val="0"/>
              </a:spcAft>
              <a:buClr>
                <a:srgbClr val="111111"/>
              </a:buClr>
              <a:buSzPts val="1100"/>
              <a:buNone/>
            </a:pPr>
            <a:endParaRPr b="1" dirty="0">
              <a:solidFill>
                <a:srgbClr val="111111"/>
              </a:solidFill>
            </a:endParaRPr>
          </a:p>
          <a:p>
            <a:pPr marL="139700" indent="0">
              <a:buNone/>
            </a:pPr>
            <a:r>
              <a:rPr lang="en-US" dirty="0"/>
              <a:t>The confusion regarding product marketing comes from the fact that it's often difficult to distinguish what it does or how it's different from the job of other departments. But it is true that product marketing does a little bit of everything.</a:t>
            </a:r>
          </a:p>
          <a:p>
            <a:pPr marL="139700" indent="0">
              <a:buNone/>
            </a:pPr>
            <a:endParaRPr lang="en-US" dirty="0"/>
          </a:p>
          <a:p>
            <a:pPr marL="139700" indent="0">
              <a:buNone/>
            </a:pPr>
            <a:r>
              <a:rPr lang="en-US" dirty="0"/>
              <a:t>Like the sales department, the product marketer has to be in charge of driving business growth through various marketing strategies. They also need to be in synch with engineers and developers, deciding what to build, how to build it, and the most important thing: WHY building it. Finally, as its own name says, the product marketing manager must make sure that the final product reaches the final customer.</a:t>
            </a:r>
          </a:p>
          <a:p>
            <a:pPr marL="139700" indent="0">
              <a:buNone/>
            </a:pPr>
            <a:endParaRPr lang="en-US" dirty="0"/>
          </a:p>
          <a:p>
            <a:pPr marL="139700" indent="0">
              <a:buNone/>
            </a:pPr>
            <a:r>
              <a:rPr lang="en-US" dirty="0"/>
              <a:t>The product marketer's responsibilities vary according to the type of company. In some, they are more of an engineer, in others a salesperson, and in some, a member of the marketing department. But it shouldn't be this way. </a:t>
            </a:r>
          </a:p>
          <a:p>
            <a:pPr marL="139700" indent="0">
              <a:buNone/>
            </a:pPr>
            <a:endParaRPr lang="en-US" dirty="0"/>
          </a:p>
          <a:p>
            <a:pPr marL="139700" indent="0">
              <a:buNone/>
            </a:pPr>
            <a:r>
              <a:rPr lang="en-US" dirty="0"/>
              <a:t>Product Marketing is a discipline of its own that every day has more weight in companies, and that's why we have to distinguish it perfectly. In most cases, a product marketer has three main tasks:</a:t>
            </a:r>
          </a:p>
          <a:p>
            <a:pPr marL="0" lvl="0" indent="0" algn="l" rtl="0">
              <a:spcBef>
                <a:spcPts val="1500"/>
              </a:spcBef>
              <a:spcAft>
                <a:spcPts val="0"/>
              </a:spcAft>
              <a:buNone/>
            </a:pPr>
            <a:endParaRPr dirty="0"/>
          </a:p>
        </p:txBody>
      </p:sp>
    </p:spTree>
    <p:extLst>
      <p:ext uri="{BB962C8B-B14F-4D97-AF65-F5344CB8AC3E}">
        <p14:creationId xmlns:p14="http://schemas.microsoft.com/office/powerpoint/2010/main" val="1645789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dbf1d7a510_0_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dbf1d7a510_0_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4922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c6f80d1ff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c6f80d1ff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c6f80d1f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c6f80d1f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c6f80d1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c6f80d1f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effectLst/>
              </a:rPr>
              <a:t>First companies build the product.  Then just before they launch the product or service (or in some cases they launched it already and it does not sell very well) they then try to figure out:</a:t>
            </a:r>
          </a:p>
          <a:p>
            <a:r>
              <a:rPr lang="en-US" dirty="0">
                <a:effectLst/>
              </a:rPr>
              <a:t>Who they built the product for (personas)</a:t>
            </a:r>
          </a:p>
          <a:p>
            <a:r>
              <a:rPr lang="en-US" dirty="0">
                <a:effectLst/>
              </a:rPr>
              <a:t>How it might be used (use cases)</a:t>
            </a:r>
          </a:p>
          <a:p>
            <a:r>
              <a:rPr lang="en-US" dirty="0">
                <a:effectLst/>
              </a:rPr>
              <a:t>Who the competition is</a:t>
            </a:r>
          </a:p>
          <a:p>
            <a:r>
              <a:rPr lang="en-US" dirty="0">
                <a:effectLst/>
              </a:rPr>
              <a:t>What the features are that were built into the product</a:t>
            </a:r>
          </a:p>
          <a:p>
            <a:r>
              <a:rPr lang="en-US" dirty="0">
                <a:effectLst/>
              </a:rPr>
              <a:t>How to position it in the market</a:t>
            </a:r>
          </a:p>
          <a:p>
            <a:r>
              <a:rPr lang="en-US" dirty="0">
                <a:effectLst/>
              </a:rPr>
              <a:t>What markets to target</a:t>
            </a:r>
          </a:p>
          <a:p>
            <a:r>
              <a:rPr lang="en-US" dirty="0">
                <a:effectLst/>
              </a:rPr>
              <a:t>What is the messages that will be used to try to sell the product</a:t>
            </a:r>
          </a:p>
          <a:p>
            <a:r>
              <a:rPr lang="en-US" dirty="0">
                <a:effectLst/>
              </a:rPr>
              <a:t>All too frequently, by being late with answers to these questions the end result is failure.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988119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591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c6f80d1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c6f80d1f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effectLst/>
              </a:rPr>
              <a:t>From the “flow” above, Apple, on the other hand, seems to figure out first what people “do”!</a:t>
            </a:r>
          </a:p>
          <a:p>
            <a:r>
              <a:rPr lang="en-US" dirty="0">
                <a:effectLst/>
              </a:rPr>
              <a:t>Why they do it</a:t>
            </a:r>
          </a:p>
          <a:p>
            <a:r>
              <a:rPr lang="en-US" dirty="0">
                <a:effectLst/>
              </a:rPr>
              <a:t>When they do it</a:t>
            </a:r>
          </a:p>
          <a:p>
            <a:r>
              <a:rPr lang="en-US" dirty="0">
                <a:effectLst/>
              </a:rPr>
              <a:t>Where they do it</a:t>
            </a:r>
          </a:p>
          <a:p>
            <a:r>
              <a:rPr lang="en-US" dirty="0">
                <a:effectLst/>
              </a:rPr>
              <a:t>How they do it</a:t>
            </a:r>
          </a:p>
          <a:p>
            <a:r>
              <a:rPr lang="en-US" dirty="0">
                <a:effectLst/>
              </a:rPr>
              <a:t>If they find in their research lots of people doing the same kinds of things… then they look at the technologies available or that could be developed or acquired, that would enable people to get their “dos” done faster, better, and more enjoyably than ever before.</a:t>
            </a:r>
          </a:p>
          <a:p>
            <a:r>
              <a:rPr lang="en-US" dirty="0">
                <a:effectLst/>
              </a:rPr>
              <a:t>Think about what Apple has done over the years:</a:t>
            </a:r>
          </a:p>
          <a:p>
            <a:r>
              <a:rPr lang="en-US" dirty="0">
                <a:effectLst/>
              </a:rPr>
              <a:t>Think personal computing: </a:t>
            </a:r>
            <a:r>
              <a:rPr lang="en-US" b="1" dirty="0">
                <a:effectLst/>
              </a:rPr>
              <a:t>Macintosh</a:t>
            </a:r>
            <a:endParaRPr lang="en-US" dirty="0">
              <a:effectLst/>
            </a:endParaRPr>
          </a:p>
          <a:p>
            <a:r>
              <a:rPr lang="en-US" dirty="0">
                <a:effectLst/>
              </a:rPr>
              <a:t>Mobile music delivery: </a:t>
            </a:r>
            <a:r>
              <a:rPr lang="en-US" b="1" dirty="0">
                <a:effectLst/>
              </a:rPr>
              <a:t>iPod</a:t>
            </a:r>
            <a:endParaRPr lang="en-US" dirty="0">
              <a:effectLst/>
            </a:endParaRPr>
          </a:p>
          <a:p>
            <a:r>
              <a:rPr lang="en-US" dirty="0">
                <a:effectLst/>
              </a:rPr>
              <a:t>Portable computer that does more than just make phone calls… Internet in your pocket: </a:t>
            </a:r>
            <a:r>
              <a:rPr lang="en-US" b="1" dirty="0">
                <a:effectLst/>
              </a:rPr>
              <a:t>iPhone</a:t>
            </a:r>
            <a:endParaRPr lang="en-US" dirty="0">
              <a:effectLst/>
            </a:endParaRPr>
          </a:p>
          <a:p>
            <a:r>
              <a:rPr lang="en-US" dirty="0">
                <a:effectLst/>
              </a:rPr>
              <a:t>Mobile media delivery device: </a:t>
            </a:r>
            <a:r>
              <a:rPr lang="en-US" b="1" dirty="0">
                <a:effectLst/>
              </a:rPr>
              <a:t>iPad</a:t>
            </a:r>
            <a:endParaRPr lang="en-US" dirty="0">
              <a:effectLst/>
            </a:endParaRPr>
          </a:p>
          <a:p>
            <a:r>
              <a:rPr lang="en-US" dirty="0">
                <a:effectLst/>
              </a:rPr>
              <a:t>And now a computer output/input device on your wrist, Apple’s most personal device:  </a:t>
            </a:r>
            <a:r>
              <a:rPr lang="en-US" b="1" dirty="0">
                <a:effectLst/>
              </a:rPr>
              <a:t>Apple Watch</a:t>
            </a:r>
            <a:endParaRPr lang="en-US" dirty="0">
              <a:effectLst/>
            </a:endParaRPr>
          </a:p>
          <a:p>
            <a:r>
              <a:rPr lang="en-US" dirty="0">
                <a:effectLst/>
              </a:rPr>
              <a:t>By computer, I am just using that as a shorthand for all the things people do on their computers… Get information, communicate, entertain, learn etc.</a:t>
            </a:r>
          </a:p>
          <a:p>
            <a:r>
              <a:rPr lang="en-US" dirty="0">
                <a:effectLst/>
              </a:rPr>
              <a:t>So at Apple it’s all about the “do”.  Not what competitors are doing.  Not about market sizes or even market share.  Its about the “do”.</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5848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8105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29732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dbf1d7a510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dbf1d7a510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78425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c6f80d1f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c6f80d1f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8049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dbf1d7a510_0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dbf1d7a510_0_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9750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dbf1d7a510_0_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dbf1d7a510_0_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40000"/>
              </a:lnSpc>
              <a:spcBef>
                <a:spcPts val="0"/>
              </a:spcBef>
              <a:spcAft>
                <a:spcPts val="0"/>
              </a:spcAft>
              <a:buClr>
                <a:srgbClr val="111111"/>
              </a:buClr>
              <a:buSzPts val="1100"/>
              <a:buAutoNum type="arabicPeriod"/>
            </a:pPr>
            <a:r>
              <a:rPr lang="en" b="1">
                <a:solidFill>
                  <a:srgbClr val="111111"/>
                </a:solidFill>
              </a:rPr>
              <a:t>Puts the customer at the center of everything:</a:t>
            </a:r>
            <a:r>
              <a:rPr lang="en">
                <a:solidFill>
                  <a:srgbClr val="111111"/>
                </a:solidFill>
              </a:rPr>
              <a:t> Product marketers must have a deep understanding of the customer and the market. In other words: they need to put customers at the center of everything they do. Success here often happens behind the scenes through great customer engagement and internal enablement.</a:t>
            </a:r>
            <a:endParaRPr>
              <a:solidFill>
                <a:srgbClr val="111111"/>
              </a:solidFill>
            </a:endParaRPr>
          </a:p>
          <a:p>
            <a:pPr marL="457200" lvl="0" indent="-298450" algn="l" rtl="0">
              <a:lnSpc>
                <a:spcPct val="140000"/>
              </a:lnSpc>
              <a:spcBef>
                <a:spcPts val="0"/>
              </a:spcBef>
              <a:spcAft>
                <a:spcPts val="0"/>
              </a:spcAft>
              <a:buClr>
                <a:srgbClr val="111111"/>
              </a:buClr>
              <a:buSzPts val="1100"/>
              <a:buAutoNum type="arabicPeriod"/>
            </a:pPr>
            <a:r>
              <a:rPr lang="en" b="1">
                <a:solidFill>
                  <a:srgbClr val="111111"/>
                </a:solidFill>
              </a:rPr>
              <a:t>Nails messaging:</a:t>
            </a:r>
            <a:r>
              <a:rPr lang="en">
                <a:solidFill>
                  <a:srgbClr val="111111"/>
                </a:solidFill>
              </a:rPr>
              <a:t> You might have a killer product, amazing services, and unparalleled internal support. But none of that matters if you aren’t doing a good job explaining what your product does and how it helps your customers.</a:t>
            </a:r>
            <a:endParaRPr>
              <a:solidFill>
                <a:srgbClr val="111111"/>
              </a:solidFill>
            </a:endParaRPr>
          </a:p>
          <a:p>
            <a:pPr marL="457200" lvl="0" indent="-298450" algn="l" rtl="0">
              <a:lnSpc>
                <a:spcPct val="140000"/>
              </a:lnSpc>
              <a:spcBef>
                <a:spcPts val="0"/>
              </a:spcBef>
              <a:spcAft>
                <a:spcPts val="0"/>
              </a:spcAft>
              <a:buClr>
                <a:srgbClr val="111111"/>
              </a:buClr>
              <a:buSzPts val="1100"/>
              <a:buAutoNum type="arabicPeriod"/>
            </a:pPr>
            <a:r>
              <a:rPr lang="en" b="1">
                <a:solidFill>
                  <a:srgbClr val="111111"/>
                </a:solidFill>
              </a:rPr>
              <a:t>Is timely:</a:t>
            </a:r>
            <a:r>
              <a:rPr lang="en">
                <a:solidFill>
                  <a:srgbClr val="111111"/>
                </a:solidFill>
              </a:rPr>
              <a:t> Product launches should be well-executed and well-timed to the needs of customers and the market. Product marketing should work alongside business and product leaders to position messaging and releases appropriately.</a:t>
            </a:r>
            <a:endParaRPr>
              <a:solidFill>
                <a:srgbClr val="111111"/>
              </a:solidFill>
            </a:endParaRPr>
          </a:p>
          <a:p>
            <a:pPr marL="457200" lvl="0" indent="-298450" algn="l" rtl="0">
              <a:lnSpc>
                <a:spcPct val="140000"/>
              </a:lnSpc>
              <a:spcBef>
                <a:spcPts val="0"/>
              </a:spcBef>
              <a:spcAft>
                <a:spcPts val="0"/>
              </a:spcAft>
              <a:buClr>
                <a:srgbClr val="111111"/>
              </a:buClr>
              <a:buSzPts val="1100"/>
              <a:buAutoNum type="arabicPeriod"/>
            </a:pPr>
            <a:r>
              <a:rPr lang="en" b="1">
                <a:solidFill>
                  <a:srgbClr val="111111"/>
                </a:solidFill>
              </a:rPr>
              <a:t>Focuses on bold and creative solutions:</a:t>
            </a:r>
            <a:r>
              <a:rPr lang="en">
                <a:solidFill>
                  <a:srgbClr val="111111"/>
                </a:solidFill>
              </a:rPr>
              <a:t> Today’s product marketers are creative, out-of-the-box thinkers. For the examples in this section, we focused on brands that are leveling up product marketing across the board. Who got creative in the face of challenges? Who spearheaded new ideas and delivered for their clients?</a:t>
            </a:r>
            <a:endParaRPr>
              <a:solidFill>
                <a:srgbClr val="111111"/>
              </a:solidFill>
            </a:endParaRPr>
          </a:p>
          <a:p>
            <a:pPr marL="457200" lvl="0" indent="-298450" algn="l" rtl="0">
              <a:lnSpc>
                <a:spcPct val="140000"/>
              </a:lnSpc>
              <a:spcBef>
                <a:spcPts val="0"/>
              </a:spcBef>
              <a:spcAft>
                <a:spcPts val="0"/>
              </a:spcAft>
              <a:buClr>
                <a:srgbClr val="111111"/>
              </a:buClr>
              <a:buSzPts val="1100"/>
              <a:buAutoNum type="arabicPeriod"/>
            </a:pPr>
            <a:r>
              <a:rPr lang="en" b="1">
                <a:solidFill>
                  <a:srgbClr val="111111"/>
                </a:solidFill>
              </a:rPr>
              <a:t>Measures and tracks for business success:</a:t>
            </a:r>
            <a:r>
              <a:rPr lang="en">
                <a:solidFill>
                  <a:srgbClr val="111111"/>
                </a:solidFill>
              </a:rPr>
              <a:t> Nothing we do, or should every willingly do, should be taken on without established success metrics that map back to revenue attainment</a:t>
            </a:r>
            <a:endParaRPr>
              <a:solidFill>
                <a:srgbClr val="111111"/>
              </a:solidFill>
            </a:endParaRPr>
          </a:p>
          <a:p>
            <a:pPr marL="0" lvl="0" indent="0" algn="l" rtl="0">
              <a:spcBef>
                <a:spcPts val="1500"/>
              </a:spcBef>
              <a:spcAft>
                <a:spcPts val="0"/>
              </a:spcAft>
              <a:buNone/>
            </a:pPr>
            <a:endParaRPr/>
          </a:p>
        </p:txBody>
      </p:sp>
    </p:spTree>
    <p:extLst>
      <p:ext uri="{BB962C8B-B14F-4D97-AF65-F5344CB8AC3E}">
        <p14:creationId xmlns:p14="http://schemas.microsoft.com/office/powerpoint/2010/main" val="1803922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ddbf1adf71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ddbf1adf71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9992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dbf1d7a510_0_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dbf1d7a510_0_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dbf1d7a510_0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dbf1d7a510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40000"/>
              </a:lnSpc>
              <a:spcBef>
                <a:spcPts val="0"/>
              </a:spcBef>
              <a:spcAft>
                <a:spcPts val="0"/>
              </a:spcAft>
              <a:buClr>
                <a:srgbClr val="111111"/>
              </a:buClr>
              <a:buSzPts val="1100"/>
              <a:buAutoNum type="arabicPeriod"/>
            </a:pPr>
            <a:endParaRPr>
              <a:solidFill>
                <a:srgbClr val="111111"/>
              </a:solidFill>
            </a:endParaRPr>
          </a:p>
          <a:p>
            <a:pPr marL="0" lvl="0" indent="0" algn="l" rtl="0">
              <a:spcBef>
                <a:spcPts val="150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dbf1d7a510_0_5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dbf1d7a510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47137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dfd25ed80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dfd25ed80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dbf1d7a510_0_9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dbf1d7a510_0_9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c6f80d1f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c6f80d1f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dbf1d7a510_0_10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dbf1d7a510_0_10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74043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dbf1d7a510_0_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dbf1d7a510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20000"/>
              </a:lnSpc>
              <a:spcBef>
                <a:spcPts val="1200"/>
              </a:spcBef>
              <a:spcAft>
                <a:spcPts val="0"/>
              </a:spcAft>
              <a:buClr>
                <a:schemeClr val="dk1"/>
              </a:buClr>
              <a:buSzPts val="1100"/>
              <a:buFont typeface="Arial"/>
              <a:buNone/>
            </a:pPr>
            <a:r>
              <a:rPr lang="en" sz="1200" b="1">
                <a:solidFill>
                  <a:srgbClr val="0A153D"/>
                </a:solidFill>
                <a:highlight>
                  <a:srgbClr val="FFFFFF"/>
                </a:highlight>
              </a:rPr>
              <a:t>GO-TO-MARKET INITIATIVES</a:t>
            </a:r>
            <a:endParaRPr sz="1200" b="1">
              <a:solidFill>
                <a:srgbClr val="0A153D"/>
              </a:solidFill>
              <a:highlight>
                <a:srgbClr val="FFFFFF"/>
              </a:highlight>
            </a:endParaRPr>
          </a:p>
          <a:p>
            <a:pPr marL="0" lvl="0" indent="0" algn="l" rtl="0">
              <a:lnSpc>
                <a:spcPct val="115000"/>
              </a:lnSpc>
              <a:spcBef>
                <a:spcPts val="1400"/>
              </a:spcBef>
              <a:spcAft>
                <a:spcPts val="0"/>
              </a:spcAft>
              <a:buClr>
                <a:schemeClr val="dk1"/>
              </a:buClr>
              <a:buSzPts val="1100"/>
              <a:buFont typeface="Arial"/>
              <a:buNone/>
            </a:pPr>
            <a:r>
              <a:rPr lang="en" sz="1350">
                <a:solidFill>
                  <a:srgbClr val="696A6D"/>
                </a:solidFill>
                <a:highlight>
                  <a:srgbClr val="FFFFFF"/>
                </a:highlight>
              </a:rPr>
              <a:t>Establishing clear messaging to connect product to buyer is at the heart of any effective product marketing team. Between extensive buyer persona research, gaining product expertise, and understanding the competitive landscape inside and out, creating a go-to-market strategy is nuanced, time-intensive, and its success is often hard to gauge. With that said, a few metrics can be useful in determining how your positioning is landing. </a:t>
            </a:r>
            <a:endParaRPr sz="1350">
              <a:solidFill>
                <a:srgbClr val="696A6D"/>
              </a:solidFill>
              <a:highlight>
                <a:srgbClr val="FFFFFF"/>
              </a:highlight>
            </a:endParaRPr>
          </a:p>
          <a:p>
            <a:pPr marL="457200" lvl="0" indent="-228600" algn="l" rtl="0">
              <a:lnSpc>
                <a:spcPct val="115000"/>
              </a:lnSpc>
              <a:spcBef>
                <a:spcPts val="1400"/>
              </a:spcBef>
              <a:spcAft>
                <a:spcPts val="0"/>
              </a:spcAft>
              <a:buClr>
                <a:srgbClr val="696A6D"/>
              </a:buClr>
              <a:buSzPts val="1350"/>
              <a:buNone/>
            </a:pPr>
            <a:r>
              <a:rPr lang="en" sz="1350" b="1">
                <a:solidFill>
                  <a:srgbClr val="696A6D"/>
                </a:solidFill>
                <a:highlight>
                  <a:srgbClr val="FFFFFF"/>
                </a:highlight>
              </a:rPr>
              <a:t>Win rates: </a:t>
            </a:r>
            <a:r>
              <a:rPr lang="en" sz="1350">
                <a:solidFill>
                  <a:srgbClr val="696A6D"/>
                </a:solidFill>
                <a:highlight>
                  <a:srgbClr val="FFFFFF"/>
                </a:highlight>
              </a:rPr>
              <a:t>though closing an opportunity takes a village, it’s dramatically harder to win a prospect’s favor without a strong messaging foundation for marketing and sales to effectively nurture them throughout an entire deal cycle. Increases in win rates after re-positioning exercises or large product updates can be reliable indicators that product marketing is delivering as expected.</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Conversion rates:</a:t>
            </a:r>
            <a:r>
              <a:rPr lang="en" sz="1350">
                <a:solidFill>
                  <a:srgbClr val="696A6D"/>
                </a:solidFill>
                <a:highlight>
                  <a:srgbClr val="FFFFFF"/>
                </a:highlight>
              </a:rPr>
              <a:t> If product marketing is fueling your demand generation engine (as it should be), there are several ways to identify the potency of your messaging. Identifying the right segments for your marketing team to target sets the stage for their success, and as such, should be considered a critical stat for any well-integrated product marketing team to monitor.  </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Analyst reports: </a:t>
            </a:r>
            <a:r>
              <a:rPr lang="en" sz="1350">
                <a:solidFill>
                  <a:srgbClr val="696A6D"/>
                </a:solidFill>
                <a:highlight>
                  <a:srgbClr val="FFFFFF"/>
                </a:highlight>
              </a:rPr>
              <a:t>If analyst relations falls under product marketing at your organization, this is a tremendous way to understand how your messaging is differentiating you from competitors. By subjecting your product and messaging to scrutinization by industry experts, you’ll know just how potent your offering is. As analyst reports are incredibly popular in the market (and are significantly important in the researching buyer’s journey), this can be a risky undertaking for startups or unsophisticated products, but the learnings you can obtain year over year will undoubtedly help you identify where your messaging and strategy need improvement or, conversely, can drive immense demand should your be received favorably.</a:t>
            </a:r>
            <a:endParaRPr sz="1350">
              <a:solidFill>
                <a:srgbClr val="696A6D"/>
              </a:solidFill>
              <a:highlight>
                <a:srgbClr val="FFFFFF"/>
              </a:highlight>
            </a:endParaRPr>
          </a:p>
          <a:p>
            <a:pPr marL="0" lvl="0" indent="0" algn="l" rtl="0">
              <a:lnSpc>
                <a:spcPct val="120000"/>
              </a:lnSpc>
              <a:spcBef>
                <a:spcPts val="1400"/>
              </a:spcBef>
              <a:spcAft>
                <a:spcPts val="0"/>
              </a:spcAft>
              <a:buClr>
                <a:schemeClr val="dk1"/>
              </a:buClr>
              <a:buSzPts val="1100"/>
              <a:buFont typeface="Arial"/>
              <a:buNone/>
            </a:pPr>
            <a:r>
              <a:rPr lang="en" sz="1200" b="1">
                <a:solidFill>
                  <a:srgbClr val="0A153D"/>
                </a:solidFill>
                <a:highlight>
                  <a:srgbClr val="FFFFFF"/>
                </a:highlight>
              </a:rPr>
              <a:t>SALES ENABLEMENT</a:t>
            </a:r>
            <a:endParaRPr sz="1200" b="1">
              <a:solidFill>
                <a:srgbClr val="0A153D"/>
              </a:solidFill>
              <a:highlight>
                <a:srgbClr val="FFFFFF"/>
              </a:highlight>
            </a:endParaRPr>
          </a:p>
          <a:p>
            <a:pPr marL="0" lvl="0" indent="0" algn="l" rtl="0">
              <a:lnSpc>
                <a:spcPct val="115000"/>
              </a:lnSpc>
              <a:spcBef>
                <a:spcPts val="1400"/>
              </a:spcBef>
              <a:spcAft>
                <a:spcPts val="0"/>
              </a:spcAft>
              <a:buClr>
                <a:schemeClr val="dk1"/>
              </a:buClr>
              <a:buSzPts val="1100"/>
              <a:buFont typeface="Arial"/>
              <a:buNone/>
            </a:pPr>
            <a:r>
              <a:rPr lang="en" sz="1350">
                <a:solidFill>
                  <a:srgbClr val="696A6D"/>
                </a:solidFill>
                <a:highlight>
                  <a:srgbClr val="FFFFFF"/>
                </a:highlight>
              </a:rPr>
              <a:t>Product marketing is often on the hook for ensuring sales teams and customer success managers have the information, resources, and confidence to comfortably handle relations with prospects and existing customers. There are several tasks that go into a strong sales enablement process, and the following metrics are likely to be strong indicators of its effectiveness.</a:t>
            </a:r>
            <a:endParaRPr sz="1350">
              <a:solidFill>
                <a:srgbClr val="696A6D"/>
              </a:solidFill>
              <a:highlight>
                <a:srgbClr val="FFFFFF"/>
              </a:highlight>
            </a:endParaRPr>
          </a:p>
          <a:p>
            <a:pPr marL="457200" lvl="0" indent="-228600" algn="l" rtl="0">
              <a:lnSpc>
                <a:spcPct val="115000"/>
              </a:lnSpc>
              <a:spcBef>
                <a:spcPts val="1400"/>
              </a:spcBef>
              <a:spcAft>
                <a:spcPts val="0"/>
              </a:spcAft>
              <a:buClr>
                <a:srgbClr val="696A6D"/>
              </a:buClr>
              <a:buSzPts val="1350"/>
              <a:buNone/>
            </a:pPr>
            <a:r>
              <a:rPr lang="en" sz="1350" b="1">
                <a:solidFill>
                  <a:srgbClr val="696A6D"/>
                </a:solidFill>
                <a:highlight>
                  <a:srgbClr val="FFFFFF"/>
                </a:highlight>
              </a:rPr>
              <a:t>Asset utilization: </a:t>
            </a:r>
            <a:r>
              <a:rPr lang="en" sz="1350">
                <a:solidFill>
                  <a:srgbClr val="696A6D"/>
                </a:solidFill>
                <a:highlight>
                  <a:srgbClr val="FFFFFF"/>
                </a:highlight>
              </a:rPr>
              <a:t>When you make collateral to support your sales team in prospecting and progressing pipeline through the funnel, are they using it? If your intranet (Google Drive, Sharepoint, etc) captures usage data, this can be a tremendous indicator of the saliency of your internal-facing content. Depending on how targeted the asset is (job title, industry, sales stage), this can lend itself to further analysis around specific segments and product features.</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Deal cycles: </a:t>
            </a:r>
            <a:r>
              <a:rPr lang="en" sz="1350">
                <a:solidFill>
                  <a:srgbClr val="696A6D"/>
                </a:solidFill>
                <a:highlight>
                  <a:srgbClr val="FFFFFF"/>
                </a:highlight>
              </a:rPr>
              <a:t>How long, on average, does a sale take? From the discovery call to signing the contract, are there bottlenecks or points of contention that proper sales enablement could alleviate? The right preparatory material at the right time can help sales step on the gas and shorten deal cycles, a tremendous indicator of strong product marketing influence.</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Win/Loss ratio: </a:t>
            </a:r>
            <a:r>
              <a:rPr lang="en" sz="1350">
                <a:solidFill>
                  <a:srgbClr val="696A6D"/>
                </a:solidFill>
                <a:highlight>
                  <a:srgbClr val="FFFFFF"/>
                </a:highlight>
              </a:rPr>
              <a:t>At its most basic level, sales enablement strives to increase success rates - the percentage of wins sales captures. Notice the nuance here versus the total number of wins; enablement doesn’t lead to a higher volume of opportunities, but should increase the rate of success in the opportunities they’re given. </a:t>
            </a:r>
            <a:endParaRPr sz="1350">
              <a:solidFill>
                <a:srgbClr val="696A6D"/>
              </a:solidFill>
              <a:highlight>
                <a:srgbClr val="FFFFFF"/>
              </a:highlight>
            </a:endParaRPr>
          </a:p>
          <a:p>
            <a:pPr marL="0" lvl="0" indent="0" algn="l" rtl="0">
              <a:lnSpc>
                <a:spcPct val="120000"/>
              </a:lnSpc>
              <a:spcBef>
                <a:spcPts val="1400"/>
              </a:spcBef>
              <a:spcAft>
                <a:spcPts val="0"/>
              </a:spcAft>
              <a:buClr>
                <a:schemeClr val="dk1"/>
              </a:buClr>
              <a:buSzPts val="1100"/>
              <a:buFont typeface="Arial"/>
              <a:buNone/>
            </a:pPr>
            <a:r>
              <a:rPr lang="en" sz="1200" b="1">
                <a:solidFill>
                  <a:srgbClr val="0A153D"/>
                </a:solidFill>
                <a:highlight>
                  <a:srgbClr val="FFFFFF"/>
                </a:highlight>
              </a:rPr>
              <a:t>MARKETING SUPPORT</a:t>
            </a:r>
            <a:endParaRPr sz="1200" b="1">
              <a:solidFill>
                <a:srgbClr val="0A153D"/>
              </a:solidFill>
              <a:highlight>
                <a:srgbClr val="FFFFFF"/>
              </a:highlight>
            </a:endParaRPr>
          </a:p>
          <a:p>
            <a:pPr marL="0" lvl="0" indent="0" algn="l" rtl="0">
              <a:lnSpc>
                <a:spcPct val="115000"/>
              </a:lnSpc>
              <a:spcBef>
                <a:spcPts val="1400"/>
              </a:spcBef>
              <a:spcAft>
                <a:spcPts val="0"/>
              </a:spcAft>
              <a:buClr>
                <a:schemeClr val="dk1"/>
              </a:buClr>
              <a:buSzPts val="1100"/>
              <a:buFont typeface="Arial"/>
              <a:buNone/>
            </a:pPr>
            <a:r>
              <a:rPr lang="en" sz="1350">
                <a:solidFill>
                  <a:srgbClr val="696A6D"/>
                </a:solidFill>
                <a:highlight>
                  <a:srgbClr val="FFFFFF"/>
                </a:highlight>
              </a:rPr>
              <a:t>This could span from messaging frameworks to be leveraged by demand generation and content marketing to product announcements to high-level brand identity. Depending on the size of your company, this will be nuanced, but one statistic almost always reveals the strength of product marketing’s impact on the greater marketing team’s success.</a:t>
            </a:r>
            <a:endParaRPr sz="1350">
              <a:solidFill>
                <a:srgbClr val="696A6D"/>
              </a:solidFill>
              <a:highlight>
                <a:srgbClr val="FFFFFF"/>
              </a:highlight>
            </a:endParaRPr>
          </a:p>
          <a:p>
            <a:pPr marL="457200" lvl="0" indent="-228600" algn="l" rtl="0">
              <a:lnSpc>
                <a:spcPct val="115000"/>
              </a:lnSpc>
              <a:spcBef>
                <a:spcPts val="1400"/>
              </a:spcBef>
              <a:spcAft>
                <a:spcPts val="0"/>
              </a:spcAft>
              <a:buClr>
                <a:srgbClr val="696A6D"/>
              </a:buClr>
              <a:buSzPts val="1350"/>
              <a:buNone/>
            </a:pPr>
            <a:r>
              <a:rPr lang="en" sz="1350" b="1">
                <a:solidFill>
                  <a:srgbClr val="696A6D"/>
                </a:solidFill>
                <a:highlight>
                  <a:srgbClr val="FFFFFF"/>
                </a:highlight>
              </a:rPr>
              <a:t>Campaign performance: </a:t>
            </a:r>
            <a:r>
              <a:rPr lang="en" sz="1350">
                <a:solidFill>
                  <a:srgbClr val="696A6D"/>
                </a:solidFill>
                <a:highlight>
                  <a:srgbClr val="FFFFFF"/>
                </a:highlight>
              </a:rPr>
              <a:t>Is the messaging you’ve prescribed to your demand generation team landing? What about your paid/organic social teams? A/B testing of new vs. old content can certainly help identify the delta of a reimagined messaging framework, and is one of the most objective measures of product-market fit available. If you’re using a sophisticated ESP, use campaign data as a feedback loop, understanding which links and incentives generate higher levels of engagement to help fine-tune your go-to-market strategy.</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Site traffic: </a:t>
            </a:r>
            <a:r>
              <a:rPr lang="en" sz="1350">
                <a:solidFill>
                  <a:srgbClr val="696A6D"/>
                </a:solidFill>
                <a:highlight>
                  <a:srgbClr val="FFFFFF"/>
                </a:highlight>
              </a:rPr>
              <a:t>Increasing the volume of visitors to your website is certainly a cross-functional endeavor, but product marketing lays its foundation. Brand awareness, product specifications, and release updates are rooted in the go-to-market strategy that product marketing builds, and improvements to search performance (impressions, average position, clicks, etc) and an increase in site visitors are reliable indicators of the message’s potency.</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MQLs and SQLs</a:t>
            </a:r>
            <a:r>
              <a:rPr lang="en" sz="1350">
                <a:solidFill>
                  <a:srgbClr val="696A6D"/>
                </a:solidFill>
                <a:highlight>
                  <a:srgbClr val="FFFFFF"/>
                </a:highlight>
              </a:rPr>
              <a:t>: Once visitors reach your site or engage with your messaging across channels, are they raising their hands? Has product marketing positioned the product as something your visitors need to have? By identifying spikes or dips in MQLs and SQLs, we can get a sense of how receptive the market is to the story product marketing creates. SQLs provide an added layer: did we reach and compel the audience that’s </a:t>
            </a:r>
            <a:r>
              <a:rPr lang="en" sz="1350" i="1">
                <a:solidFill>
                  <a:srgbClr val="696A6D"/>
                </a:solidFill>
                <a:highlight>
                  <a:srgbClr val="FFFFFF"/>
                </a:highlight>
              </a:rPr>
              <a:t>actually </a:t>
            </a:r>
            <a:r>
              <a:rPr lang="en" sz="1350">
                <a:solidFill>
                  <a:srgbClr val="696A6D"/>
                </a:solidFill>
                <a:highlight>
                  <a:srgbClr val="FFFFFF"/>
                </a:highlight>
              </a:rPr>
              <a:t>a fit for our product, or does the conversation end at the discovery/MQL stage?</a:t>
            </a:r>
            <a:endParaRPr sz="1350">
              <a:solidFill>
                <a:srgbClr val="696A6D"/>
              </a:solidFill>
              <a:highlight>
                <a:srgbClr val="FFFFFF"/>
              </a:highlight>
            </a:endParaRPr>
          </a:p>
          <a:p>
            <a:pPr marL="0" lvl="0" indent="0" algn="l" rtl="0">
              <a:lnSpc>
                <a:spcPct val="120000"/>
              </a:lnSpc>
              <a:spcBef>
                <a:spcPts val="1400"/>
              </a:spcBef>
              <a:spcAft>
                <a:spcPts val="0"/>
              </a:spcAft>
              <a:buClr>
                <a:schemeClr val="dk1"/>
              </a:buClr>
              <a:buSzPts val="1100"/>
              <a:buFont typeface="Arial"/>
              <a:buNone/>
            </a:pPr>
            <a:r>
              <a:rPr lang="en" sz="1200" b="1">
                <a:solidFill>
                  <a:srgbClr val="0A153D"/>
                </a:solidFill>
                <a:highlight>
                  <a:srgbClr val="FFFFFF"/>
                </a:highlight>
              </a:rPr>
              <a:t>PRODUCT ADOPTION</a:t>
            </a:r>
            <a:endParaRPr sz="1200" b="1">
              <a:solidFill>
                <a:srgbClr val="0A153D"/>
              </a:solidFill>
              <a:highlight>
                <a:srgbClr val="FFFFFF"/>
              </a:highlight>
            </a:endParaRPr>
          </a:p>
          <a:p>
            <a:pPr marL="0" lvl="0" indent="0" algn="l" rtl="0">
              <a:lnSpc>
                <a:spcPct val="115000"/>
              </a:lnSpc>
              <a:spcBef>
                <a:spcPts val="1400"/>
              </a:spcBef>
              <a:spcAft>
                <a:spcPts val="0"/>
              </a:spcAft>
              <a:buClr>
                <a:schemeClr val="dk1"/>
              </a:buClr>
              <a:buSzPts val="1100"/>
              <a:buFont typeface="Arial"/>
              <a:buNone/>
            </a:pPr>
            <a:r>
              <a:rPr lang="en" sz="1350">
                <a:solidFill>
                  <a:srgbClr val="696A6D"/>
                </a:solidFill>
                <a:highlight>
                  <a:srgbClr val="FFFFFF"/>
                </a:highlight>
              </a:rPr>
              <a:t>One of, if not THE most direct indicator of a strong product marketing output is product adoption. If PMM’s high-level responsibility is to translate product features into customer value points, measuring the onboarding and usage rates of your products is a critical litmus test for any product marketer.</a:t>
            </a:r>
            <a:endParaRPr sz="1350">
              <a:solidFill>
                <a:srgbClr val="696A6D"/>
              </a:solidFill>
              <a:highlight>
                <a:srgbClr val="FFFFFF"/>
              </a:highlight>
            </a:endParaRPr>
          </a:p>
          <a:p>
            <a:pPr marL="457200" lvl="0" indent="-228600" algn="l" rtl="0">
              <a:lnSpc>
                <a:spcPct val="115000"/>
              </a:lnSpc>
              <a:spcBef>
                <a:spcPts val="1400"/>
              </a:spcBef>
              <a:spcAft>
                <a:spcPts val="0"/>
              </a:spcAft>
              <a:buClr>
                <a:srgbClr val="696A6D"/>
              </a:buClr>
              <a:buSzPts val="1350"/>
              <a:buNone/>
            </a:pPr>
            <a:r>
              <a:rPr lang="en" sz="1350" b="1">
                <a:solidFill>
                  <a:srgbClr val="696A6D"/>
                </a:solidFill>
                <a:highlight>
                  <a:srgbClr val="FFFFFF"/>
                </a:highlight>
              </a:rPr>
              <a:t>Onboarding data:</a:t>
            </a:r>
            <a:r>
              <a:rPr lang="en" sz="1350">
                <a:solidFill>
                  <a:srgbClr val="696A6D"/>
                </a:solidFill>
                <a:highlight>
                  <a:srgbClr val="FFFFFF"/>
                </a:highlight>
              </a:rPr>
              <a:t> At the onset of a contract, are customers using the product as much as you think they should? Are they using all the features available to them? If they aren’t, is there collateral that can help them understand how to maximize the usage of their new platform? The first quarter of a customer’s engagement with a tool is a strong reflection of product marketing’s ability to showcase the product to those who are already bought-in (and likely more engaged with your marketing materials than prospects).</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Feature adoption:</a:t>
            </a:r>
            <a:r>
              <a:rPr lang="en" sz="1350">
                <a:solidFill>
                  <a:srgbClr val="696A6D"/>
                </a:solidFill>
                <a:highlight>
                  <a:srgbClr val="FFFFFF"/>
                </a:highlight>
              </a:rPr>
              <a:t> Similarly, when product marketing creates messaging around new features or cross-sell options, how quickly is that translating to adoption? Are customers signing up for beta programs at a high volume, and are their renewals increasing in price over time? Keeping an eye on how new offerings are performing can be indicative of appropriate messaging around them.</a:t>
            </a:r>
            <a:endParaRPr sz="1350">
              <a:solidFill>
                <a:srgbClr val="696A6D"/>
              </a:solidFill>
              <a:highlight>
                <a:srgbClr val="FFFFFF"/>
              </a:highlight>
            </a:endParaRPr>
          </a:p>
          <a:p>
            <a:pPr marL="457200" lvl="0" indent="-228600" algn="l" rtl="0">
              <a:lnSpc>
                <a:spcPct val="115000"/>
              </a:lnSpc>
              <a:spcBef>
                <a:spcPts val="0"/>
              </a:spcBef>
              <a:spcAft>
                <a:spcPts val="0"/>
              </a:spcAft>
              <a:buClr>
                <a:srgbClr val="696A6D"/>
              </a:buClr>
              <a:buSzPts val="1350"/>
              <a:buNone/>
            </a:pPr>
            <a:r>
              <a:rPr lang="en" sz="1350" b="1">
                <a:solidFill>
                  <a:srgbClr val="696A6D"/>
                </a:solidFill>
                <a:highlight>
                  <a:srgbClr val="FFFFFF"/>
                </a:highlight>
              </a:rPr>
              <a:t>Churn rates: </a:t>
            </a:r>
            <a:r>
              <a:rPr lang="en" sz="1350">
                <a:solidFill>
                  <a:srgbClr val="696A6D"/>
                </a:solidFill>
                <a:highlight>
                  <a:srgbClr val="FFFFFF"/>
                </a:highlight>
              </a:rPr>
              <a:t>While product marketing might not directly help a customer accomplish their goals, throughout the market there are competing product marketers that are making a compelling argument to leave your brand for theirs. If your messaging doesn’t instill trust in your customers, they’ll be more willing to evaluate other options. It’s the product marketers job to ensure that customers know you’re innovating and can solve their needs better than the rest of the market. Changes in churn rates signal a lack of trust in the product and, ultimately, the messaging supporting it.</a:t>
            </a:r>
            <a:endParaRPr sz="1350">
              <a:solidFill>
                <a:srgbClr val="696A6D"/>
              </a:solidFill>
              <a:highlight>
                <a:srgbClr val="FFFFFF"/>
              </a:highlight>
            </a:endParaRPr>
          </a:p>
          <a:p>
            <a:pPr marL="0" lvl="0" indent="0" algn="l" rtl="0">
              <a:spcBef>
                <a:spcPts val="140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dbf1d7a51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dbf1d7a51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8172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dbf1d7a510_0_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dbf1d7a510_0_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dbf1d7a510_0_1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dbf1d7a510_0_1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dbf1d7a510_0_10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dbf1d7a510_0_10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These are the assets that you need to run PLG enablement based on the Sales person’s perspective.  I don’t know the sales stages off the top of my head.</a:t>
            </a: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dbf1d7a510_0_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dbf1d7a510_0_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5050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dbf1d7a510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dbf1d7a510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628650" y="3175"/>
            <a:ext cx="7886700" cy="944195"/>
          </a:xfrm>
          <a:prstGeom prst="rect">
            <a:avLst/>
          </a:prstGeom>
          <a:noFill/>
          <a:ln>
            <a:noFill/>
          </a:ln>
        </p:spPr>
        <p:txBody>
          <a:bodyPr spcFirstLastPara="1" wrap="square" lIns="0" tIns="0" rIns="0" bIns="0" anchor="b" anchorCtr="0">
            <a:noAutofit/>
          </a:bodyPr>
          <a:lstStyle>
            <a:lvl1pPr lvl="0" algn="l">
              <a:lnSpc>
                <a:spcPct val="68000"/>
              </a:lnSpc>
              <a:spcBef>
                <a:spcPts val="0"/>
              </a:spcBef>
              <a:spcAft>
                <a:spcPts val="0"/>
              </a:spcAft>
              <a:buSzPts val="3200"/>
              <a:buNone/>
              <a:defRPr/>
            </a:lvl1pPr>
            <a:lvl2pPr lvl="1" algn="l">
              <a:lnSpc>
                <a:spcPct val="80000"/>
              </a:lnSpc>
              <a:spcBef>
                <a:spcPts val="0"/>
              </a:spcBef>
              <a:spcAft>
                <a:spcPts val="0"/>
              </a:spcAft>
              <a:buSzPts val="3200"/>
              <a:buNone/>
              <a:defRPr/>
            </a:lvl2pPr>
            <a:lvl3pPr lvl="2" algn="l">
              <a:lnSpc>
                <a:spcPct val="80000"/>
              </a:lnSpc>
              <a:spcBef>
                <a:spcPts val="0"/>
              </a:spcBef>
              <a:spcAft>
                <a:spcPts val="0"/>
              </a:spcAft>
              <a:buSzPts val="3200"/>
              <a:buNone/>
              <a:defRPr/>
            </a:lvl3pPr>
            <a:lvl4pPr lvl="3" algn="l">
              <a:lnSpc>
                <a:spcPct val="80000"/>
              </a:lnSpc>
              <a:spcBef>
                <a:spcPts val="0"/>
              </a:spcBef>
              <a:spcAft>
                <a:spcPts val="0"/>
              </a:spcAft>
              <a:buSzPts val="3200"/>
              <a:buNone/>
              <a:defRPr/>
            </a:lvl4pPr>
            <a:lvl5pPr lvl="4" algn="l">
              <a:lnSpc>
                <a:spcPct val="80000"/>
              </a:lnSpc>
              <a:spcBef>
                <a:spcPts val="0"/>
              </a:spcBef>
              <a:spcAft>
                <a:spcPts val="0"/>
              </a:spcAft>
              <a:buSzPts val="3200"/>
              <a:buNone/>
              <a:defRPr/>
            </a:lvl5pPr>
            <a:lvl6pPr lvl="5" algn="l">
              <a:lnSpc>
                <a:spcPct val="80000"/>
              </a:lnSpc>
              <a:spcBef>
                <a:spcPts val="0"/>
              </a:spcBef>
              <a:spcAft>
                <a:spcPts val="0"/>
              </a:spcAft>
              <a:buSzPts val="3200"/>
              <a:buNone/>
              <a:defRPr/>
            </a:lvl6pPr>
            <a:lvl7pPr lvl="6" algn="l">
              <a:lnSpc>
                <a:spcPct val="80000"/>
              </a:lnSpc>
              <a:spcBef>
                <a:spcPts val="0"/>
              </a:spcBef>
              <a:spcAft>
                <a:spcPts val="0"/>
              </a:spcAft>
              <a:buSzPts val="3200"/>
              <a:buNone/>
              <a:defRPr/>
            </a:lvl7pPr>
            <a:lvl8pPr lvl="7" algn="l">
              <a:lnSpc>
                <a:spcPct val="80000"/>
              </a:lnSpc>
              <a:spcBef>
                <a:spcPts val="0"/>
              </a:spcBef>
              <a:spcAft>
                <a:spcPts val="0"/>
              </a:spcAft>
              <a:buSzPts val="3200"/>
              <a:buNone/>
              <a:defRPr/>
            </a:lvl8pPr>
            <a:lvl9pPr lvl="8" algn="l">
              <a:lnSpc>
                <a:spcPct val="80000"/>
              </a:lnSpc>
              <a:spcBef>
                <a:spcPts val="0"/>
              </a:spcBef>
              <a:spcAft>
                <a:spcPts val="0"/>
              </a:spcAft>
              <a:buSzPts val="32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 Id="rId9" Type="http://schemas.openxmlformats.org/officeDocument/2006/relationships/image" Target="../media/image21.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5.jpg"/><Relationship Id="rId7" Type="http://schemas.openxmlformats.org/officeDocument/2006/relationships/image" Target="../media/image21.jpg"/><Relationship Id="rId12"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0.jpg"/><Relationship Id="rId11" Type="http://schemas.openxmlformats.org/officeDocument/2006/relationships/image" Target="../media/image27.jpeg"/><Relationship Id="rId5" Type="http://schemas.openxmlformats.org/officeDocument/2006/relationships/image" Target="../media/image18.jpg"/><Relationship Id="rId10" Type="http://schemas.openxmlformats.org/officeDocument/2006/relationships/image" Target="../media/image26.jpeg"/><Relationship Id="rId4" Type="http://schemas.openxmlformats.org/officeDocument/2006/relationships/image" Target="../media/image17.jpg"/><Relationship Id="rId9"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0">
          <a:extLst>
            <a:ext uri="{FF2B5EF4-FFF2-40B4-BE49-F238E27FC236}">
              <a16:creationId xmlns:a16="http://schemas.microsoft.com/office/drawing/2014/main" id="{7F1B37E3-F201-1C14-977B-C48B6BD3EC1F}"/>
            </a:ext>
          </a:extLst>
        </p:cNvPr>
        <p:cNvGrpSpPr/>
        <p:nvPr/>
      </p:nvGrpSpPr>
      <p:grpSpPr>
        <a:xfrm>
          <a:off x="0" y="0"/>
          <a:ext cx="0" cy="0"/>
          <a:chOff x="0" y="0"/>
          <a:chExt cx="0" cy="0"/>
        </a:xfrm>
      </p:grpSpPr>
      <p:sp>
        <p:nvSpPr>
          <p:cNvPr id="231" name="Google Shape;231;p25">
            <a:extLst>
              <a:ext uri="{FF2B5EF4-FFF2-40B4-BE49-F238E27FC236}">
                <a16:creationId xmlns:a16="http://schemas.microsoft.com/office/drawing/2014/main" id="{0C8E0216-2491-0A49-FB94-A46DE8999878}"/>
              </a:ext>
            </a:extLst>
          </p:cNvPr>
          <p:cNvSpPr txBox="1">
            <a:spLocks noGrp="1"/>
          </p:cNvSpPr>
          <p:nvPr>
            <p:ph type="title"/>
          </p:nvPr>
        </p:nvSpPr>
        <p:spPr>
          <a:xfrm>
            <a:off x="460950" y="1659467"/>
            <a:ext cx="8222100" cy="178108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bg1"/>
                </a:solidFill>
              </a:rPr>
              <a:t>A Little Bit About </a:t>
            </a:r>
            <a:r>
              <a:rPr lang="en" b="1" dirty="0">
                <a:solidFill>
                  <a:schemeClr val="accent6"/>
                </a:solidFill>
              </a:rPr>
              <a:t>Me</a:t>
            </a:r>
            <a:endParaRPr b="1" dirty="0">
              <a:solidFill>
                <a:schemeClr val="bg1"/>
              </a:solidFill>
            </a:endParaRPr>
          </a:p>
        </p:txBody>
      </p:sp>
    </p:spTree>
    <p:extLst>
      <p:ext uri="{BB962C8B-B14F-4D97-AF65-F5344CB8AC3E}">
        <p14:creationId xmlns:p14="http://schemas.microsoft.com/office/powerpoint/2010/main" val="1599067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cxnSp>
        <p:nvCxnSpPr>
          <p:cNvPr id="107" name="Google Shape;107;p19"/>
          <p:cNvCxnSpPr>
            <a:cxnSpLocks/>
          </p:cNvCxnSpPr>
          <p:nvPr/>
        </p:nvCxnSpPr>
        <p:spPr>
          <a:xfrm flipV="1">
            <a:off x="111810" y="3417495"/>
            <a:ext cx="8498778" cy="40261"/>
          </a:xfrm>
          <a:prstGeom prst="straightConnector1">
            <a:avLst/>
          </a:prstGeom>
          <a:noFill/>
          <a:ln w="9525" cap="flat" cmpd="sng">
            <a:solidFill>
              <a:srgbClr val="C2C2C2"/>
            </a:solidFill>
            <a:prstDash val="solid"/>
            <a:round/>
            <a:headEnd type="none" w="med" len="med"/>
            <a:tailEnd type="none" w="med" len="med"/>
          </a:ln>
        </p:spPr>
      </p:cxnSp>
      <p:sp>
        <p:nvSpPr>
          <p:cNvPr id="109" name="Google Shape;109;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About me - professionally speaking</a:t>
            </a:r>
            <a:endParaRPr/>
          </a:p>
        </p:txBody>
      </p:sp>
      <p:pic>
        <p:nvPicPr>
          <p:cNvPr id="110" name="Google Shape;110;p19"/>
          <p:cNvPicPr preferRelativeResize="0"/>
          <p:nvPr/>
        </p:nvPicPr>
        <p:blipFill rotWithShape="1">
          <a:blip r:embed="rId3">
            <a:alphaModFix/>
          </a:blip>
          <a:srcRect l="17540" t="1283" r="17947" b="8325"/>
          <a:stretch/>
        </p:blipFill>
        <p:spPr>
          <a:xfrm>
            <a:off x="98525" y="2979462"/>
            <a:ext cx="604742" cy="914400"/>
          </a:xfrm>
          <a:prstGeom prst="rect">
            <a:avLst/>
          </a:prstGeom>
          <a:noFill/>
          <a:ln>
            <a:noFill/>
          </a:ln>
        </p:spPr>
      </p:pic>
      <p:pic>
        <p:nvPicPr>
          <p:cNvPr id="111" name="Google Shape;111;p19"/>
          <p:cNvPicPr preferRelativeResize="0"/>
          <p:nvPr/>
        </p:nvPicPr>
        <p:blipFill>
          <a:blip r:embed="rId4">
            <a:alphaModFix/>
          </a:blip>
          <a:stretch>
            <a:fillRect/>
          </a:stretch>
        </p:blipFill>
        <p:spPr>
          <a:xfrm>
            <a:off x="1545135" y="3231885"/>
            <a:ext cx="483490" cy="411481"/>
          </a:xfrm>
          <a:prstGeom prst="rect">
            <a:avLst/>
          </a:prstGeom>
          <a:noFill/>
          <a:ln>
            <a:noFill/>
          </a:ln>
        </p:spPr>
      </p:pic>
      <p:pic>
        <p:nvPicPr>
          <p:cNvPr id="112" name="Google Shape;112;p19"/>
          <p:cNvPicPr preferRelativeResize="0"/>
          <p:nvPr/>
        </p:nvPicPr>
        <p:blipFill rotWithShape="1">
          <a:blip r:embed="rId5">
            <a:alphaModFix/>
          </a:blip>
          <a:srcRect l="17888" t="7052" r="17649" b="6837"/>
          <a:stretch/>
        </p:blipFill>
        <p:spPr>
          <a:xfrm>
            <a:off x="942775" y="3231886"/>
            <a:ext cx="308608" cy="411479"/>
          </a:xfrm>
          <a:prstGeom prst="rect">
            <a:avLst/>
          </a:prstGeom>
          <a:noFill/>
          <a:ln>
            <a:noFill/>
          </a:ln>
        </p:spPr>
      </p:pic>
      <p:grpSp>
        <p:nvGrpSpPr>
          <p:cNvPr id="113" name="Google Shape;113;p19"/>
          <p:cNvGrpSpPr/>
          <p:nvPr/>
        </p:nvGrpSpPr>
        <p:grpSpPr>
          <a:xfrm>
            <a:off x="2330765" y="3231825"/>
            <a:ext cx="1604772" cy="411600"/>
            <a:chOff x="2330765" y="3230863"/>
            <a:chExt cx="1604772" cy="411600"/>
          </a:xfrm>
        </p:grpSpPr>
        <p:sp>
          <p:nvSpPr>
            <p:cNvPr id="114" name="Google Shape;114;p19"/>
            <p:cNvSpPr/>
            <p:nvPr/>
          </p:nvSpPr>
          <p:spPr>
            <a:xfrm>
              <a:off x="2333051" y="3230863"/>
              <a:ext cx="1600200" cy="4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5" name="Google Shape;115;p19"/>
            <p:cNvPicPr preferRelativeResize="0"/>
            <p:nvPr/>
          </p:nvPicPr>
          <p:blipFill rotWithShape="1">
            <a:blip r:embed="rId6">
              <a:alphaModFix/>
            </a:blip>
            <a:srcRect l="10025" t="39533" r="9323" b="39791"/>
            <a:stretch/>
          </p:blipFill>
          <p:spPr>
            <a:xfrm>
              <a:off x="2330765" y="3230922"/>
              <a:ext cx="1604772" cy="411480"/>
            </a:xfrm>
            <a:prstGeom prst="rect">
              <a:avLst/>
            </a:prstGeom>
            <a:noFill/>
            <a:ln>
              <a:noFill/>
            </a:ln>
          </p:spPr>
        </p:pic>
      </p:grpSp>
      <p:grpSp>
        <p:nvGrpSpPr>
          <p:cNvPr id="116" name="Google Shape;116;p19"/>
          <p:cNvGrpSpPr>
            <a:grpSpLocks noChangeAspect="1"/>
          </p:cNvGrpSpPr>
          <p:nvPr/>
        </p:nvGrpSpPr>
        <p:grpSpPr>
          <a:xfrm>
            <a:off x="4391597" y="3300465"/>
            <a:ext cx="718590" cy="274320"/>
            <a:chOff x="4220900" y="3230850"/>
            <a:chExt cx="1078200" cy="411600"/>
          </a:xfrm>
        </p:grpSpPr>
        <p:sp>
          <p:nvSpPr>
            <p:cNvPr id="117" name="Google Shape;117;p19"/>
            <p:cNvSpPr/>
            <p:nvPr/>
          </p:nvSpPr>
          <p:spPr>
            <a:xfrm>
              <a:off x="4229300" y="3230850"/>
              <a:ext cx="1069800" cy="4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8" name="Google Shape;118;p19"/>
            <p:cNvPicPr preferRelativeResize="0"/>
            <p:nvPr/>
          </p:nvPicPr>
          <p:blipFill>
            <a:blip r:embed="rId7">
              <a:alphaModFix/>
            </a:blip>
            <a:stretch>
              <a:fillRect/>
            </a:stretch>
          </p:blipFill>
          <p:spPr>
            <a:xfrm>
              <a:off x="4220900" y="3230923"/>
              <a:ext cx="1069850" cy="411480"/>
            </a:xfrm>
            <a:prstGeom prst="rect">
              <a:avLst/>
            </a:prstGeom>
            <a:noFill/>
            <a:ln>
              <a:noFill/>
            </a:ln>
          </p:spPr>
        </p:pic>
      </p:grpSp>
      <p:grpSp>
        <p:nvGrpSpPr>
          <p:cNvPr id="119" name="Google Shape;119;p19"/>
          <p:cNvGrpSpPr>
            <a:grpSpLocks noChangeAspect="1"/>
          </p:cNvGrpSpPr>
          <p:nvPr/>
        </p:nvGrpSpPr>
        <p:grpSpPr>
          <a:xfrm>
            <a:off x="6861925" y="3299762"/>
            <a:ext cx="950976" cy="275726"/>
            <a:chOff x="6933242" y="3230838"/>
            <a:chExt cx="1419606" cy="411600"/>
          </a:xfrm>
        </p:grpSpPr>
        <p:sp>
          <p:nvSpPr>
            <p:cNvPr id="120" name="Google Shape;120;p19"/>
            <p:cNvSpPr/>
            <p:nvPr/>
          </p:nvSpPr>
          <p:spPr>
            <a:xfrm>
              <a:off x="6933250" y="3230838"/>
              <a:ext cx="1417200" cy="4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1" name="Google Shape;121;p19"/>
            <p:cNvPicPr preferRelativeResize="0"/>
            <p:nvPr/>
          </p:nvPicPr>
          <p:blipFill>
            <a:blip r:embed="rId8">
              <a:alphaModFix/>
            </a:blip>
            <a:stretch>
              <a:fillRect/>
            </a:stretch>
          </p:blipFill>
          <p:spPr>
            <a:xfrm>
              <a:off x="6933242" y="3230923"/>
              <a:ext cx="1419606" cy="411480"/>
            </a:xfrm>
            <a:prstGeom prst="rect">
              <a:avLst/>
            </a:prstGeom>
            <a:noFill/>
            <a:ln>
              <a:noFill/>
            </a:ln>
          </p:spPr>
        </p:pic>
      </p:grpSp>
      <p:grpSp>
        <p:nvGrpSpPr>
          <p:cNvPr id="122" name="Google Shape;122;p19"/>
          <p:cNvGrpSpPr/>
          <p:nvPr/>
        </p:nvGrpSpPr>
        <p:grpSpPr>
          <a:xfrm>
            <a:off x="5584501" y="3231825"/>
            <a:ext cx="349758" cy="411600"/>
            <a:chOff x="5584501" y="3230838"/>
            <a:chExt cx="349758" cy="411600"/>
          </a:xfrm>
        </p:grpSpPr>
        <p:sp>
          <p:nvSpPr>
            <p:cNvPr id="123" name="Google Shape;123;p19"/>
            <p:cNvSpPr/>
            <p:nvPr/>
          </p:nvSpPr>
          <p:spPr>
            <a:xfrm>
              <a:off x="5585675" y="3230838"/>
              <a:ext cx="347400" cy="4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4" name="Google Shape;124;p19"/>
            <p:cNvPicPr preferRelativeResize="0"/>
            <p:nvPr/>
          </p:nvPicPr>
          <p:blipFill>
            <a:blip r:embed="rId9">
              <a:alphaModFix/>
            </a:blip>
            <a:stretch>
              <a:fillRect/>
            </a:stretch>
          </p:blipFill>
          <p:spPr>
            <a:xfrm>
              <a:off x="5584501" y="3230923"/>
              <a:ext cx="349758" cy="411480"/>
            </a:xfrm>
            <a:prstGeom prst="rect">
              <a:avLst/>
            </a:prstGeom>
            <a:noFill/>
            <a:ln>
              <a:noFill/>
            </a:ln>
          </p:spPr>
        </p:pic>
      </p:grpSp>
      <p:grpSp>
        <p:nvGrpSpPr>
          <p:cNvPr id="125" name="Google Shape;125;p19"/>
          <p:cNvGrpSpPr/>
          <p:nvPr/>
        </p:nvGrpSpPr>
        <p:grpSpPr>
          <a:xfrm>
            <a:off x="6227950" y="3230880"/>
            <a:ext cx="411600" cy="413490"/>
            <a:chOff x="6227950" y="3230923"/>
            <a:chExt cx="411600" cy="413490"/>
          </a:xfrm>
        </p:grpSpPr>
        <p:sp>
          <p:nvSpPr>
            <p:cNvPr id="126" name="Google Shape;126;p19"/>
            <p:cNvSpPr/>
            <p:nvPr/>
          </p:nvSpPr>
          <p:spPr>
            <a:xfrm>
              <a:off x="6227950" y="3232813"/>
              <a:ext cx="411600" cy="4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7" name="Google Shape;127;p19"/>
            <p:cNvPicPr preferRelativeResize="0"/>
            <p:nvPr/>
          </p:nvPicPr>
          <p:blipFill rotWithShape="1">
            <a:blip r:embed="rId10">
              <a:alphaModFix/>
            </a:blip>
            <a:srcRect l="14413" t="14163" r="13983" b="14156"/>
            <a:stretch/>
          </p:blipFill>
          <p:spPr>
            <a:xfrm>
              <a:off x="6228011" y="3230923"/>
              <a:ext cx="411480" cy="411480"/>
            </a:xfrm>
            <a:prstGeom prst="rect">
              <a:avLst/>
            </a:prstGeom>
            <a:noFill/>
            <a:ln>
              <a:noFill/>
            </a:ln>
          </p:spPr>
        </p:pic>
      </p:grpSp>
      <p:grpSp>
        <p:nvGrpSpPr>
          <p:cNvPr id="128" name="Google Shape;128;p19"/>
          <p:cNvGrpSpPr/>
          <p:nvPr/>
        </p:nvGrpSpPr>
        <p:grpSpPr>
          <a:xfrm>
            <a:off x="8054080" y="3231825"/>
            <a:ext cx="411600" cy="411600"/>
            <a:chOff x="8646550" y="3230863"/>
            <a:chExt cx="411600" cy="411600"/>
          </a:xfrm>
        </p:grpSpPr>
        <p:sp>
          <p:nvSpPr>
            <p:cNvPr id="129" name="Google Shape;129;p19"/>
            <p:cNvSpPr/>
            <p:nvPr/>
          </p:nvSpPr>
          <p:spPr>
            <a:xfrm>
              <a:off x="8646550" y="3230863"/>
              <a:ext cx="411600" cy="4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8" name="Google Shape;108;p19"/>
            <p:cNvPicPr preferRelativeResize="0"/>
            <p:nvPr/>
          </p:nvPicPr>
          <p:blipFill>
            <a:blip r:embed="rId11">
              <a:alphaModFix/>
            </a:blip>
            <a:stretch>
              <a:fillRect/>
            </a:stretch>
          </p:blipFill>
          <p:spPr>
            <a:xfrm>
              <a:off x="8646600" y="3230923"/>
              <a:ext cx="411480" cy="411480"/>
            </a:xfrm>
            <a:prstGeom prst="rect">
              <a:avLst/>
            </a:prstGeom>
            <a:noFill/>
            <a:ln>
              <a:noFill/>
            </a:ln>
          </p:spPr>
        </p:pic>
      </p:grpSp>
      <p:grpSp>
        <p:nvGrpSpPr>
          <p:cNvPr id="130" name="Google Shape;130;p19"/>
          <p:cNvGrpSpPr/>
          <p:nvPr/>
        </p:nvGrpSpPr>
        <p:grpSpPr>
          <a:xfrm>
            <a:off x="1029729" y="2709225"/>
            <a:ext cx="134700" cy="522661"/>
            <a:chOff x="1029729" y="2709225"/>
            <a:chExt cx="134700" cy="522661"/>
          </a:xfrm>
        </p:grpSpPr>
        <p:cxnSp>
          <p:nvCxnSpPr>
            <p:cNvPr id="131" name="Google Shape;131;p19"/>
            <p:cNvCxnSpPr>
              <a:stCxn id="112" idx="0"/>
              <a:endCxn id="132" idx="4"/>
            </p:cNvCxnSpPr>
            <p:nvPr/>
          </p:nvCxnSpPr>
          <p:spPr>
            <a:xfrm flipV="1">
              <a:off x="1097079" y="2843925"/>
              <a:ext cx="0" cy="387961"/>
            </a:xfrm>
            <a:prstGeom prst="straightConnector1">
              <a:avLst/>
            </a:prstGeom>
            <a:noFill/>
            <a:ln w="9525" cap="flat" cmpd="sng">
              <a:solidFill>
                <a:srgbClr val="B7B7B7"/>
              </a:solidFill>
              <a:prstDash val="solid"/>
              <a:round/>
              <a:headEnd type="none" w="med" len="med"/>
              <a:tailEnd type="none" w="med" len="med"/>
            </a:ln>
          </p:spPr>
        </p:cxnSp>
        <p:sp>
          <p:nvSpPr>
            <p:cNvPr id="132" name="Google Shape;132;p19"/>
            <p:cNvSpPr/>
            <p:nvPr/>
          </p:nvSpPr>
          <p:spPr>
            <a:xfrm>
              <a:off x="1029729"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3" name="Google Shape;133;p19"/>
          <p:cNvCxnSpPr>
            <a:stCxn id="134" idx="2"/>
            <a:endCxn id="135" idx="2"/>
          </p:cNvCxnSpPr>
          <p:nvPr/>
        </p:nvCxnSpPr>
        <p:spPr>
          <a:xfrm rot="-5400000" flipH="1">
            <a:off x="2875787" y="1950450"/>
            <a:ext cx="600" cy="3558000"/>
          </a:xfrm>
          <a:prstGeom prst="bentConnector3">
            <a:avLst>
              <a:gd name="adj1" fmla="val 39687500"/>
            </a:avLst>
          </a:prstGeom>
          <a:noFill/>
          <a:ln w="9525" cap="flat" cmpd="sng">
            <a:solidFill>
              <a:srgbClr val="B4A7D6"/>
            </a:solidFill>
            <a:prstDash val="solid"/>
            <a:round/>
            <a:headEnd type="none" w="med" len="med"/>
            <a:tailEnd type="none" w="med" len="med"/>
          </a:ln>
        </p:spPr>
      </p:cxnSp>
      <p:sp>
        <p:nvSpPr>
          <p:cNvPr id="135" name="Google Shape;135;p19"/>
          <p:cNvSpPr/>
          <p:nvPr/>
        </p:nvSpPr>
        <p:spPr>
          <a:xfrm>
            <a:off x="4587587" y="3663750"/>
            <a:ext cx="134700" cy="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9"/>
          <p:cNvSpPr/>
          <p:nvPr/>
        </p:nvSpPr>
        <p:spPr>
          <a:xfrm>
            <a:off x="4797712" y="3663750"/>
            <a:ext cx="134700" cy="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7" name="Google Shape;137;p19"/>
          <p:cNvCxnSpPr>
            <a:stCxn id="136" idx="2"/>
            <a:endCxn id="138" idx="2"/>
          </p:cNvCxnSpPr>
          <p:nvPr/>
        </p:nvCxnSpPr>
        <p:spPr>
          <a:xfrm rot="-5400000" flipH="1">
            <a:off x="5311912" y="3282300"/>
            <a:ext cx="600" cy="894300"/>
          </a:xfrm>
          <a:prstGeom prst="bentConnector3">
            <a:avLst>
              <a:gd name="adj1" fmla="val 39687500"/>
            </a:avLst>
          </a:prstGeom>
          <a:noFill/>
          <a:ln w="9525" cap="flat" cmpd="sng">
            <a:solidFill>
              <a:srgbClr val="DD7E6B"/>
            </a:solidFill>
            <a:prstDash val="solid"/>
            <a:round/>
            <a:headEnd type="none" w="med" len="med"/>
            <a:tailEnd type="none" w="med" len="med"/>
          </a:ln>
        </p:spPr>
      </p:cxnSp>
      <p:sp>
        <p:nvSpPr>
          <p:cNvPr id="134" name="Google Shape;134;p19"/>
          <p:cNvSpPr/>
          <p:nvPr/>
        </p:nvSpPr>
        <p:spPr>
          <a:xfrm>
            <a:off x="1029737" y="3663750"/>
            <a:ext cx="134700" cy="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9"/>
          <p:cNvSpPr/>
          <p:nvPr/>
        </p:nvSpPr>
        <p:spPr>
          <a:xfrm>
            <a:off x="5692037" y="3663750"/>
            <a:ext cx="134700" cy="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9"/>
          <p:cNvSpPr/>
          <p:nvPr/>
        </p:nvSpPr>
        <p:spPr>
          <a:xfrm>
            <a:off x="6366412" y="3663750"/>
            <a:ext cx="134700" cy="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9"/>
          <p:cNvSpPr/>
          <p:nvPr/>
        </p:nvSpPr>
        <p:spPr>
          <a:xfrm>
            <a:off x="8785012" y="3663750"/>
            <a:ext cx="134700" cy="6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 name="Google Shape;141;p19"/>
          <p:cNvCxnSpPr>
            <a:stCxn id="139" idx="2"/>
            <a:endCxn id="140" idx="2"/>
          </p:cNvCxnSpPr>
          <p:nvPr/>
        </p:nvCxnSpPr>
        <p:spPr>
          <a:xfrm rot="-5400000" flipH="1">
            <a:off x="7642762" y="2520150"/>
            <a:ext cx="600" cy="2418600"/>
          </a:xfrm>
          <a:prstGeom prst="bentConnector3">
            <a:avLst>
              <a:gd name="adj1" fmla="val 39687500"/>
            </a:avLst>
          </a:prstGeom>
          <a:noFill/>
          <a:ln w="9525" cap="flat" cmpd="sng">
            <a:solidFill>
              <a:srgbClr val="9FC5E8"/>
            </a:solidFill>
            <a:prstDash val="solid"/>
            <a:round/>
            <a:headEnd type="none" w="med" len="med"/>
            <a:tailEnd type="none" w="med" len="med"/>
          </a:ln>
        </p:spPr>
      </p:cxnSp>
      <p:grpSp>
        <p:nvGrpSpPr>
          <p:cNvPr id="142" name="Google Shape;142;p19"/>
          <p:cNvGrpSpPr/>
          <p:nvPr/>
        </p:nvGrpSpPr>
        <p:grpSpPr>
          <a:xfrm>
            <a:off x="1719529" y="2709225"/>
            <a:ext cx="134700" cy="522660"/>
            <a:chOff x="1719529" y="2709225"/>
            <a:chExt cx="134700" cy="522660"/>
          </a:xfrm>
        </p:grpSpPr>
        <p:sp>
          <p:nvSpPr>
            <p:cNvPr id="143" name="Google Shape;143;p19"/>
            <p:cNvSpPr/>
            <p:nvPr/>
          </p:nvSpPr>
          <p:spPr>
            <a:xfrm>
              <a:off x="1719529"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 name="Google Shape;144;p19"/>
            <p:cNvCxnSpPr>
              <a:stCxn id="111" idx="0"/>
              <a:endCxn id="143" idx="4"/>
            </p:cNvCxnSpPr>
            <p:nvPr/>
          </p:nvCxnSpPr>
          <p:spPr>
            <a:xfrm flipH="1" flipV="1">
              <a:off x="1786879" y="2843925"/>
              <a:ext cx="1" cy="387960"/>
            </a:xfrm>
            <a:prstGeom prst="straightConnector1">
              <a:avLst/>
            </a:prstGeom>
            <a:noFill/>
            <a:ln w="9525" cap="flat" cmpd="sng">
              <a:solidFill>
                <a:srgbClr val="B7B7B7"/>
              </a:solidFill>
              <a:prstDash val="solid"/>
              <a:round/>
              <a:headEnd type="none" w="med" len="med"/>
              <a:tailEnd type="none" w="med" len="med"/>
            </a:ln>
          </p:spPr>
        </p:cxnSp>
      </p:grpSp>
      <p:grpSp>
        <p:nvGrpSpPr>
          <p:cNvPr id="145" name="Google Shape;145;p19"/>
          <p:cNvGrpSpPr/>
          <p:nvPr/>
        </p:nvGrpSpPr>
        <p:grpSpPr>
          <a:xfrm>
            <a:off x="3065801" y="2709225"/>
            <a:ext cx="134700" cy="522659"/>
            <a:chOff x="3065801" y="2709225"/>
            <a:chExt cx="134700" cy="522659"/>
          </a:xfrm>
        </p:grpSpPr>
        <p:sp>
          <p:nvSpPr>
            <p:cNvPr id="146" name="Google Shape;146;p19"/>
            <p:cNvSpPr/>
            <p:nvPr/>
          </p:nvSpPr>
          <p:spPr>
            <a:xfrm>
              <a:off x="3065801"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7" name="Google Shape;147;p19"/>
            <p:cNvCxnSpPr>
              <a:stCxn id="115" idx="0"/>
              <a:endCxn id="146" idx="4"/>
            </p:cNvCxnSpPr>
            <p:nvPr/>
          </p:nvCxnSpPr>
          <p:spPr>
            <a:xfrm flipV="1">
              <a:off x="3133151" y="2843925"/>
              <a:ext cx="0" cy="387959"/>
            </a:xfrm>
            <a:prstGeom prst="straightConnector1">
              <a:avLst/>
            </a:prstGeom>
            <a:noFill/>
            <a:ln w="9525" cap="flat" cmpd="sng">
              <a:solidFill>
                <a:srgbClr val="B7B7B7"/>
              </a:solidFill>
              <a:prstDash val="solid"/>
              <a:round/>
              <a:headEnd type="none" w="med" len="med"/>
              <a:tailEnd type="none" w="med" len="med"/>
            </a:ln>
          </p:spPr>
        </p:cxnSp>
      </p:grpSp>
      <p:grpSp>
        <p:nvGrpSpPr>
          <p:cNvPr id="148" name="Google Shape;148;p19"/>
          <p:cNvGrpSpPr/>
          <p:nvPr/>
        </p:nvGrpSpPr>
        <p:grpSpPr>
          <a:xfrm>
            <a:off x="4680759" y="2715805"/>
            <a:ext cx="134700" cy="584709"/>
            <a:chOff x="4680759" y="2715805"/>
            <a:chExt cx="134700" cy="584709"/>
          </a:xfrm>
        </p:grpSpPr>
        <p:sp>
          <p:nvSpPr>
            <p:cNvPr id="149" name="Google Shape;149;p19"/>
            <p:cNvSpPr/>
            <p:nvPr/>
          </p:nvSpPr>
          <p:spPr>
            <a:xfrm>
              <a:off x="4680759" y="271580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0" name="Google Shape;150;p19"/>
            <p:cNvCxnSpPr>
              <a:cxnSpLocks/>
              <a:stCxn id="118" idx="0"/>
              <a:endCxn id="149" idx="4"/>
            </p:cNvCxnSpPr>
            <p:nvPr/>
          </p:nvCxnSpPr>
          <p:spPr>
            <a:xfrm flipH="1" flipV="1">
              <a:off x="4748109" y="2850505"/>
              <a:ext cx="1" cy="450009"/>
            </a:xfrm>
            <a:prstGeom prst="straightConnector1">
              <a:avLst/>
            </a:prstGeom>
            <a:noFill/>
            <a:ln w="9525" cap="flat" cmpd="sng">
              <a:solidFill>
                <a:srgbClr val="B7B7B7"/>
              </a:solidFill>
              <a:prstDash val="solid"/>
              <a:round/>
              <a:headEnd type="none" w="med" len="med"/>
              <a:tailEnd type="none" w="med" len="med"/>
            </a:ln>
          </p:spPr>
        </p:cxnSp>
      </p:grpSp>
      <p:grpSp>
        <p:nvGrpSpPr>
          <p:cNvPr id="151" name="Google Shape;151;p19"/>
          <p:cNvGrpSpPr/>
          <p:nvPr/>
        </p:nvGrpSpPr>
        <p:grpSpPr>
          <a:xfrm>
            <a:off x="5692029" y="2709225"/>
            <a:ext cx="134700" cy="522685"/>
            <a:chOff x="5692029" y="2709225"/>
            <a:chExt cx="134700" cy="522685"/>
          </a:xfrm>
        </p:grpSpPr>
        <p:sp>
          <p:nvSpPr>
            <p:cNvPr id="152" name="Google Shape;152;p19"/>
            <p:cNvSpPr/>
            <p:nvPr/>
          </p:nvSpPr>
          <p:spPr>
            <a:xfrm>
              <a:off x="5692029"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19"/>
            <p:cNvCxnSpPr>
              <a:stCxn id="124" idx="0"/>
              <a:endCxn id="152" idx="4"/>
            </p:cNvCxnSpPr>
            <p:nvPr/>
          </p:nvCxnSpPr>
          <p:spPr>
            <a:xfrm flipH="1" flipV="1">
              <a:off x="5759379" y="2843925"/>
              <a:ext cx="1" cy="387985"/>
            </a:xfrm>
            <a:prstGeom prst="straightConnector1">
              <a:avLst/>
            </a:prstGeom>
            <a:noFill/>
            <a:ln w="9525" cap="flat" cmpd="sng">
              <a:solidFill>
                <a:srgbClr val="B7B7B7"/>
              </a:solidFill>
              <a:prstDash val="solid"/>
              <a:round/>
              <a:headEnd type="none" w="med" len="med"/>
              <a:tailEnd type="none" w="med" len="med"/>
            </a:ln>
          </p:spPr>
        </p:cxnSp>
      </p:grpSp>
      <p:grpSp>
        <p:nvGrpSpPr>
          <p:cNvPr id="154" name="Google Shape;154;p19"/>
          <p:cNvGrpSpPr/>
          <p:nvPr/>
        </p:nvGrpSpPr>
        <p:grpSpPr>
          <a:xfrm>
            <a:off x="6366404" y="2709225"/>
            <a:ext cx="134700" cy="521655"/>
            <a:chOff x="6366404" y="2709225"/>
            <a:chExt cx="134700" cy="521655"/>
          </a:xfrm>
        </p:grpSpPr>
        <p:sp>
          <p:nvSpPr>
            <p:cNvPr id="155" name="Google Shape;155;p19"/>
            <p:cNvSpPr/>
            <p:nvPr/>
          </p:nvSpPr>
          <p:spPr>
            <a:xfrm>
              <a:off x="6366404"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6" name="Google Shape;156;p19"/>
            <p:cNvCxnSpPr>
              <a:stCxn id="127" idx="0"/>
              <a:endCxn id="155" idx="4"/>
            </p:cNvCxnSpPr>
            <p:nvPr/>
          </p:nvCxnSpPr>
          <p:spPr>
            <a:xfrm flipV="1">
              <a:off x="6433751" y="2843925"/>
              <a:ext cx="3" cy="386955"/>
            </a:xfrm>
            <a:prstGeom prst="straightConnector1">
              <a:avLst/>
            </a:prstGeom>
            <a:noFill/>
            <a:ln w="9525" cap="flat" cmpd="sng">
              <a:solidFill>
                <a:srgbClr val="B7B7B7"/>
              </a:solidFill>
              <a:prstDash val="solid"/>
              <a:round/>
              <a:headEnd type="none" w="med" len="med"/>
              <a:tailEnd type="none" w="med" len="med"/>
            </a:ln>
          </p:spPr>
        </p:cxnSp>
      </p:grpSp>
      <p:grpSp>
        <p:nvGrpSpPr>
          <p:cNvPr id="157" name="Google Shape;157;p19"/>
          <p:cNvGrpSpPr/>
          <p:nvPr/>
        </p:nvGrpSpPr>
        <p:grpSpPr>
          <a:xfrm>
            <a:off x="7269262" y="2709225"/>
            <a:ext cx="134700" cy="590594"/>
            <a:chOff x="7460321" y="2709225"/>
            <a:chExt cx="134700" cy="590594"/>
          </a:xfrm>
        </p:grpSpPr>
        <p:sp>
          <p:nvSpPr>
            <p:cNvPr id="158" name="Google Shape;158;p19"/>
            <p:cNvSpPr/>
            <p:nvPr/>
          </p:nvSpPr>
          <p:spPr>
            <a:xfrm>
              <a:off x="7460321"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9" name="Google Shape;159;p19"/>
            <p:cNvCxnSpPr>
              <a:cxnSpLocks/>
              <a:stCxn id="121" idx="0"/>
              <a:endCxn id="158" idx="4"/>
            </p:cNvCxnSpPr>
            <p:nvPr/>
          </p:nvCxnSpPr>
          <p:spPr>
            <a:xfrm flipH="1" flipV="1">
              <a:off x="7527671" y="2843925"/>
              <a:ext cx="801" cy="455894"/>
            </a:xfrm>
            <a:prstGeom prst="straightConnector1">
              <a:avLst/>
            </a:prstGeom>
            <a:noFill/>
            <a:ln w="9525" cap="flat" cmpd="sng">
              <a:solidFill>
                <a:srgbClr val="B7B7B7"/>
              </a:solidFill>
              <a:prstDash val="solid"/>
              <a:round/>
              <a:headEnd type="none" w="med" len="med"/>
              <a:tailEnd type="none" w="med" len="med"/>
            </a:ln>
          </p:spPr>
        </p:cxnSp>
      </p:grpSp>
      <p:grpSp>
        <p:nvGrpSpPr>
          <p:cNvPr id="160" name="Google Shape;160;p19"/>
          <p:cNvGrpSpPr/>
          <p:nvPr/>
        </p:nvGrpSpPr>
        <p:grpSpPr>
          <a:xfrm>
            <a:off x="8192520" y="2709225"/>
            <a:ext cx="134700" cy="522660"/>
            <a:chOff x="8259860" y="2709225"/>
            <a:chExt cx="134700" cy="522660"/>
          </a:xfrm>
        </p:grpSpPr>
        <p:sp>
          <p:nvSpPr>
            <p:cNvPr id="161" name="Google Shape;161;p19"/>
            <p:cNvSpPr/>
            <p:nvPr/>
          </p:nvSpPr>
          <p:spPr>
            <a:xfrm>
              <a:off x="8259860"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2" name="Google Shape;162;p19"/>
            <p:cNvCxnSpPr>
              <a:cxnSpLocks/>
              <a:stCxn id="108" idx="0"/>
              <a:endCxn id="161" idx="4"/>
            </p:cNvCxnSpPr>
            <p:nvPr/>
          </p:nvCxnSpPr>
          <p:spPr>
            <a:xfrm flipV="1">
              <a:off x="8327210" y="2843925"/>
              <a:ext cx="0" cy="387960"/>
            </a:xfrm>
            <a:prstGeom prst="straightConnector1">
              <a:avLst/>
            </a:prstGeom>
            <a:noFill/>
            <a:ln w="9525" cap="flat" cmpd="sng">
              <a:solidFill>
                <a:srgbClr val="B7B7B7"/>
              </a:solidFill>
              <a:prstDash val="solid"/>
              <a:round/>
              <a:headEnd type="none" w="med" len="med"/>
              <a:tailEnd type="none" w="med" len="med"/>
            </a:ln>
          </p:spPr>
        </p:cxnSp>
      </p:grpSp>
      <p:sp>
        <p:nvSpPr>
          <p:cNvPr id="163" name="Google Shape;163;p19"/>
          <p:cNvSpPr txBox="1">
            <a:spLocks noGrp="1"/>
          </p:cNvSpPr>
          <p:nvPr>
            <p:ph type="body" idx="1"/>
          </p:nvPr>
        </p:nvSpPr>
        <p:spPr>
          <a:xfrm>
            <a:off x="1097075" y="4026722"/>
            <a:ext cx="3558000" cy="530400"/>
          </a:xfrm>
          <a:prstGeom prst="rect">
            <a:avLst/>
          </a:prstGeom>
        </p:spPr>
        <p:txBody>
          <a:bodyPr spcFirstLastPara="1" wrap="square" lIns="91425" tIns="91425" rIns="91425" bIns="91425" anchor="ctr" anchorCtr="0">
            <a:normAutofit/>
          </a:bodyPr>
          <a:lstStyle/>
          <a:p>
            <a:pPr marL="0" lvl="0" indent="0" algn="ctr" rtl="0">
              <a:lnSpc>
                <a:spcPct val="100000"/>
              </a:lnSpc>
              <a:spcBef>
                <a:spcPts val="0"/>
              </a:spcBef>
              <a:spcAft>
                <a:spcPts val="0"/>
              </a:spcAft>
              <a:buNone/>
            </a:pPr>
            <a:r>
              <a:rPr lang="en" sz="1100" b="1" dirty="0">
                <a:solidFill>
                  <a:srgbClr val="8E7CC3"/>
                </a:solidFill>
              </a:rPr>
              <a:t>Software Development</a:t>
            </a:r>
            <a:endParaRPr sz="1100" b="1" dirty="0">
              <a:solidFill>
                <a:srgbClr val="8E7CC3"/>
              </a:solidFill>
            </a:endParaRPr>
          </a:p>
        </p:txBody>
      </p:sp>
      <p:sp>
        <p:nvSpPr>
          <p:cNvPr id="164" name="Google Shape;164;p19"/>
          <p:cNvSpPr txBox="1">
            <a:spLocks noGrp="1"/>
          </p:cNvSpPr>
          <p:nvPr>
            <p:ph type="body" idx="1"/>
          </p:nvPr>
        </p:nvSpPr>
        <p:spPr>
          <a:xfrm>
            <a:off x="6430150" y="4026722"/>
            <a:ext cx="2418600" cy="530400"/>
          </a:xfrm>
          <a:prstGeom prst="rect">
            <a:avLst/>
          </a:prstGeom>
        </p:spPr>
        <p:txBody>
          <a:bodyPr spcFirstLastPara="1" wrap="square" lIns="91425" tIns="91425" rIns="91425" bIns="91425" anchor="ctr" anchorCtr="0">
            <a:normAutofit/>
          </a:bodyPr>
          <a:lstStyle/>
          <a:p>
            <a:pPr marL="0" lvl="0" indent="0" algn="ctr" rtl="0">
              <a:lnSpc>
                <a:spcPct val="100000"/>
              </a:lnSpc>
              <a:spcBef>
                <a:spcPts val="0"/>
              </a:spcBef>
              <a:spcAft>
                <a:spcPts val="0"/>
              </a:spcAft>
              <a:buNone/>
            </a:pPr>
            <a:r>
              <a:rPr lang="en" sz="1100" b="1" dirty="0">
                <a:solidFill>
                  <a:srgbClr val="6FA8DC"/>
                </a:solidFill>
              </a:rPr>
              <a:t>Product Marketing</a:t>
            </a:r>
            <a:endParaRPr sz="1100" b="1" dirty="0">
              <a:solidFill>
                <a:srgbClr val="6FA8DC"/>
              </a:solidFill>
            </a:endParaRPr>
          </a:p>
        </p:txBody>
      </p:sp>
      <p:sp>
        <p:nvSpPr>
          <p:cNvPr id="165" name="Google Shape;165;p19"/>
          <p:cNvSpPr txBox="1">
            <a:spLocks noGrp="1"/>
          </p:cNvSpPr>
          <p:nvPr>
            <p:ph type="body" idx="1"/>
          </p:nvPr>
        </p:nvSpPr>
        <p:spPr>
          <a:xfrm>
            <a:off x="4572000" y="4026722"/>
            <a:ext cx="1505825" cy="530400"/>
          </a:xfrm>
          <a:prstGeom prst="rect">
            <a:avLst/>
          </a:prstGeom>
        </p:spPr>
        <p:txBody>
          <a:bodyPr spcFirstLastPara="1" wrap="square" lIns="91425" tIns="91425" rIns="91425" bIns="91425" anchor="ctr" anchorCtr="0">
            <a:normAutofit/>
          </a:bodyPr>
          <a:lstStyle/>
          <a:p>
            <a:pPr marL="0" lvl="0" indent="0" algn="ctr" rtl="0">
              <a:lnSpc>
                <a:spcPct val="100000"/>
              </a:lnSpc>
              <a:spcBef>
                <a:spcPts val="0"/>
              </a:spcBef>
              <a:spcAft>
                <a:spcPts val="0"/>
              </a:spcAft>
              <a:buNone/>
            </a:pPr>
            <a:r>
              <a:rPr lang="en" sz="1100" b="1" dirty="0">
                <a:solidFill>
                  <a:srgbClr val="CC4125"/>
                </a:solidFill>
              </a:rPr>
              <a:t>Technical Marketing </a:t>
            </a:r>
            <a:endParaRPr sz="1100" b="1" dirty="0">
              <a:solidFill>
                <a:srgbClr val="CC4125"/>
              </a:solidFill>
            </a:endParaRPr>
          </a:p>
        </p:txBody>
      </p:sp>
      <p:sp>
        <p:nvSpPr>
          <p:cNvPr id="166" name="Google Shape;166;p19"/>
          <p:cNvSpPr txBox="1">
            <a:spLocks noGrp="1"/>
          </p:cNvSpPr>
          <p:nvPr>
            <p:ph type="body" idx="1"/>
          </p:nvPr>
        </p:nvSpPr>
        <p:spPr>
          <a:xfrm>
            <a:off x="824225"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a:t>89-96 </a:t>
            </a:r>
            <a:endParaRPr sz="800" b="1"/>
          </a:p>
        </p:txBody>
      </p:sp>
      <p:sp>
        <p:nvSpPr>
          <p:cNvPr id="167" name="Google Shape;167;p19"/>
          <p:cNvSpPr txBox="1">
            <a:spLocks noGrp="1"/>
          </p:cNvSpPr>
          <p:nvPr>
            <p:ph type="body" idx="1"/>
          </p:nvPr>
        </p:nvSpPr>
        <p:spPr>
          <a:xfrm>
            <a:off x="1514025"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a:t>96-98 </a:t>
            </a:r>
            <a:endParaRPr sz="800" b="1"/>
          </a:p>
        </p:txBody>
      </p:sp>
      <p:sp>
        <p:nvSpPr>
          <p:cNvPr id="168" name="Google Shape;168;p19"/>
          <p:cNvSpPr txBox="1">
            <a:spLocks noGrp="1"/>
          </p:cNvSpPr>
          <p:nvPr>
            <p:ph type="body" idx="1"/>
          </p:nvPr>
        </p:nvSpPr>
        <p:spPr>
          <a:xfrm>
            <a:off x="2860300"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a:t>98-04 </a:t>
            </a:r>
            <a:endParaRPr sz="800" b="1"/>
          </a:p>
        </p:txBody>
      </p:sp>
      <p:sp>
        <p:nvSpPr>
          <p:cNvPr id="169" name="Google Shape;169;p19"/>
          <p:cNvSpPr txBox="1">
            <a:spLocks noGrp="1"/>
          </p:cNvSpPr>
          <p:nvPr>
            <p:ph type="body" idx="1"/>
          </p:nvPr>
        </p:nvSpPr>
        <p:spPr>
          <a:xfrm>
            <a:off x="4482975"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dirty="0"/>
              <a:t>04-11 </a:t>
            </a:r>
            <a:endParaRPr sz="800" b="1" dirty="0"/>
          </a:p>
        </p:txBody>
      </p:sp>
      <p:sp>
        <p:nvSpPr>
          <p:cNvPr id="170" name="Google Shape;170;p19"/>
          <p:cNvSpPr txBox="1">
            <a:spLocks noGrp="1"/>
          </p:cNvSpPr>
          <p:nvPr>
            <p:ph type="body" idx="1"/>
          </p:nvPr>
        </p:nvSpPr>
        <p:spPr>
          <a:xfrm>
            <a:off x="5486525"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a:t>11-13 </a:t>
            </a:r>
            <a:endParaRPr sz="800" b="1"/>
          </a:p>
        </p:txBody>
      </p:sp>
      <p:sp>
        <p:nvSpPr>
          <p:cNvPr id="171" name="Google Shape;171;p19"/>
          <p:cNvSpPr txBox="1">
            <a:spLocks noGrp="1"/>
          </p:cNvSpPr>
          <p:nvPr>
            <p:ph type="body" idx="1"/>
          </p:nvPr>
        </p:nvSpPr>
        <p:spPr>
          <a:xfrm>
            <a:off x="6160900"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a:t>13-15 </a:t>
            </a:r>
            <a:endParaRPr sz="800" b="1"/>
          </a:p>
        </p:txBody>
      </p:sp>
      <p:sp>
        <p:nvSpPr>
          <p:cNvPr id="172" name="Google Shape;172;p19"/>
          <p:cNvSpPr txBox="1">
            <a:spLocks noGrp="1"/>
          </p:cNvSpPr>
          <p:nvPr>
            <p:ph type="body" idx="1"/>
          </p:nvPr>
        </p:nvSpPr>
        <p:spPr>
          <a:xfrm>
            <a:off x="7064563"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dirty="0"/>
              <a:t>15-20 </a:t>
            </a:r>
            <a:endParaRPr sz="800" b="1" dirty="0"/>
          </a:p>
        </p:txBody>
      </p:sp>
      <p:sp>
        <p:nvSpPr>
          <p:cNvPr id="173" name="Google Shape;173;p19"/>
          <p:cNvSpPr txBox="1">
            <a:spLocks noGrp="1"/>
          </p:cNvSpPr>
          <p:nvPr>
            <p:ph type="body" idx="1"/>
          </p:nvPr>
        </p:nvSpPr>
        <p:spPr>
          <a:xfrm>
            <a:off x="7987030" y="2469750"/>
            <a:ext cx="545700" cy="2040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800" b="1"/>
              <a:t>20-21 </a:t>
            </a:r>
            <a:endParaRPr sz="800" b="1"/>
          </a:p>
        </p:txBody>
      </p:sp>
      <p:pic>
        <p:nvPicPr>
          <p:cNvPr id="9" name="Picture 8" descr="Ibm Logo vibrant PNG with transparent back 4464x1944 #19658 | PNGimg">
            <a:extLst>
              <a:ext uri="{FF2B5EF4-FFF2-40B4-BE49-F238E27FC236}">
                <a16:creationId xmlns:a16="http://schemas.microsoft.com/office/drawing/2014/main" id="{A0C25FA2-9C4B-9FCE-833C-4FC4E389226B}"/>
              </a:ext>
            </a:extLst>
          </p:cNvPr>
          <p:cNvPicPr>
            <a:picLocks noChangeAspect="1"/>
          </p:cNvPicPr>
          <p:nvPr/>
        </p:nvPicPr>
        <p:blipFill>
          <a:blip r:embed="rId12"/>
          <a:stretch>
            <a:fillRect/>
          </a:stretch>
        </p:blipFill>
        <p:spPr>
          <a:xfrm>
            <a:off x="8610588" y="3300750"/>
            <a:ext cx="457200" cy="199103"/>
          </a:xfrm>
          <a:prstGeom prst="rect">
            <a:avLst/>
          </a:prstGeom>
        </p:spPr>
      </p:pic>
      <p:sp>
        <p:nvSpPr>
          <p:cNvPr id="12" name="Google Shape;169;p19">
            <a:extLst>
              <a:ext uri="{FF2B5EF4-FFF2-40B4-BE49-F238E27FC236}">
                <a16:creationId xmlns:a16="http://schemas.microsoft.com/office/drawing/2014/main" id="{778A6271-051C-0E72-A100-D003F8B1A59B}"/>
              </a:ext>
            </a:extLst>
          </p:cNvPr>
          <p:cNvSpPr txBox="1">
            <a:spLocks/>
          </p:cNvSpPr>
          <p:nvPr/>
        </p:nvSpPr>
        <p:spPr>
          <a:xfrm>
            <a:off x="8566338" y="2469750"/>
            <a:ext cx="545700" cy="204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Roboto"/>
              <a:buChar char="●"/>
              <a:defRPr sz="1800" b="0" i="0" u="none" strike="noStrike" cap="none">
                <a:solidFill>
                  <a:schemeClr val="lt2"/>
                </a:solidFill>
                <a:latin typeface="Roboto"/>
                <a:ea typeface="Roboto"/>
                <a:cs typeface="Roboto"/>
                <a:sym typeface="Roboto"/>
              </a:defRPr>
            </a:lvl1pPr>
            <a:lvl2pPr marL="914400" marR="0" lvl="1"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2pPr>
            <a:lvl3pPr marL="1371600" marR="0" lvl="2"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3pPr>
            <a:lvl4pPr marL="1828800" marR="0" lvl="3"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4pPr>
            <a:lvl5pPr marL="2286000" marR="0" lvl="4"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5pPr>
            <a:lvl6pPr marL="2743200" marR="0" lvl="5"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6pPr>
            <a:lvl7pPr marL="3200400" marR="0" lvl="6"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7pPr>
            <a:lvl8pPr marL="3657600" marR="0" lvl="7"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8pPr>
            <a:lvl9pPr marL="4114800" marR="0" lvl="8"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9pPr>
          </a:lstStyle>
          <a:p>
            <a:pPr marL="0" indent="0" algn="ctr">
              <a:lnSpc>
                <a:spcPct val="100000"/>
              </a:lnSpc>
              <a:buFont typeface="Roboto"/>
              <a:buNone/>
            </a:pPr>
            <a:r>
              <a:rPr lang="en" sz="800" b="1" dirty="0"/>
              <a:t>Current</a:t>
            </a:r>
          </a:p>
        </p:txBody>
      </p:sp>
      <p:grpSp>
        <p:nvGrpSpPr>
          <p:cNvPr id="13" name="Google Shape;160;p19">
            <a:extLst>
              <a:ext uri="{FF2B5EF4-FFF2-40B4-BE49-F238E27FC236}">
                <a16:creationId xmlns:a16="http://schemas.microsoft.com/office/drawing/2014/main" id="{FA895A41-719B-AD6B-D20C-FA021A5C686C}"/>
              </a:ext>
            </a:extLst>
          </p:cNvPr>
          <p:cNvGrpSpPr/>
          <p:nvPr/>
        </p:nvGrpSpPr>
        <p:grpSpPr>
          <a:xfrm>
            <a:off x="8775118" y="2715805"/>
            <a:ext cx="134700" cy="584945"/>
            <a:chOff x="8259860" y="2709225"/>
            <a:chExt cx="134700" cy="584945"/>
          </a:xfrm>
        </p:grpSpPr>
        <p:sp>
          <p:nvSpPr>
            <p:cNvPr id="14" name="Google Shape;161;p19">
              <a:extLst>
                <a:ext uri="{FF2B5EF4-FFF2-40B4-BE49-F238E27FC236}">
                  <a16:creationId xmlns:a16="http://schemas.microsoft.com/office/drawing/2014/main" id="{5CB9F47B-FB53-4F4B-92C5-8F10CFF4F63D}"/>
                </a:ext>
              </a:extLst>
            </p:cNvPr>
            <p:cNvSpPr/>
            <p:nvPr/>
          </p:nvSpPr>
          <p:spPr>
            <a:xfrm>
              <a:off x="8259860" y="2709225"/>
              <a:ext cx="134700" cy="134700"/>
            </a:xfrm>
            <a:prstGeom prst="ellipse">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62;p19">
              <a:extLst>
                <a:ext uri="{FF2B5EF4-FFF2-40B4-BE49-F238E27FC236}">
                  <a16:creationId xmlns:a16="http://schemas.microsoft.com/office/drawing/2014/main" id="{777D7089-6A3F-7445-3BF8-12B0CB3F8C35}"/>
                </a:ext>
              </a:extLst>
            </p:cNvPr>
            <p:cNvCxnSpPr>
              <a:cxnSpLocks/>
              <a:stCxn id="9" idx="0"/>
              <a:endCxn id="14" idx="4"/>
            </p:cNvCxnSpPr>
            <p:nvPr/>
          </p:nvCxnSpPr>
          <p:spPr>
            <a:xfrm flipV="1">
              <a:off x="8323930" y="2843925"/>
              <a:ext cx="3280" cy="450245"/>
            </a:xfrm>
            <a:prstGeom prst="straightConnector1">
              <a:avLst/>
            </a:prstGeom>
            <a:noFill/>
            <a:ln w="9525" cap="flat" cmpd="sng">
              <a:solidFill>
                <a:srgbClr val="B7B7B7"/>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fade">
                                      <p:cBhvr>
                                        <p:cTn id="12" dur="1000"/>
                                        <p:tgtEl>
                                          <p:spTgt spid="107"/>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12"/>
                                        </p:tgtEl>
                                        <p:attrNameLst>
                                          <p:attrName>style.visibility</p:attrName>
                                        </p:attrNameLst>
                                      </p:cBhvr>
                                      <p:to>
                                        <p:strVal val="visible"/>
                                      </p:to>
                                    </p:set>
                                    <p:animEffect transition="in" filter="fade">
                                      <p:cBhvr>
                                        <p:cTn id="16" dur="1000"/>
                                        <p:tgtEl>
                                          <p:spTgt spid="112"/>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130"/>
                                        </p:tgtEl>
                                        <p:attrNameLst>
                                          <p:attrName>style.visibility</p:attrName>
                                        </p:attrNameLst>
                                      </p:cBhvr>
                                      <p:to>
                                        <p:strVal val="visible"/>
                                      </p:to>
                                    </p:set>
                                    <p:animEffect transition="in" filter="fade">
                                      <p:cBhvr>
                                        <p:cTn id="20" dur="1000"/>
                                        <p:tgtEl>
                                          <p:spTgt spid="130"/>
                                        </p:tgtEl>
                                      </p:cBhvr>
                                    </p:animEffect>
                                  </p:childTnLst>
                                </p:cTn>
                              </p:par>
                            </p:childTnLst>
                          </p:cTn>
                        </p:par>
                        <p:par>
                          <p:cTn id="21" fill="hold">
                            <p:stCondLst>
                              <p:cond delay="3000"/>
                            </p:stCondLst>
                            <p:childTnLst>
                              <p:par>
                                <p:cTn id="22" presetID="10" presetClass="entr" presetSubtype="0" fill="hold" nodeType="after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fade">
                                      <p:cBhvr>
                                        <p:cTn id="24" dur="1000"/>
                                        <p:tgtEl>
                                          <p:spTgt spid="16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fade">
                                      <p:cBhvr>
                                        <p:cTn id="29" dur="1000"/>
                                        <p:tgtEl>
                                          <p:spTgt spid="111"/>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42"/>
                                        </p:tgtEl>
                                        <p:attrNameLst>
                                          <p:attrName>style.visibility</p:attrName>
                                        </p:attrNameLst>
                                      </p:cBhvr>
                                      <p:to>
                                        <p:strVal val="visible"/>
                                      </p:to>
                                    </p:set>
                                    <p:animEffect transition="in" filter="fade">
                                      <p:cBhvr>
                                        <p:cTn id="33" dur="1000"/>
                                        <p:tgtEl>
                                          <p:spTgt spid="142"/>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67"/>
                                        </p:tgtEl>
                                        <p:attrNameLst>
                                          <p:attrName>style.visibility</p:attrName>
                                        </p:attrNameLst>
                                      </p:cBhvr>
                                      <p:to>
                                        <p:strVal val="visible"/>
                                      </p:to>
                                    </p:set>
                                    <p:animEffect transition="in" filter="fade">
                                      <p:cBhvr>
                                        <p:cTn id="37" dur="1000"/>
                                        <p:tgtEl>
                                          <p:spTgt spid="16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3"/>
                                        </p:tgtEl>
                                        <p:attrNameLst>
                                          <p:attrName>style.visibility</p:attrName>
                                        </p:attrNameLst>
                                      </p:cBhvr>
                                      <p:to>
                                        <p:strVal val="visible"/>
                                      </p:to>
                                    </p:set>
                                    <p:animEffect transition="in" filter="fade">
                                      <p:cBhvr>
                                        <p:cTn id="42" dur="1000"/>
                                        <p:tgtEl>
                                          <p:spTgt spid="113"/>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145"/>
                                        </p:tgtEl>
                                        <p:attrNameLst>
                                          <p:attrName>style.visibility</p:attrName>
                                        </p:attrNameLst>
                                      </p:cBhvr>
                                      <p:to>
                                        <p:strVal val="visible"/>
                                      </p:to>
                                    </p:set>
                                    <p:animEffect transition="in" filter="fade">
                                      <p:cBhvr>
                                        <p:cTn id="46" dur="1000"/>
                                        <p:tgtEl>
                                          <p:spTgt spid="145"/>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168"/>
                                        </p:tgtEl>
                                        <p:attrNameLst>
                                          <p:attrName>style.visibility</p:attrName>
                                        </p:attrNameLst>
                                      </p:cBhvr>
                                      <p:to>
                                        <p:strVal val="visible"/>
                                      </p:to>
                                    </p:set>
                                    <p:animEffect transition="in" filter="fade">
                                      <p:cBhvr>
                                        <p:cTn id="50" dur="1000"/>
                                        <p:tgtEl>
                                          <p:spTgt spid="16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16"/>
                                        </p:tgtEl>
                                        <p:attrNameLst>
                                          <p:attrName>style.visibility</p:attrName>
                                        </p:attrNameLst>
                                      </p:cBhvr>
                                      <p:to>
                                        <p:strVal val="visible"/>
                                      </p:to>
                                    </p:set>
                                    <p:animEffect transition="in" filter="fade">
                                      <p:cBhvr>
                                        <p:cTn id="55" dur="1000"/>
                                        <p:tgtEl>
                                          <p:spTgt spid="116"/>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148"/>
                                        </p:tgtEl>
                                        <p:attrNameLst>
                                          <p:attrName>style.visibility</p:attrName>
                                        </p:attrNameLst>
                                      </p:cBhvr>
                                      <p:to>
                                        <p:strVal val="visible"/>
                                      </p:to>
                                    </p:set>
                                    <p:animEffect transition="in" filter="fade">
                                      <p:cBhvr>
                                        <p:cTn id="59" dur="1000"/>
                                        <p:tgtEl>
                                          <p:spTgt spid="148"/>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169"/>
                                        </p:tgtEl>
                                        <p:attrNameLst>
                                          <p:attrName>style.visibility</p:attrName>
                                        </p:attrNameLst>
                                      </p:cBhvr>
                                      <p:to>
                                        <p:strVal val="visible"/>
                                      </p:to>
                                    </p:set>
                                    <p:animEffect transition="in" filter="fade">
                                      <p:cBhvr>
                                        <p:cTn id="63" dur="1000"/>
                                        <p:tgtEl>
                                          <p:spTgt spid="16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22"/>
                                        </p:tgtEl>
                                        <p:attrNameLst>
                                          <p:attrName>style.visibility</p:attrName>
                                        </p:attrNameLst>
                                      </p:cBhvr>
                                      <p:to>
                                        <p:strVal val="visible"/>
                                      </p:to>
                                    </p:set>
                                    <p:animEffect transition="in" filter="fade">
                                      <p:cBhvr>
                                        <p:cTn id="68" dur="1000"/>
                                        <p:tgtEl>
                                          <p:spTgt spid="122"/>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151"/>
                                        </p:tgtEl>
                                        <p:attrNameLst>
                                          <p:attrName>style.visibility</p:attrName>
                                        </p:attrNameLst>
                                      </p:cBhvr>
                                      <p:to>
                                        <p:strVal val="visible"/>
                                      </p:to>
                                    </p:set>
                                    <p:animEffect transition="in" filter="fade">
                                      <p:cBhvr>
                                        <p:cTn id="72" dur="1000"/>
                                        <p:tgtEl>
                                          <p:spTgt spid="151"/>
                                        </p:tgtEl>
                                      </p:cBhvr>
                                    </p:animEffect>
                                  </p:childTnLst>
                                </p:cTn>
                              </p:par>
                            </p:childTnLst>
                          </p:cTn>
                        </p:par>
                        <p:par>
                          <p:cTn id="73" fill="hold">
                            <p:stCondLst>
                              <p:cond delay="2000"/>
                            </p:stCondLst>
                            <p:childTnLst>
                              <p:par>
                                <p:cTn id="74" presetID="10" presetClass="entr" presetSubtype="0" fill="hold" nodeType="afterEffect">
                                  <p:stCondLst>
                                    <p:cond delay="0"/>
                                  </p:stCondLst>
                                  <p:childTnLst>
                                    <p:set>
                                      <p:cBhvr>
                                        <p:cTn id="75" dur="1" fill="hold">
                                          <p:stCondLst>
                                            <p:cond delay="0"/>
                                          </p:stCondLst>
                                        </p:cTn>
                                        <p:tgtEl>
                                          <p:spTgt spid="170"/>
                                        </p:tgtEl>
                                        <p:attrNameLst>
                                          <p:attrName>style.visibility</p:attrName>
                                        </p:attrNameLst>
                                      </p:cBhvr>
                                      <p:to>
                                        <p:strVal val="visible"/>
                                      </p:to>
                                    </p:set>
                                    <p:animEffect transition="in" filter="fade">
                                      <p:cBhvr>
                                        <p:cTn id="76" dur="1000"/>
                                        <p:tgtEl>
                                          <p:spTgt spid="17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25"/>
                                        </p:tgtEl>
                                        <p:attrNameLst>
                                          <p:attrName>style.visibility</p:attrName>
                                        </p:attrNameLst>
                                      </p:cBhvr>
                                      <p:to>
                                        <p:strVal val="visible"/>
                                      </p:to>
                                    </p:set>
                                    <p:animEffect transition="in" filter="fade">
                                      <p:cBhvr>
                                        <p:cTn id="81" dur="1000"/>
                                        <p:tgtEl>
                                          <p:spTgt spid="125"/>
                                        </p:tgtEl>
                                      </p:cBhvr>
                                    </p:animEffect>
                                  </p:childTnLst>
                                </p:cTn>
                              </p:par>
                            </p:childTnLst>
                          </p:cTn>
                        </p:par>
                        <p:par>
                          <p:cTn id="82" fill="hold">
                            <p:stCondLst>
                              <p:cond delay="1000"/>
                            </p:stCondLst>
                            <p:childTnLst>
                              <p:par>
                                <p:cTn id="83" presetID="10" presetClass="entr" presetSubtype="0" fill="hold" nodeType="afterEffect">
                                  <p:stCondLst>
                                    <p:cond delay="0"/>
                                  </p:stCondLst>
                                  <p:childTnLst>
                                    <p:set>
                                      <p:cBhvr>
                                        <p:cTn id="84" dur="1" fill="hold">
                                          <p:stCondLst>
                                            <p:cond delay="0"/>
                                          </p:stCondLst>
                                        </p:cTn>
                                        <p:tgtEl>
                                          <p:spTgt spid="154"/>
                                        </p:tgtEl>
                                        <p:attrNameLst>
                                          <p:attrName>style.visibility</p:attrName>
                                        </p:attrNameLst>
                                      </p:cBhvr>
                                      <p:to>
                                        <p:strVal val="visible"/>
                                      </p:to>
                                    </p:set>
                                    <p:animEffect transition="in" filter="fade">
                                      <p:cBhvr>
                                        <p:cTn id="85" dur="1000"/>
                                        <p:tgtEl>
                                          <p:spTgt spid="154"/>
                                        </p:tgtEl>
                                      </p:cBhvr>
                                    </p:animEffect>
                                  </p:childTnLst>
                                </p:cTn>
                              </p:par>
                            </p:childTnLst>
                          </p:cTn>
                        </p:par>
                        <p:par>
                          <p:cTn id="86" fill="hold">
                            <p:stCondLst>
                              <p:cond delay="2000"/>
                            </p:stCondLst>
                            <p:childTnLst>
                              <p:par>
                                <p:cTn id="87" presetID="10" presetClass="entr" presetSubtype="0" fill="hold" nodeType="afterEffect">
                                  <p:stCondLst>
                                    <p:cond delay="0"/>
                                  </p:stCondLst>
                                  <p:childTnLst>
                                    <p:set>
                                      <p:cBhvr>
                                        <p:cTn id="88" dur="1" fill="hold">
                                          <p:stCondLst>
                                            <p:cond delay="0"/>
                                          </p:stCondLst>
                                        </p:cTn>
                                        <p:tgtEl>
                                          <p:spTgt spid="171"/>
                                        </p:tgtEl>
                                        <p:attrNameLst>
                                          <p:attrName>style.visibility</p:attrName>
                                        </p:attrNameLst>
                                      </p:cBhvr>
                                      <p:to>
                                        <p:strVal val="visible"/>
                                      </p:to>
                                    </p:set>
                                    <p:animEffect transition="in" filter="fade">
                                      <p:cBhvr>
                                        <p:cTn id="89" dur="1000"/>
                                        <p:tgtEl>
                                          <p:spTgt spid="171"/>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19"/>
                                        </p:tgtEl>
                                        <p:attrNameLst>
                                          <p:attrName>style.visibility</p:attrName>
                                        </p:attrNameLst>
                                      </p:cBhvr>
                                      <p:to>
                                        <p:strVal val="visible"/>
                                      </p:to>
                                    </p:set>
                                    <p:animEffect transition="in" filter="fade">
                                      <p:cBhvr>
                                        <p:cTn id="94" dur="1000"/>
                                        <p:tgtEl>
                                          <p:spTgt spid="119"/>
                                        </p:tgtEl>
                                      </p:cBhvr>
                                    </p:animEffect>
                                  </p:childTnLst>
                                </p:cTn>
                              </p:par>
                            </p:childTnLst>
                          </p:cTn>
                        </p:par>
                        <p:par>
                          <p:cTn id="95" fill="hold">
                            <p:stCondLst>
                              <p:cond delay="1000"/>
                            </p:stCondLst>
                            <p:childTnLst>
                              <p:par>
                                <p:cTn id="96" presetID="10" presetClass="entr" presetSubtype="0" fill="hold" nodeType="afterEffect">
                                  <p:stCondLst>
                                    <p:cond delay="0"/>
                                  </p:stCondLst>
                                  <p:childTnLst>
                                    <p:set>
                                      <p:cBhvr>
                                        <p:cTn id="97" dur="1" fill="hold">
                                          <p:stCondLst>
                                            <p:cond delay="0"/>
                                          </p:stCondLst>
                                        </p:cTn>
                                        <p:tgtEl>
                                          <p:spTgt spid="157"/>
                                        </p:tgtEl>
                                        <p:attrNameLst>
                                          <p:attrName>style.visibility</p:attrName>
                                        </p:attrNameLst>
                                      </p:cBhvr>
                                      <p:to>
                                        <p:strVal val="visible"/>
                                      </p:to>
                                    </p:set>
                                    <p:animEffect transition="in" filter="fade">
                                      <p:cBhvr>
                                        <p:cTn id="98" dur="1000"/>
                                        <p:tgtEl>
                                          <p:spTgt spid="157"/>
                                        </p:tgtEl>
                                      </p:cBhvr>
                                    </p:animEffect>
                                  </p:childTnLst>
                                </p:cTn>
                              </p:par>
                            </p:childTnLst>
                          </p:cTn>
                        </p:par>
                        <p:par>
                          <p:cTn id="99" fill="hold">
                            <p:stCondLst>
                              <p:cond delay="2000"/>
                            </p:stCondLst>
                            <p:childTnLst>
                              <p:par>
                                <p:cTn id="100" presetID="10" presetClass="entr" presetSubtype="0" fill="hold" nodeType="afterEffect">
                                  <p:stCondLst>
                                    <p:cond delay="0"/>
                                  </p:stCondLst>
                                  <p:childTnLst>
                                    <p:set>
                                      <p:cBhvr>
                                        <p:cTn id="101" dur="1" fill="hold">
                                          <p:stCondLst>
                                            <p:cond delay="0"/>
                                          </p:stCondLst>
                                        </p:cTn>
                                        <p:tgtEl>
                                          <p:spTgt spid="172"/>
                                        </p:tgtEl>
                                        <p:attrNameLst>
                                          <p:attrName>style.visibility</p:attrName>
                                        </p:attrNameLst>
                                      </p:cBhvr>
                                      <p:to>
                                        <p:strVal val="visible"/>
                                      </p:to>
                                    </p:set>
                                    <p:animEffect transition="in" filter="fade">
                                      <p:cBhvr>
                                        <p:cTn id="102" dur="1000"/>
                                        <p:tgtEl>
                                          <p:spTgt spid="172"/>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28"/>
                                        </p:tgtEl>
                                        <p:attrNameLst>
                                          <p:attrName>style.visibility</p:attrName>
                                        </p:attrNameLst>
                                      </p:cBhvr>
                                      <p:to>
                                        <p:strVal val="visible"/>
                                      </p:to>
                                    </p:set>
                                    <p:animEffect transition="in" filter="fade">
                                      <p:cBhvr>
                                        <p:cTn id="107" dur="1000"/>
                                        <p:tgtEl>
                                          <p:spTgt spid="128"/>
                                        </p:tgtEl>
                                      </p:cBhvr>
                                    </p:animEffect>
                                  </p:childTnLst>
                                </p:cTn>
                              </p:par>
                            </p:childTnLst>
                          </p:cTn>
                        </p:par>
                        <p:par>
                          <p:cTn id="108" fill="hold">
                            <p:stCondLst>
                              <p:cond delay="1000"/>
                            </p:stCondLst>
                            <p:childTnLst>
                              <p:par>
                                <p:cTn id="109" presetID="10" presetClass="entr" presetSubtype="0" fill="hold" nodeType="afterEffect">
                                  <p:stCondLst>
                                    <p:cond delay="0"/>
                                  </p:stCondLst>
                                  <p:childTnLst>
                                    <p:set>
                                      <p:cBhvr>
                                        <p:cTn id="110" dur="1" fill="hold">
                                          <p:stCondLst>
                                            <p:cond delay="0"/>
                                          </p:stCondLst>
                                        </p:cTn>
                                        <p:tgtEl>
                                          <p:spTgt spid="160"/>
                                        </p:tgtEl>
                                        <p:attrNameLst>
                                          <p:attrName>style.visibility</p:attrName>
                                        </p:attrNameLst>
                                      </p:cBhvr>
                                      <p:to>
                                        <p:strVal val="visible"/>
                                      </p:to>
                                    </p:set>
                                    <p:animEffect transition="in" filter="fade">
                                      <p:cBhvr>
                                        <p:cTn id="111" dur="1000"/>
                                        <p:tgtEl>
                                          <p:spTgt spid="160"/>
                                        </p:tgtEl>
                                      </p:cBhvr>
                                    </p:animEffect>
                                  </p:childTnLst>
                                </p:cTn>
                              </p:par>
                            </p:childTnLst>
                          </p:cTn>
                        </p:par>
                        <p:par>
                          <p:cTn id="112" fill="hold">
                            <p:stCondLst>
                              <p:cond delay="2000"/>
                            </p:stCondLst>
                            <p:childTnLst>
                              <p:par>
                                <p:cTn id="113" presetID="10" presetClass="entr" presetSubtype="0" fill="hold" nodeType="afterEffect">
                                  <p:stCondLst>
                                    <p:cond delay="0"/>
                                  </p:stCondLst>
                                  <p:childTnLst>
                                    <p:set>
                                      <p:cBhvr>
                                        <p:cTn id="114" dur="1" fill="hold">
                                          <p:stCondLst>
                                            <p:cond delay="0"/>
                                          </p:stCondLst>
                                        </p:cTn>
                                        <p:tgtEl>
                                          <p:spTgt spid="173"/>
                                        </p:tgtEl>
                                        <p:attrNameLst>
                                          <p:attrName>style.visibility</p:attrName>
                                        </p:attrNameLst>
                                      </p:cBhvr>
                                      <p:to>
                                        <p:strVal val="visible"/>
                                      </p:to>
                                    </p:set>
                                    <p:animEffect transition="in" filter="fade">
                                      <p:cBhvr>
                                        <p:cTn id="115" dur="1000"/>
                                        <p:tgtEl>
                                          <p:spTgt spid="173"/>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133"/>
                                        </p:tgtEl>
                                        <p:attrNameLst>
                                          <p:attrName>style.visibility</p:attrName>
                                        </p:attrNameLst>
                                      </p:cBhvr>
                                      <p:to>
                                        <p:strVal val="visible"/>
                                      </p:to>
                                    </p:set>
                                    <p:animEffect transition="in" filter="fade">
                                      <p:cBhvr>
                                        <p:cTn id="120" dur="1000"/>
                                        <p:tgtEl>
                                          <p:spTgt spid="133"/>
                                        </p:tgtEl>
                                      </p:cBhvr>
                                    </p:animEffect>
                                  </p:childTnLst>
                                </p:cTn>
                              </p:par>
                              <p:par>
                                <p:cTn id="121" presetID="10" presetClass="entr" presetSubtype="0" fill="hold" nodeType="withEffect">
                                  <p:stCondLst>
                                    <p:cond delay="0"/>
                                  </p:stCondLst>
                                  <p:childTnLst>
                                    <p:set>
                                      <p:cBhvr>
                                        <p:cTn id="122" dur="1" fill="hold">
                                          <p:stCondLst>
                                            <p:cond delay="0"/>
                                          </p:stCondLst>
                                        </p:cTn>
                                        <p:tgtEl>
                                          <p:spTgt spid="163"/>
                                        </p:tgtEl>
                                        <p:attrNameLst>
                                          <p:attrName>style.visibility</p:attrName>
                                        </p:attrNameLst>
                                      </p:cBhvr>
                                      <p:to>
                                        <p:strVal val="visible"/>
                                      </p:to>
                                    </p:set>
                                    <p:animEffect transition="in" filter="fade">
                                      <p:cBhvr>
                                        <p:cTn id="123" dur="1000"/>
                                        <p:tgtEl>
                                          <p:spTgt spid="163"/>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137"/>
                                        </p:tgtEl>
                                        <p:attrNameLst>
                                          <p:attrName>style.visibility</p:attrName>
                                        </p:attrNameLst>
                                      </p:cBhvr>
                                      <p:to>
                                        <p:strVal val="visible"/>
                                      </p:to>
                                    </p:set>
                                    <p:animEffect transition="in" filter="fade">
                                      <p:cBhvr>
                                        <p:cTn id="128" dur="1000"/>
                                        <p:tgtEl>
                                          <p:spTgt spid="137"/>
                                        </p:tgtEl>
                                      </p:cBhvr>
                                    </p:animEffect>
                                  </p:childTnLst>
                                </p:cTn>
                              </p:par>
                              <p:par>
                                <p:cTn id="129" presetID="10" presetClass="entr" presetSubtype="0" fill="hold" nodeType="withEffect">
                                  <p:stCondLst>
                                    <p:cond delay="0"/>
                                  </p:stCondLst>
                                  <p:childTnLst>
                                    <p:set>
                                      <p:cBhvr>
                                        <p:cTn id="130" dur="1" fill="hold">
                                          <p:stCondLst>
                                            <p:cond delay="0"/>
                                          </p:stCondLst>
                                        </p:cTn>
                                        <p:tgtEl>
                                          <p:spTgt spid="165"/>
                                        </p:tgtEl>
                                        <p:attrNameLst>
                                          <p:attrName>style.visibility</p:attrName>
                                        </p:attrNameLst>
                                      </p:cBhvr>
                                      <p:to>
                                        <p:strVal val="visible"/>
                                      </p:to>
                                    </p:set>
                                    <p:animEffect transition="in" filter="fade">
                                      <p:cBhvr>
                                        <p:cTn id="131" dur="1000"/>
                                        <p:tgtEl>
                                          <p:spTgt spid="165"/>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141"/>
                                        </p:tgtEl>
                                        <p:attrNameLst>
                                          <p:attrName>style.visibility</p:attrName>
                                        </p:attrNameLst>
                                      </p:cBhvr>
                                      <p:to>
                                        <p:strVal val="visible"/>
                                      </p:to>
                                    </p:set>
                                    <p:animEffect transition="in" filter="fade">
                                      <p:cBhvr>
                                        <p:cTn id="136" dur="1000"/>
                                        <p:tgtEl>
                                          <p:spTgt spid="141"/>
                                        </p:tgtEl>
                                      </p:cBhvr>
                                    </p:animEffect>
                                  </p:childTnLst>
                                </p:cTn>
                              </p:par>
                              <p:par>
                                <p:cTn id="137" presetID="10" presetClass="entr" presetSubtype="0" fill="hold" nodeType="withEffect">
                                  <p:stCondLst>
                                    <p:cond delay="0"/>
                                  </p:stCondLst>
                                  <p:childTnLst>
                                    <p:set>
                                      <p:cBhvr>
                                        <p:cTn id="138" dur="1" fill="hold">
                                          <p:stCondLst>
                                            <p:cond delay="0"/>
                                          </p:stCondLst>
                                        </p:cTn>
                                        <p:tgtEl>
                                          <p:spTgt spid="164"/>
                                        </p:tgtEl>
                                        <p:attrNameLst>
                                          <p:attrName>style.visibility</p:attrName>
                                        </p:attrNameLst>
                                      </p:cBhvr>
                                      <p:to>
                                        <p:strVal val="visible"/>
                                      </p:to>
                                    </p:set>
                                    <p:animEffect transition="in" filter="fade">
                                      <p:cBhvr>
                                        <p:cTn id="139" dur="1000"/>
                                        <p:tgtEl>
                                          <p:spTgt spid="164"/>
                                        </p:tgtEl>
                                      </p:cBhvr>
                                    </p:animEffect>
                                  </p:childTnLst>
                                </p:cTn>
                              </p:par>
                            </p:childTnLst>
                          </p:cTn>
                        </p:par>
                        <p:par>
                          <p:cTn id="140" fill="hold">
                            <p:stCondLst>
                              <p:cond delay="1000"/>
                            </p:stCondLst>
                            <p:childTnLst>
                              <p:par>
                                <p:cTn id="141" presetID="10" presetClass="entr" presetSubtype="0" fill="hold" nodeType="afterEffect">
                                  <p:stCondLst>
                                    <p:cond delay="0"/>
                                  </p:stCondLst>
                                  <p:childTnLst>
                                    <p:set>
                                      <p:cBhvr>
                                        <p:cTn id="142" dur="1" fill="hold">
                                          <p:stCondLst>
                                            <p:cond delay="0"/>
                                          </p:stCondLst>
                                        </p:cTn>
                                        <p:tgtEl>
                                          <p:spTgt spid="12"/>
                                        </p:tgtEl>
                                        <p:attrNameLst>
                                          <p:attrName>style.visibility</p:attrName>
                                        </p:attrNameLst>
                                      </p:cBhvr>
                                      <p:to>
                                        <p:strVal val="visible"/>
                                      </p:to>
                                    </p:set>
                                    <p:animEffect transition="in" filter="fade">
                                      <p:cBhvr>
                                        <p:cTn id="143" dur="1000"/>
                                        <p:tgtEl>
                                          <p:spTgt spid="12"/>
                                        </p:tgtEl>
                                      </p:cBhvr>
                                    </p:animEffect>
                                  </p:childTnLst>
                                </p:cTn>
                              </p:par>
                            </p:childTnLst>
                          </p:cTn>
                        </p:par>
                        <p:par>
                          <p:cTn id="144" fill="hold">
                            <p:stCondLst>
                              <p:cond delay="2000"/>
                            </p:stCondLst>
                            <p:childTnLst>
                              <p:par>
                                <p:cTn id="145" presetID="10" presetClass="entr" presetSubtype="0" fill="hold" nodeType="afterEffect">
                                  <p:stCondLst>
                                    <p:cond delay="0"/>
                                  </p:stCondLst>
                                  <p:childTnLst>
                                    <p:set>
                                      <p:cBhvr>
                                        <p:cTn id="146" dur="1" fill="hold">
                                          <p:stCondLst>
                                            <p:cond delay="0"/>
                                          </p:stCondLst>
                                        </p:cTn>
                                        <p:tgtEl>
                                          <p:spTgt spid="13"/>
                                        </p:tgtEl>
                                        <p:attrNameLst>
                                          <p:attrName>style.visibility</p:attrName>
                                        </p:attrNameLst>
                                      </p:cBhvr>
                                      <p:to>
                                        <p:strVal val="visible"/>
                                      </p:to>
                                    </p:set>
                                    <p:animEffect transition="in" filter="fade">
                                      <p:cBhvr>
                                        <p:cTn id="14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0"/>
          <p:cNvSpPr txBox="1">
            <a:spLocks noGrp="1"/>
          </p:cNvSpPr>
          <p:nvPr>
            <p:ph type="title"/>
          </p:nvPr>
        </p:nvSpPr>
        <p:spPr>
          <a:xfrm>
            <a:off x="265500" y="1816950"/>
            <a:ext cx="4045200" cy="1509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Career Highlights</a:t>
            </a:r>
            <a:endParaRPr/>
          </a:p>
        </p:txBody>
      </p:sp>
      <p:sp>
        <p:nvSpPr>
          <p:cNvPr id="179" name="Google Shape;179;p20"/>
          <p:cNvSpPr txBox="1">
            <a:spLocks noGrp="1"/>
          </p:cNvSpPr>
          <p:nvPr>
            <p:ph type="body" idx="2"/>
          </p:nvPr>
        </p:nvSpPr>
        <p:spPr>
          <a:xfrm>
            <a:off x="4622025" y="92375"/>
            <a:ext cx="4464300" cy="6747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0"/>
              </a:spcAft>
              <a:buNone/>
            </a:pPr>
            <a:r>
              <a:rPr lang="en" sz="1600" b="1"/>
              <a:t>Active Duty (Deployed) Desert Storm/Shield</a:t>
            </a:r>
            <a:endParaRPr sz="1600" b="1"/>
          </a:p>
          <a:p>
            <a:pPr marL="0" lvl="0" indent="0" algn="l" rtl="0">
              <a:spcBef>
                <a:spcPts val="0"/>
              </a:spcBef>
              <a:spcAft>
                <a:spcPts val="0"/>
              </a:spcAft>
              <a:buNone/>
            </a:pPr>
            <a:r>
              <a:rPr lang="en" sz="1300"/>
              <a:t>75th Ranger Regiment, Military Intelligence Battalion</a:t>
            </a:r>
            <a:endParaRPr sz="1300"/>
          </a:p>
        </p:txBody>
      </p:sp>
      <p:sp>
        <p:nvSpPr>
          <p:cNvPr id="180" name="Google Shape;180;p20"/>
          <p:cNvSpPr txBox="1">
            <a:spLocks noGrp="1"/>
          </p:cNvSpPr>
          <p:nvPr>
            <p:ph type="body" idx="2"/>
          </p:nvPr>
        </p:nvSpPr>
        <p:spPr>
          <a:xfrm>
            <a:off x="4622025" y="777058"/>
            <a:ext cx="4464300" cy="603000"/>
          </a:xfrm>
          <a:prstGeom prst="rect">
            <a:avLst/>
          </a:prstGeom>
        </p:spPr>
        <p:txBody>
          <a:bodyPr spcFirstLastPara="1" wrap="square" lIns="91425" tIns="91425" rIns="91425" bIns="91425" anchor="ctr" anchorCtr="0">
            <a:normAutofit fontScale="62500" lnSpcReduction="20000"/>
          </a:bodyPr>
          <a:lstStyle/>
          <a:p>
            <a:pPr marL="0" lvl="0" indent="0" algn="l" rtl="0">
              <a:spcBef>
                <a:spcPts val="0"/>
              </a:spcBef>
              <a:spcAft>
                <a:spcPts val="0"/>
              </a:spcAft>
              <a:buNone/>
            </a:pPr>
            <a:r>
              <a:rPr lang="en" sz="1600" b="1"/>
              <a:t>Theater Information Broadcast System</a:t>
            </a:r>
            <a:endParaRPr sz="1600" b="1"/>
          </a:p>
          <a:p>
            <a:pPr marL="0" lvl="0" indent="0" algn="l" rtl="0">
              <a:spcBef>
                <a:spcPts val="0"/>
              </a:spcBef>
              <a:spcAft>
                <a:spcPts val="1200"/>
              </a:spcAft>
              <a:buNone/>
            </a:pPr>
            <a:r>
              <a:rPr lang="en" sz="1300"/>
              <a:t>Designer and Author; Deployed on US Army’s RC-135</a:t>
            </a:r>
            <a:endParaRPr sz="1300"/>
          </a:p>
        </p:txBody>
      </p:sp>
      <p:sp>
        <p:nvSpPr>
          <p:cNvPr id="181" name="Google Shape;181;p20"/>
          <p:cNvSpPr txBox="1">
            <a:spLocks noGrp="1"/>
          </p:cNvSpPr>
          <p:nvPr>
            <p:ph type="body" idx="2"/>
          </p:nvPr>
        </p:nvSpPr>
        <p:spPr>
          <a:xfrm>
            <a:off x="4622025" y="1390042"/>
            <a:ext cx="4464300" cy="707400"/>
          </a:xfrm>
          <a:prstGeom prst="rect">
            <a:avLst/>
          </a:prstGeom>
        </p:spPr>
        <p:txBody>
          <a:bodyPr spcFirstLastPara="1" wrap="square" lIns="91425" tIns="91425" rIns="91425" bIns="91425" anchor="ctr" anchorCtr="0">
            <a:normAutofit fontScale="85000" lnSpcReduction="20000"/>
          </a:bodyPr>
          <a:lstStyle/>
          <a:p>
            <a:pPr marL="0" lvl="0" indent="0" algn="l" rtl="0">
              <a:spcBef>
                <a:spcPts val="0"/>
              </a:spcBef>
              <a:spcAft>
                <a:spcPts val="0"/>
              </a:spcAft>
              <a:buNone/>
            </a:pPr>
            <a:r>
              <a:rPr lang="en" sz="1600" b="1"/>
              <a:t>ISS Caution and Warning Subsystem</a:t>
            </a:r>
            <a:endParaRPr sz="1300"/>
          </a:p>
          <a:p>
            <a:pPr marL="0" lvl="0" indent="0" algn="l" rtl="0">
              <a:spcBef>
                <a:spcPts val="0"/>
              </a:spcBef>
              <a:spcAft>
                <a:spcPts val="1200"/>
              </a:spcAft>
              <a:buNone/>
            </a:pPr>
            <a:r>
              <a:rPr lang="en" sz="1300"/>
              <a:t>Designer and Author; Runs on large Right Monitor at NASA</a:t>
            </a:r>
            <a:endParaRPr sz="1300"/>
          </a:p>
        </p:txBody>
      </p:sp>
      <p:sp>
        <p:nvSpPr>
          <p:cNvPr id="182" name="Google Shape;182;p20"/>
          <p:cNvSpPr txBox="1">
            <a:spLocks noGrp="1"/>
          </p:cNvSpPr>
          <p:nvPr>
            <p:ph type="body" idx="2"/>
          </p:nvPr>
        </p:nvSpPr>
        <p:spPr>
          <a:xfrm>
            <a:off x="4622025" y="2107425"/>
            <a:ext cx="4464300" cy="674700"/>
          </a:xfrm>
          <a:prstGeom prst="rect">
            <a:avLst/>
          </a:prstGeom>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n" sz="1600" b="1"/>
              <a:t>Co-founded and Sold a Startup</a:t>
            </a:r>
            <a:endParaRPr sz="1600" b="1"/>
          </a:p>
          <a:p>
            <a:pPr marL="0" lvl="0" indent="0" algn="l" rtl="0">
              <a:spcBef>
                <a:spcPts val="0"/>
              </a:spcBef>
              <a:spcAft>
                <a:spcPts val="1200"/>
              </a:spcAft>
              <a:buNone/>
            </a:pPr>
            <a:r>
              <a:rPr lang="en" sz="1300"/>
              <a:t>From Living Room to Office to Exit; Elsinore Technologies</a:t>
            </a:r>
            <a:endParaRPr sz="1300"/>
          </a:p>
        </p:txBody>
      </p:sp>
      <p:sp>
        <p:nvSpPr>
          <p:cNvPr id="183" name="Google Shape;183;p20"/>
          <p:cNvSpPr txBox="1">
            <a:spLocks noGrp="1"/>
          </p:cNvSpPr>
          <p:nvPr>
            <p:ph type="body" idx="2"/>
          </p:nvPr>
        </p:nvSpPr>
        <p:spPr>
          <a:xfrm>
            <a:off x="4622025" y="2792108"/>
            <a:ext cx="4464300" cy="674700"/>
          </a:xfrm>
          <a:prstGeom prst="rect">
            <a:avLst/>
          </a:prstGeom>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n" sz="1600" b="1"/>
              <a:t>Authored Enterprise Software</a:t>
            </a:r>
            <a:endParaRPr sz="1300"/>
          </a:p>
          <a:p>
            <a:pPr marL="0" lvl="0" indent="0" algn="l" rtl="0">
              <a:spcBef>
                <a:spcPts val="0"/>
              </a:spcBef>
              <a:spcAft>
                <a:spcPts val="1200"/>
              </a:spcAft>
              <a:buNone/>
            </a:pPr>
            <a:r>
              <a:rPr lang="en" sz="1300"/>
              <a:t>Firmware, SCSI Drivers, User Interfaces, Extensions</a:t>
            </a:r>
            <a:endParaRPr sz="1300"/>
          </a:p>
        </p:txBody>
      </p:sp>
      <p:sp>
        <p:nvSpPr>
          <p:cNvPr id="184" name="Google Shape;184;p20"/>
          <p:cNvSpPr txBox="1">
            <a:spLocks noGrp="1"/>
          </p:cNvSpPr>
          <p:nvPr>
            <p:ph type="body" idx="2"/>
          </p:nvPr>
        </p:nvSpPr>
        <p:spPr>
          <a:xfrm>
            <a:off x="4622025" y="3476792"/>
            <a:ext cx="4464300" cy="854400"/>
          </a:xfrm>
          <a:prstGeom prst="rect">
            <a:avLst/>
          </a:prstGeom>
        </p:spPr>
        <p:txBody>
          <a:bodyPr spcFirstLastPara="1" wrap="square" lIns="91425" tIns="91425" rIns="91425" bIns="91425" anchor="ctr" anchorCtr="0">
            <a:normAutofit fontScale="77500" lnSpcReduction="20000"/>
          </a:bodyPr>
          <a:lstStyle/>
          <a:p>
            <a:pPr marL="0" lvl="0" indent="0" algn="l" rtl="0">
              <a:spcBef>
                <a:spcPts val="0"/>
              </a:spcBef>
              <a:spcAft>
                <a:spcPts val="0"/>
              </a:spcAft>
              <a:buNone/>
            </a:pPr>
            <a:r>
              <a:rPr lang="en" sz="1600" b="1"/>
              <a:t>Published Author</a:t>
            </a:r>
            <a:endParaRPr sz="1300"/>
          </a:p>
          <a:p>
            <a:pPr marL="0" lvl="0" indent="0" algn="l" rtl="0">
              <a:spcBef>
                <a:spcPts val="0"/>
              </a:spcBef>
              <a:spcAft>
                <a:spcPts val="1200"/>
              </a:spcAft>
              <a:buNone/>
            </a:pPr>
            <a:r>
              <a:rPr lang="en" sz="1300"/>
              <a:t>Virtualization Changes Everything (coauthor); Data Governance for Dummies (author); Various articles</a:t>
            </a:r>
            <a:endParaRPr sz="1300"/>
          </a:p>
        </p:txBody>
      </p:sp>
      <p:sp>
        <p:nvSpPr>
          <p:cNvPr id="185" name="Google Shape;185;p20"/>
          <p:cNvSpPr txBox="1">
            <a:spLocks noGrp="1"/>
          </p:cNvSpPr>
          <p:nvPr>
            <p:ph type="body" idx="2"/>
          </p:nvPr>
        </p:nvSpPr>
        <p:spPr>
          <a:xfrm>
            <a:off x="4622025" y="4341175"/>
            <a:ext cx="4464300" cy="752100"/>
          </a:xfrm>
          <a:prstGeom prst="rect">
            <a:avLst/>
          </a:prstGeom>
        </p:spPr>
        <p:txBody>
          <a:bodyPr spcFirstLastPara="1" wrap="square" lIns="91425" tIns="91425" rIns="91425" bIns="91425" anchor="ctr" anchorCtr="0">
            <a:normAutofit fontScale="92500" lnSpcReduction="20000"/>
          </a:bodyPr>
          <a:lstStyle/>
          <a:p>
            <a:pPr marL="0" lvl="0" indent="0" algn="l" rtl="0">
              <a:spcBef>
                <a:spcPts val="0"/>
              </a:spcBef>
              <a:spcAft>
                <a:spcPts val="0"/>
              </a:spcAft>
              <a:buNone/>
            </a:pPr>
            <a:r>
              <a:rPr lang="en" sz="1600" b="1"/>
              <a:t>Coached and Mentored Awesome Leaders</a:t>
            </a:r>
            <a:endParaRPr sz="1300"/>
          </a:p>
          <a:p>
            <a:pPr marL="0" lvl="0" indent="0" algn="l" rtl="0">
              <a:spcBef>
                <a:spcPts val="0"/>
              </a:spcBef>
              <a:spcAft>
                <a:spcPts val="1200"/>
              </a:spcAft>
              <a:buNone/>
            </a:pPr>
            <a:r>
              <a:rPr lang="en" sz="1300"/>
              <a:t>Transformed teams, developed rockstars, retained talent</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1000"/>
                                        <p:tgtEl>
                                          <p:spTgt spid="1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1"/>
                                        </p:tgtEl>
                                        <p:attrNameLst>
                                          <p:attrName>style.visibility</p:attrName>
                                        </p:attrNameLst>
                                      </p:cBhvr>
                                      <p:to>
                                        <p:strVal val="visible"/>
                                      </p:to>
                                    </p:set>
                                    <p:animEffect transition="in" filter="fade">
                                      <p:cBhvr>
                                        <p:cTn id="12" dur="1000"/>
                                        <p:tgtEl>
                                          <p:spTgt spid="1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2"/>
                                        </p:tgtEl>
                                        <p:attrNameLst>
                                          <p:attrName>style.visibility</p:attrName>
                                        </p:attrNameLst>
                                      </p:cBhvr>
                                      <p:to>
                                        <p:strVal val="visible"/>
                                      </p:to>
                                    </p:set>
                                    <p:animEffect transition="in" filter="fade">
                                      <p:cBhvr>
                                        <p:cTn id="17" dur="1000"/>
                                        <p:tgtEl>
                                          <p:spTgt spid="18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3"/>
                                        </p:tgtEl>
                                        <p:attrNameLst>
                                          <p:attrName>style.visibility</p:attrName>
                                        </p:attrNameLst>
                                      </p:cBhvr>
                                      <p:to>
                                        <p:strVal val="visible"/>
                                      </p:to>
                                    </p:set>
                                    <p:animEffect transition="in" filter="fade">
                                      <p:cBhvr>
                                        <p:cTn id="22" dur="1000"/>
                                        <p:tgtEl>
                                          <p:spTgt spid="18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4"/>
                                        </p:tgtEl>
                                        <p:attrNameLst>
                                          <p:attrName>style.visibility</p:attrName>
                                        </p:attrNameLst>
                                      </p:cBhvr>
                                      <p:to>
                                        <p:strVal val="visible"/>
                                      </p:to>
                                    </p:set>
                                    <p:animEffect transition="in" filter="fade">
                                      <p:cBhvr>
                                        <p:cTn id="27" dur="1000"/>
                                        <p:tgtEl>
                                          <p:spTgt spid="1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5"/>
                                        </p:tgtEl>
                                        <p:attrNameLst>
                                          <p:attrName>style.visibility</p:attrName>
                                        </p:attrNameLst>
                                      </p:cBhvr>
                                      <p:to>
                                        <p:strVal val="visible"/>
                                      </p:to>
                                    </p:set>
                                    <p:animEffect transition="in" filter="fade">
                                      <p:cBhvr>
                                        <p:cTn id="32" dur="10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About me - personally speaking</a:t>
            </a:r>
            <a:endParaRPr/>
          </a:p>
        </p:txBody>
      </p:sp>
      <p:cxnSp>
        <p:nvCxnSpPr>
          <p:cNvPr id="191" name="Google Shape;191;p21"/>
          <p:cNvCxnSpPr/>
          <p:nvPr/>
        </p:nvCxnSpPr>
        <p:spPr>
          <a:xfrm>
            <a:off x="433425" y="3724283"/>
            <a:ext cx="3611400" cy="0"/>
          </a:xfrm>
          <a:prstGeom prst="straightConnector1">
            <a:avLst/>
          </a:prstGeom>
          <a:noFill/>
          <a:ln w="19050" cap="flat" cmpd="sng">
            <a:solidFill>
              <a:schemeClr val="lt2"/>
            </a:solidFill>
            <a:prstDash val="solid"/>
            <a:round/>
            <a:headEnd type="none" w="sm" len="sm"/>
            <a:tailEnd type="none" w="sm" len="sm"/>
          </a:ln>
        </p:spPr>
      </p:cxnSp>
      <p:cxnSp>
        <p:nvCxnSpPr>
          <p:cNvPr id="192" name="Google Shape;192;p21"/>
          <p:cNvCxnSpPr/>
          <p:nvPr/>
        </p:nvCxnSpPr>
        <p:spPr>
          <a:xfrm>
            <a:off x="4941300" y="3724283"/>
            <a:ext cx="3891000" cy="0"/>
          </a:xfrm>
          <a:prstGeom prst="straightConnector1">
            <a:avLst/>
          </a:prstGeom>
          <a:noFill/>
          <a:ln w="19050" cap="flat" cmpd="sng">
            <a:solidFill>
              <a:schemeClr val="lt2"/>
            </a:solidFill>
            <a:prstDash val="solid"/>
            <a:round/>
            <a:headEnd type="none" w="sm" len="sm"/>
            <a:tailEnd type="none" w="sm" len="sm"/>
          </a:ln>
        </p:spPr>
      </p:cxnSp>
      <p:sp>
        <p:nvSpPr>
          <p:cNvPr id="193" name="Google Shape;193;p21"/>
          <p:cNvSpPr txBox="1">
            <a:spLocks noGrp="1"/>
          </p:cNvSpPr>
          <p:nvPr>
            <p:ph type="body" idx="1"/>
          </p:nvPr>
        </p:nvSpPr>
        <p:spPr>
          <a:xfrm>
            <a:off x="318850" y="3771900"/>
            <a:ext cx="3726000" cy="530400"/>
          </a:xfrm>
          <a:prstGeom prst="rect">
            <a:avLst/>
          </a:prstGeom>
        </p:spPr>
        <p:txBody>
          <a:bodyPr spcFirstLastPara="1" wrap="square" lIns="91425" tIns="91425" rIns="91425" bIns="91425" anchor="b" anchorCtr="0">
            <a:normAutofit/>
          </a:bodyPr>
          <a:lstStyle/>
          <a:p>
            <a:pPr marL="0" lvl="0" indent="0" algn="l" rtl="0">
              <a:lnSpc>
                <a:spcPct val="100000"/>
              </a:lnSpc>
              <a:spcBef>
                <a:spcPts val="0"/>
              </a:spcBef>
              <a:spcAft>
                <a:spcPts val="0"/>
              </a:spcAft>
              <a:buNone/>
            </a:pPr>
            <a:r>
              <a:rPr lang="en" sz="2100" b="1">
                <a:solidFill>
                  <a:schemeClr val="accent3"/>
                </a:solidFill>
              </a:rPr>
              <a:t>My Family</a:t>
            </a:r>
            <a:endParaRPr sz="2100" b="1">
              <a:solidFill>
                <a:schemeClr val="accent3"/>
              </a:solidFill>
            </a:endParaRPr>
          </a:p>
        </p:txBody>
      </p:sp>
      <p:sp>
        <p:nvSpPr>
          <p:cNvPr id="194" name="Google Shape;194;p21"/>
          <p:cNvSpPr txBox="1">
            <a:spLocks noGrp="1"/>
          </p:cNvSpPr>
          <p:nvPr>
            <p:ph type="body" idx="1"/>
          </p:nvPr>
        </p:nvSpPr>
        <p:spPr>
          <a:xfrm>
            <a:off x="318850" y="4228050"/>
            <a:ext cx="3745200" cy="6393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SzPts val="935"/>
              <a:buNone/>
            </a:pPr>
            <a:r>
              <a:rPr lang="en" sz="1220"/>
              <a:t>My Wife, (2) Sons, and (2) Pups</a:t>
            </a:r>
            <a:endParaRPr sz="1220"/>
          </a:p>
          <a:p>
            <a:pPr marL="0" lvl="0" indent="0" algn="l" rtl="0">
              <a:lnSpc>
                <a:spcPct val="105000"/>
              </a:lnSpc>
              <a:spcBef>
                <a:spcPts val="1200"/>
              </a:spcBef>
              <a:spcAft>
                <a:spcPts val="1200"/>
              </a:spcAft>
              <a:buSzPts val="935"/>
              <a:buNone/>
            </a:pPr>
            <a:r>
              <a:rPr lang="en" sz="1220"/>
              <a:t>San Jose, CA  →  Moving to Austin, TX</a:t>
            </a:r>
            <a:endParaRPr sz="1220"/>
          </a:p>
        </p:txBody>
      </p:sp>
      <p:sp>
        <p:nvSpPr>
          <p:cNvPr id="195" name="Google Shape;195;p21"/>
          <p:cNvSpPr txBox="1">
            <a:spLocks noGrp="1"/>
          </p:cNvSpPr>
          <p:nvPr>
            <p:ph type="body" idx="1"/>
          </p:nvPr>
        </p:nvSpPr>
        <p:spPr>
          <a:xfrm>
            <a:off x="4825250" y="3771900"/>
            <a:ext cx="3999900" cy="530400"/>
          </a:xfrm>
          <a:prstGeom prst="rect">
            <a:avLst/>
          </a:prstGeom>
        </p:spPr>
        <p:txBody>
          <a:bodyPr spcFirstLastPara="1" wrap="square" lIns="91425" tIns="91425" rIns="91425" bIns="91425" anchor="b" anchorCtr="0">
            <a:normAutofit/>
          </a:bodyPr>
          <a:lstStyle/>
          <a:p>
            <a:pPr marL="0" lvl="0" indent="0" algn="l" rtl="0">
              <a:lnSpc>
                <a:spcPct val="100000"/>
              </a:lnSpc>
              <a:spcBef>
                <a:spcPts val="0"/>
              </a:spcBef>
              <a:spcAft>
                <a:spcPts val="0"/>
              </a:spcAft>
              <a:buNone/>
            </a:pPr>
            <a:r>
              <a:rPr lang="en" sz="2100" b="1">
                <a:solidFill>
                  <a:schemeClr val="accent3"/>
                </a:solidFill>
              </a:rPr>
              <a:t>My Hobbies</a:t>
            </a:r>
            <a:endParaRPr sz="2100" b="1">
              <a:solidFill>
                <a:schemeClr val="accent3"/>
              </a:solidFill>
            </a:endParaRPr>
          </a:p>
        </p:txBody>
      </p:sp>
      <p:sp>
        <p:nvSpPr>
          <p:cNvPr id="196" name="Google Shape;196;p21"/>
          <p:cNvSpPr txBox="1">
            <a:spLocks noGrp="1"/>
          </p:cNvSpPr>
          <p:nvPr>
            <p:ph type="body" idx="1"/>
          </p:nvPr>
        </p:nvSpPr>
        <p:spPr>
          <a:xfrm>
            <a:off x="4825250" y="4228050"/>
            <a:ext cx="3999900" cy="887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200"/>
              <a:t>I’m a PADI Master Scuba Diver Trainer</a:t>
            </a:r>
            <a:endParaRPr sz="1200"/>
          </a:p>
          <a:p>
            <a:pPr marL="0" lvl="0" indent="0" algn="l" rtl="0">
              <a:spcBef>
                <a:spcPts val="1200"/>
              </a:spcBef>
              <a:spcAft>
                <a:spcPts val="1200"/>
              </a:spcAft>
              <a:buNone/>
            </a:pPr>
            <a:r>
              <a:rPr lang="en" sz="1200"/>
              <a:t>Creative Design - Digital Art, Photography, Logos, Etc.</a:t>
            </a:r>
            <a:endParaRPr sz="1200"/>
          </a:p>
        </p:txBody>
      </p:sp>
      <p:pic>
        <p:nvPicPr>
          <p:cNvPr id="197" name="Google Shape;197;p21"/>
          <p:cNvPicPr preferRelativeResize="0"/>
          <p:nvPr/>
        </p:nvPicPr>
        <p:blipFill>
          <a:blip r:embed="rId3">
            <a:alphaModFix/>
          </a:blip>
          <a:stretch>
            <a:fillRect/>
          </a:stretch>
        </p:blipFill>
        <p:spPr>
          <a:xfrm>
            <a:off x="4941300" y="2059200"/>
            <a:ext cx="1775514" cy="1323364"/>
          </a:xfrm>
          <a:prstGeom prst="rect">
            <a:avLst/>
          </a:prstGeom>
          <a:noFill/>
          <a:ln w="9525" cap="flat" cmpd="sng">
            <a:solidFill>
              <a:schemeClr val="lt2"/>
            </a:solidFill>
            <a:prstDash val="solid"/>
            <a:round/>
            <a:headEnd type="none" w="sm" len="sm"/>
            <a:tailEnd type="none" w="sm" len="sm"/>
          </a:ln>
        </p:spPr>
      </p:pic>
      <p:pic>
        <p:nvPicPr>
          <p:cNvPr id="198" name="Google Shape;198;p21"/>
          <p:cNvPicPr preferRelativeResize="0"/>
          <p:nvPr/>
        </p:nvPicPr>
        <p:blipFill>
          <a:blip r:embed="rId4">
            <a:alphaModFix/>
          </a:blip>
          <a:stretch>
            <a:fillRect/>
          </a:stretch>
        </p:blipFill>
        <p:spPr>
          <a:xfrm>
            <a:off x="7067856" y="2059200"/>
            <a:ext cx="1764444" cy="1323375"/>
          </a:xfrm>
          <a:prstGeom prst="rect">
            <a:avLst/>
          </a:prstGeom>
          <a:noFill/>
          <a:ln w="9525" cap="flat" cmpd="sng">
            <a:solidFill>
              <a:schemeClr val="lt2"/>
            </a:solidFill>
            <a:prstDash val="solid"/>
            <a:round/>
            <a:headEnd type="none" w="sm" len="sm"/>
            <a:tailEnd type="none" w="sm" len="sm"/>
          </a:ln>
        </p:spPr>
      </p:pic>
      <p:pic>
        <p:nvPicPr>
          <p:cNvPr id="199" name="Google Shape;199;p21"/>
          <p:cNvPicPr preferRelativeResize="0"/>
          <p:nvPr/>
        </p:nvPicPr>
        <p:blipFill>
          <a:blip r:embed="rId5">
            <a:alphaModFix/>
          </a:blip>
          <a:stretch>
            <a:fillRect/>
          </a:stretch>
        </p:blipFill>
        <p:spPr>
          <a:xfrm>
            <a:off x="433425" y="2057950"/>
            <a:ext cx="1496351" cy="1325878"/>
          </a:xfrm>
          <a:prstGeom prst="rect">
            <a:avLst/>
          </a:prstGeom>
          <a:noFill/>
          <a:ln w="9525" cap="flat" cmpd="sng">
            <a:solidFill>
              <a:schemeClr val="lt2"/>
            </a:solidFill>
            <a:prstDash val="solid"/>
            <a:round/>
            <a:headEnd type="none" w="sm" len="sm"/>
            <a:tailEnd type="none" w="sm" len="sm"/>
          </a:ln>
        </p:spPr>
      </p:pic>
      <p:pic>
        <p:nvPicPr>
          <p:cNvPr id="200" name="Google Shape;200;p21"/>
          <p:cNvPicPr preferRelativeResize="0"/>
          <p:nvPr/>
        </p:nvPicPr>
        <p:blipFill>
          <a:blip r:embed="rId6">
            <a:alphaModFix/>
          </a:blip>
          <a:stretch>
            <a:fillRect/>
          </a:stretch>
        </p:blipFill>
        <p:spPr>
          <a:xfrm>
            <a:off x="2239976" y="2057950"/>
            <a:ext cx="1780467" cy="1325881"/>
          </a:xfrm>
          <a:prstGeom prst="rect">
            <a:avLst/>
          </a:prstGeom>
          <a:noFill/>
          <a:ln w="9525" cap="flat" cmpd="sng">
            <a:solidFill>
              <a:schemeClr val="lt2"/>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22"/>
          <p:cNvPicPr preferRelativeResize="0"/>
          <p:nvPr/>
        </p:nvPicPr>
        <p:blipFill>
          <a:blip r:embed="rId3">
            <a:alphaModFix/>
          </a:blip>
          <a:stretch>
            <a:fillRect/>
          </a:stretch>
        </p:blipFill>
        <p:spPr>
          <a:xfrm>
            <a:off x="280859" y="709750"/>
            <a:ext cx="2866089" cy="4281349"/>
          </a:xfrm>
          <a:prstGeom prst="rect">
            <a:avLst/>
          </a:prstGeom>
          <a:noFill/>
          <a:ln w="9525" cap="flat" cmpd="sng">
            <a:solidFill>
              <a:schemeClr val="lt2"/>
            </a:solidFill>
            <a:prstDash val="solid"/>
            <a:round/>
            <a:headEnd type="none" w="sm" len="sm"/>
            <a:tailEnd type="none" w="sm" len="sm"/>
          </a:ln>
        </p:spPr>
      </p:pic>
      <p:pic>
        <p:nvPicPr>
          <p:cNvPr id="206" name="Google Shape;206;p22"/>
          <p:cNvPicPr preferRelativeResize="0"/>
          <p:nvPr/>
        </p:nvPicPr>
        <p:blipFill>
          <a:blip r:embed="rId4"/>
          <a:srcRect/>
          <a:stretch/>
        </p:blipFill>
        <p:spPr>
          <a:xfrm>
            <a:off x="7056118" y="709750"/>
            <a:ext cx="2039113" cy="2039113"/>
          </a:xfrm>
          <a:prstGeom prst="rect">
            <a:avLst/>
          </a:prstGeom>
          <a:noFill/>
          <a:ln w="9525" cap="flat" cmpd="sng">
            <a:solidFill>
              <a:schemeClr val="lt2"/>
            </a:solidFill>
            <a:prstDash val="solid"/>
            <a:round/>
            <a:headEnd type="none" w="sm" len="sm"/>
            <a:tailEnd type="none" w="sm" len="sm"/>
          </a:ln>
        </p:spPr>
      </p:pic>
      <p:pic>
        <p:nvPicPr>
          <p:cNvPr id="207" name="Google Shape;207;p22"/>
          <p:cNvPicPr preferRelativeResize="0"/>
          <p:nvPr/>
        </p:nvPicPr>
        <p:blipFill>
          <a:blip r:embed="rId5">
            <a:alphaModFix/>
          </a:blip>
          <a:stretch>
            <a:fillRect/>
          </a:stretch>
        </p:blipFill>
        <p:spPr>
          <a:xfrm>
            <a:off x="3523453" y="709750"/>
            <a:ext cx="1334691" cy="2039113"/>
          </a:xfrm>
          <a:prstGeom prst="rect">
            <a:avLst/>
          </a:prstGeom>
          <a:noFill/>
          <a:ln w="9525" cap="flat" cmpd="sng">
            <a:solidFill>
              <a:schemeClr val="lt2"/>
            </a:solidFill>
            <a:prstDash val="solid"/>
            <a:round/>
            <a:headEnd type="none" w="sm" len="sm"/>
            <a:tailEnd type="none" w="sm" len="sm"/>
          </a:ln>
        </p:spPr>
      </p:pic>
      <p:pic>
        <p:nvPicPr>
          <p:cNvPr id="208" name="Google Shape;208;p22"/>
          <p:cNvPicPr preferRelativeResize="0"/>
          <p:nvPr/>
        </p:nvPicPr>
        <p:blipFill>
          <a:blip r:embed="rId6">
            <a:alphaModFix/>
          </a:blip>
          <a:stretch>
            <a:fillRect/>
          </a:stretch>
        </p:blipFill>
        <p:spPr>
          <a:xfrm>
            <a:off x="5275882" y="709750"/>
            <a:ext cx="1362498" cy="2039113"/>
          </a:xfrm>
          <a:prstGeom prst="rect">
            <a:avLst/>
          </a:prstGeom>
          <a:noFill/>
          <a:ln w="9525" cap="flat" cmpd="sng">
            <a:solidFill>
              <a:schemeClr val="lt2"/>
            </a:solidFill>
            <a:prstDash val="solid"/>
            <a:round/>
            <a:headEnd type="none" w="sm" len="sm"/>
            <a:tailEnd type="none" w="sm" len="sm"/>
          </a:ln>
        </p:spPr>
      </p:pic>
      <p:pic>
        <p:nvPicPr>
          <p:cNvPr id="209" name="Google Shape;209;p22"/>
          <p:cNvPicPr preferRelativeResize="0"/>
          <p:nvPr/>
        </p:nvPicPr>
        <p:blipFill>
          <a:blip r:embed="rId7">
            <a:alphaModFix/>
          </a:blip>
          <a:stretch>
            <a:fillRect/>
          </a:stretch>
        </p:blipFill>
        <p:spPr>
          <a:xfrm>
            <a:off x="5275882" y="2952000"/>
            <a:ext cx="1353230" cy="2039111"/>
          </a:xfrm>
          <a:prstGeom prst="rect">
            <a:avLst/>
          </a:prstGeom>
          <a:noFill/>
          <a:ln w="9525" cap="flat" cmpd="sng">
            <a:solidFill>
              <a:schemeClr val="lt2"/>
            </a:solidFill>
            <a:prstDash val="solid"/>
            <a:round/>
            <a:headEnd type="none" w="sm" len="sm"/>
            <a:tailEnd type="none" w="sm" len="sm"/>
          </a:ln>
        </p:spPr>
      </p:pic>
      <p:pic>
        <p:nvPicPr>
          <p:cNvPr id="210" name="Google Shape;210;p22"/>
          <p:cNvPicPr preferRelativeResize="0"/>
          <p:nvPr/>
        </p:nvPicPr>
        <p:blipFill>
          <a:blip r:embed="rId8">
            <a:alphaModFix/>
          </a:blip>
          <a:stretch>
            <a:fillRect/>
          </a:stretch>
        </p:blipFill>
        <p:spPr>
          <a:xfrm>
            <a:off x="7375889" y="2952000"/>
            <a:ext cx="1399571" cy="2039112"/>
          </a:xfrm>
          <a:prstGeom prst="rect">
            <a:avLst/>
          </a:prstGeom>
          <a:noFill/>
          <a:ln w="9525" cap="flat" cmpd="sng">
            <a:solidFill>
              <a:schemeClr val="lt2"/>
            </a:solidFill>
            <a:prstDash val="solid"/>
            <a:round/>
            <a:headEnd type="none" w="sm" len="sm"/>
            <a:tailEnd type="none" w="sm" len="sm"/>
          </a:ln>
        </p:spPr>
      </p:pic>
      <p:pic>
        <p:nvPicPr>
          <p:cNvPr id="211" name="Google Shape;211;p22"/>
          <p:cNvPicPr preferRelativeResize="0"/>
          <p:nvPr/>
        </p:nvPicPr>
        <p:blipFill>
          <a:blip r:embed="rId9">
            <a:alphaModFix/>
          </a:blip>
          <a:stretch>
            <a:fillRect/>
          </a:stretch>
        </p:blipFill>
        <p:spPr>
          <a:xfrm>
            <a:off x="3523451" y="2950812"/>
            <a:ext cx="1354876" cy="2040300"/>
          </a:xfrm>
          <a:prstGeom prst="rect">
            <a:avLst/>
          </a:prstGeom>
          <a:noFill/>
          <a:ln w="9525" cap="flat" cmpd="sng">
            <a:solidFill>
              <a:schemeClr val="lt2"/>
            </a:solidFill>
            <a:prstDash val="solid"/>
            <a:round/>
            <a:headEnd type="none" w="sm" len="sm"/>
            <a:tailEnd type="none" w="sm" len="sm"/>
          </a:ln>
        </p:spPr>
      </p:pic>
      <p:sp>
        <p:nvSpPr>
          <p:cNvPr id="212" name="Google Shape;212;p22"/>
          <p:cNvSpPr txBox="1">
            <a:spLocks noGrp="1"/>
          </p:cNvSpPr>
          <p:nvPr>
            <p:ph type="title" idx="4294967295"/>
          </p:nvPr>
        </p:nvSpPr>
        <p:spPr>
          <a:xfrm>
            <a:off x="132050" y="0"/>
            <a:ext cx="8769900" cy="6450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solidFill>
                  <a:schemeClr val="accent5"/>
                </a:solidFill>
              </a:rPr>
              <a:t>My Go-To Reference Material</a:t>
            </a:r>
            <a:endParaRPr dirty="0">
              <a:solidFill>
                <a:schemeClr val="accent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3"/>
          <p:cNvSpPr txBox="1">
            <a:spLocks noGrp="1"/>
          </p:cNvSpPr>
          <p:nvPr>
            <p:ph type="title"/>
          </p:nvPr>
        </p:nvSpPr>
        <p:spPr>
          <a:xfrm>
            <a:off x="226075" y="357800"/>
            <a:ext cx="2808000" cy="1369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My Personal “WHY” Statement</a:t>
            </a:r>
            <a:endParaRPr/>
          </a:p>
        </p:txBody>
      </p:sp>
      <p:sp>
        <p:nvSpPr>
          <p:cNvPr id="218" name="Google Shape;218;p23"/>
          <p:cNvSpPr txBox="1">
            <a:spLocks noGrp="1"/>
          </p:cNvSpPr>
          <p:nvPr>
            <p:ph type="body" idx="1"/>
          </p:nvPr>
        </p:nvSpPr>
        <p:spPr>
          <a:xfrm>
            <a:off x="226075" y="1865650"/>
            <a:ext cx="2808000" cy="2763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How I summarize and answer why I am on this planet and in your life right now with what motivates me, inspires me to push through the hard times, and double-down the value of surrounding myself with great people like you.</a:t>
            </a:r>
            <a:endParaRPr/>
          </a:p>
        </p:txBody>
      </p:sp>
      <p:sp>
        <p:nvSpPr>
          <p:cNvPr id="219" name="Google Shape;219;p23"/>
          <p:cNvSpPr txBox="1">
            <a:spLocks noGrp="1"/>
          </p:cNvSpPr>
          <p:nvPr>
            <p:ph type="title"/>
          </p:nvPr>
        </p:nvSpPr>
        <p:spPr>
          <a:xfrm>
            <a:off x="4398175" y="951600"/>
            <a:ext cx="4045200" cy="3240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solidFill>
                  <a:schemeClr val="dk2"/>
                </a:solidFill>
              </a:rPr>
              <a:t>It is my responsibility to help </a:t>
            </a:r>
            <a:r>
              <a:rPr lang="en" b="1">
                <a:solidFill>
                  <a:schemeClr val="dk2"/>
                </a:solidFill>
              </a:rPr>
              <a:t>EVERYONE </a:t>
            </a:r>
            <a:r>
              <a:rPr lang="en">
                <a:solidFill>
                  <a:schemeClr val="dk2"/>
                </a:solidFill>
              </a:rPr>
              <a:t>find </a:t>
            </a:r>
            <a:r>
              <a:rPr lang="en" b="1">
                <a:solidFill>
                  <a:schemeClr val="dk2"/>
                </a:solidFill>
              </a:rPr>
              <a:t>THEIR VOICE</a:t>
            </a:r>
            <a:r>
              <a:rPr lang="en">
                <a:solidFill>
                  <a:schemeClr val="dk2"/>
                </a:solidFill>
              </a:rPr>
              <a:t> and deliver </a:t>
            </a:r>
            <a:r>
              <a:rPr lang="en" b="1">
                <a:solidFill>
                  <a:schemeClr val="dk2"/>
                </a:solidFill>
              </a:rPr>
              <a:t>THEIR MESSAGE</a:t>
            </a:r>
            <a:r>
              <a:rPr lang="en">
                <a:solidFill>
                  <a:schemeClr val="dk2"/>
                </a:solidFill>
              </a:rPr>
              <a:t> with </a:t>
            </a:r>
            <a:r>
              <a:rPr lang="en" b="1">
                <a:solidFill>
                  <a:schemeClr val="dk2"/>
                </a:solidFill>
              </a:rPr>
              <a:t>CONVICTION </a:t>
            </a:r>
            <a:r>
              <a:rPr lang="en">
                <a:solidFill>
                  <a:schemeClr val="dk2"/>
                </a:solidFill>
              </a:rPr>
              <a:t>and </a:t>
            </a:r>
            <a:r>
              <a:rPr lang="en" b="1">
                <a:solidFill>
                  <a:schemeClr val="dk2"/>
                </a:solidFill>
              </a:rPr>
              <a:t>PURPOSE </a:t>
            </a:r>
            <a:r>
              <a:rPr lang="en">
                <a:solidFill>
                  <a:schemeClr val="dk2"/>
                </a:solidFill>
              </a:rPr>
              <a:t>in order to drive others to </a:t>
            </a:r>
            <a:r>
              <a:rPr lang="en" b="1">
                <a:solidFill>
                  <a:schemeClr val="dk2"/>
                </a:solidFill>
              </a:rPr>
              <a:t>ACT</a:t>
            </a:r>
            <a:r>
              <a:rPr lang="en">
                <a:solidFill>
                  <a:schemeClr val="dk2"/>
                </a:solidFill>
              </a:rPr>
              <a:t>.</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ctrTitle"/>
          </p:nvPr>
        </p:nvSpPr>
        <p:spPr>
          <a:xfrm>
            <a:off x="390525" y="1042775"/>
            <a:ext cx="8222100" cy="17100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dirty="0"/>
              <a:t>An Overview of the Role of Product Marketing</a:t>
            </a:r>
            <a:endParaRPr dirty="0"/>
          </a:p>
        </p:txBody>
      </p:sp>
      <p:sp>
        <p:nvSpPr>
          <p:cNvPr id="70" name="Google Shape;70;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Scott Baker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dirty="0"/>
              <a:t>Agenda</a:t>
            </a:r>
            <a:endParaRPr dirty="0"/>
          </a:p>
        </p:txBody>
      </p:sp>
      <p:sp>
        <p:nvSpPr>
          <p:cNvPr id="77" name="Google Shape;77;p15"/>
          <p:cNvSpPr txBox="1">
            <a:spLocks noGrp="1"/>
          </p:cNvSpPr>
          <p:nvPr>
            <p:ph type="body" idx="1"/>
          </p:nvPr>
        </p:nvSpPr>
        <p:spPr>
          <a:xfrm>
            <a:off x="471900" y="1919075"/>
            <a:ext cx="8617800" cy="3090900"/>
          </a:xfrm>
          <a:prstGeom prst="rect">
            <a:avLst/>
          </a:prstGeom>
        </p:spPr>
        <p:txBody>
          <a:bodyPr spcFirstLastPara="1" wrap="square" lIns="91425" tIns="91425" rIns="91425" bIns="91425" anchor="t" anchorCtr="0">
            <a:normAutofit/>
          </a:bodyPr>
          <a:lstStyle/>
          <a:p>
            <a:pPr marL="457200" lvl="0" indent="-342900" algn="l" rtl="0">
              <a:spcBef>
                <a:spcPts val="1000"/>
              </a:spcBef>
              <a:spcAft>
                <a:spcPts val="0"/>
              </a:spcAft>
              <a:buSzPts val="1800"/>
              <a:buAutoNum type="arabicPeriod"/>
            </a:pPr>
            <a:r>
              <a:rPr lang="en-US" dirty="0"/>
              <a:t>Introduction to “Product Marketing”?</a:t>
            </a:r>
          </a:p>
          <a:p>
            <a:pPr marL="457200" lvl="0" indent="-342900" algn="l" rtl="0">
              <a:spcBef>
                <a:spcPts val="1000"/>
              </a:spcBef>
              <a:spcAft>
                <a:spcPts val="0"/>
              </a:spcAft>
              <a:buSzPts val="1800"/>
              <a:buAutoNum type="arabicPeriod"/>
            </a:pPr>
            <a:r>
              <a:rPr lang="en-US" dirty="0"/>
              <a:t>How Most Companies Approach Product Marketing</a:t>
            </a:r>
          </a:p>
          <a:p>
            <a:pPr marL="457200" lvl="0" indent="-342900" algn="l" rtl="0">
              <a:spcBef>
                <a:spcPts val="1000"/>
              </a:spcBef>
              <a:spcAft>
                <a:spcPts val="0"/>
              </a:spcAft>
              <a:buSzPts val="1800"/>
              <a:buAutoNum type="arabicPeriod"/>
            </a:pPr>
            <a:r>
              <a:rPr lang="en-US" dirty="0"/>
              <a:t>Product Marketing vs. Other Functions</a:t>
            </a:r>
            <a:endParaRPr dirty="0"/>
          </a:p>
          <a:p>
            <a:pPr marL="457200" lvl="0" indent="-342900" algn="l" rtl="0">
              <a:spcBef>
                <a:spcPts val="1000"/>
              </a:spcBef>
              <a:spcAft>
                <a:spcPts val="0"/>
              </a:spcAft>
              <a:buSzPts val="1800"/>
              <a:buAutoNum type="arabicPeriod"/>
            </a:pPr>
            <a:r>
              <a:rPr lang="en-US" dirty="0"/>
              <a:t>The State of Product Marketing</a:t>
            </a:r>
            <a:endParaRPr dirty="0"/>
          </a:p>
          <a:p>
            <a:pPr marL="457200" lvl="0" indent="-342900" algn="l" rtl="0">
              <a:spcBef>
                <a:spcPts val="1000"/>
              </a:spcBef>
              <a:spcAft>
                <a:spcPts val="0"/>
              </a:spcAft>
              <a:buSzPts val="1800"/>
              <a:buAutoNum type="arabicPeriod"/>
            </a:pPr>
            <a:r>
              <a:rPr lang="en-US" dirty="0"/>
              <a:t>High Performing Product Marketing Team Execution</a:t>
            </a:r>
            <a:endParaRPr dirty="0"/>
          </a:p>
          <a:p>
            <a:pPr marL="457200" lvl="0" indent="-342900" algn="l" rtl="0">
              <a:spcBef>
                <a:spcPts val="1000"/>
              </a:spcBef>
              <a:spcAft>
                <a:spcPts val="1000"/>
              </a:spcAft>
              <a:buSzPts val="1800"/>
              <a:buAutoNum type="arabicPeriod"/>
            </a:pPr>
            <a:r>
              <a:rPr lang="en" dirty="0"/>
              <a:t>Wrap Up</a:t>
            </a:r>
            <a:endParaRPr dirty="0"/>
          </a:p>
        </p:txBody>
      </p:sp>
    </p:spTree>
    <p:extLst>
      <p:ext uri="{BB962C8B-B14F-4D97-AF65-F5344CB8AC3E}">
        <p14:creationId xmlns:p14="http://schemas.microsoft.com/office/powerpoint/2010/main" val="3584348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1659467"/>
            <a:ext cx="8222100" cy="178108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bg1"/>
                </a:solidFill>
              </a:rPr>
              <a:t>Introduction to </a:t>
            </a:r>
            <a:r>
              <a:rPr lang="en" b="1" dirty="0">
                <a:solidFill>
                  <a:schemeClr val="accent6"/>
                </a:solidFill>
              </a:rPr>
              <a:t>Product Marketing</a:t>
            </a:r>
            <a:endParaRPr b="1" dirty="0">
              <a:solidFill>
                <a:schemeClr val="bg1"/>
              </a:solidFill>
            </a:endParaRPr>
          </a:p>
        </p:txBody>
      </p:sp>
    </p:spTree>
    <p:extLst>
      <p:ext uri="{BB962C8B-B14F-4D97-AF65-F5344CB8AC3E}">
        <p14:creationId xmlns:p14="http://schemas.microsoft.com/office/powerpoint/2010/main" val="2309026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9" name="Google Shape;109;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dirty="0"/>
              <a:t>What is a Product Marketer?</a:t>
            </a:r>
            <a:endParaRPr dirty="0"/>
          </a:p>
        </p:txBody>
      </p:sp>
      <p:pic>
        <p:nvPicPr>
          <p:cNvPr id="110" name="Google Shape;110;p19"/>
          <p:cNvPicPr preferRelativeResize="0"/>
          <p:nvPr/>
        </p:nvPicPr>
        <p:blipFill rotWithShape="1">
          <a:blip r:embed="rId3">
            <a:alphaModFix/>
          </a:blip>
          <a:srcRect l="17540" t="1283" r="17947" b="8325"/>
          <a:stretch/>
        </p:blipFill>
        <p:spPr>
          <a:xfrm>
            <a:off x="471900" y="2571750"/>
            <a:ext cx="1316807" cy="1991078"/>
          </a:xfrm>
          <a:prstGeom prst="rect">
            <a:avLst/>
          </a:prstGeom>
          <a:noFill/>
          <a:ln>
            <a:noFill/>
          </a:ln>
        </p:spPr>
      </p:pic>
      <p:sp>
        <p:nvSpPr>
          <p:cNvPr id="23" name="Text Placeholder 22">
            <a:extLst>
              <a:ext uri="{FF2B5EF4-FFF2-40B4-BE49-F238E27FC236}">
                <a16:creationId xmlns:a16="http://schemas.microsoft.com/office/drawing/2014/main" id="{551502FA-4576-554E-B2C3-B53EC4433A80}"/>
              </a:ext>
            </a:extLst>
          </p:cNvPr>
          <p:cNvSpPr>
            <a:spLocks noGrp="1"/>
          </p:cNvSpPr>
          <p:nvPr>
            <p:ph type="body" idx="1"/>
          </p:nvPr>
        </p:nvSpPr>
        <p:spPr>
          <a:xfrm>
            <a:off x="2115047" y="2338592"/>
            <a:ext cx="6578952" cy="466316"/>
          </a:xfrm>
        </p:spPr>
        <p:txBody>
          <a:bodyPr>
            <a:noAutofit/>
          </a:bodyPr>
          <a:lstStyle/>
          <a:p>
            <a:pPr marL="114300" indent="0">
              <a:buNone/>
            </a:pPr>
            <a:r>
              <a:rPr lang="en-US" sz="2000" dirty="0"/>
              <a:t>Voice of the Product to the Market</a:t>
            </a:r>
          </a:p>
        </p:txBody>
      </p:sp>
      <p:sp>
        <p:nvSpPr>
          <p:cNvPr id="91" name="Text Placeholder 22">
            <a:extLst>
              <a:ext uri="{FF2B5EF4-FFF2-40B4-BE49-F238E27FC236}">
                <a16:creationId xmlns:a16="http://schemas.microsoft.com/office/drawing/2014/main" id="{A72EBF01-A359-0B4B-979A-09687A531ECE}"/>
              </a:ext>
            </a:extLst>
          </p:cNvPr>
          <p:cNvSpPr txBox="1">
            <a:spLocks/>
          </p:cNvSpPr>
          <p:nvPr/>
        </p:nvSpPr>
        <p:spPr>
          <a:xfrm>
            <a:off x="2768378" y="3403917"/>
            <a:ext cx="6152985" cy="4663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Roboto"/>
              <a:buChar char="●"/>
              <a:defRPr sz="1800" b="0" i="0" u="none" strike="noStrike" cap="none">
                <a:solidFill>
                  <a:schemeClr val="lt2"/>
                </a:solidFill>
                <a:latin typeface="Roboto"/>
                <a:ea typeface="Roboto"/>
                <a:cs typeface="Roboto"/>
                <a:sym typeface="Roboto"/>
              </a:defRPr>
            </a:lvl1pPr>
            <a:lvl2pPr marL="914400" marR="0" lvl="1"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2pPr>
            <a:lvl3pPr marL="1371600" marR="0" lvl="2"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3pPr>
            <a:lvl4pPr marL="1828800" marR="0" lvl="3"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4pPr>
            <a:lvl5pPr marL="2286000" marR="0" lvl="4"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5pPr>
            <a:lvl6pPr marL="2743200" marR="0" lvl="5"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6pPr>
            <a:lvl7pPr marL="3200400" marR="0" lvl="6"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7pPr>
            <a:lvl8pPr marL="3657600" marR="0" lvl="7"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8pPr>
            <a:lvl9pPr marL="4114800" marR="0" lvl="8" indent="-317500" algn="l" rtl="0">
              <a:lnSpc>
                <a:spcPct val="115000"/>
              </a:lnSpc>
              <a:spcBef>
                <a:spcPts val="0"/>
              </a:spcBef>
              <a:spcAft>
                <a:spcPts val="0"/>
              </a:spcAft>
              <a:buClr>
                <a:schemeClr val="lt2"/>
              </a:buClr>
              <a:buSzPts val="1400"/>
              <a:buFont typeface="Roboto"/>
              <a:buChar char="■"/>
              <a:defRPr sz="1400" b="0" i="0" u="none" strike="noStrike" cap="none">
                <a:solidFill>
                  <a:schemeClr val="lt2"/>
                </a:solidFill>
                <a:latin typeface="Roboto"/>
                <a:ea typeface="Roboto"/>
                <a:cs typeface="Roboto"/>
                <a:sym typeface="Roboto"/>
              </a:defRPr>
            </a:lvl9pPr>
          </a:lstStyle>
          <a:p>
            <a:pPr marL="114300" indent="0">
              <a:buNone/>
            </a:pPr>
            <a:r>
              <a:rPr lang="en-US" sz="2000" dirty="0"/>
              <a:t>Voice of the Market to the Product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fade">
                                      <p:cBhvr>
                                        <p:cTn id="12"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9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9" name="Google Shape;109;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dirty="0"/>
              <a:t>What is a Product Marketer?</a:t>
            </a:r>
            <a:endParaRPr dirty="0"/>
          </a:p>
        </p:txBody>
      </p:sp>
      <p:pic>
        <p:nvPicPr>
          <p:cNvPr id="110" name="Google Shape;110;p19"/>
          <p:cNvPicPr preferRelativeResize="0"/>
          <p:nvPr/>
        </p:nvPicPr>
        <p:blipFill rotWithShape="1">
          <a:blip r:embed="rId3">
            <a:alphaModFix/>
          </a:blip>
          <a:srcRect l="17540" t="1283" r="17947" b="8325"/>
          <a:stretch/>
        </p:blipFill>
        <p:spPr>
          <a:xfrm>
            <a:off x="471900" y="2571750"/>
            <a:ext cx="1316807" cy="1991078"/>
          </a:xfrm>
          <a:prstGeom prst="rect">
            <a:avLst/>
          </a:prstGeom>
          <a:noFill/>
          <a:ln>
            <a:noFill/>
          </a:ln>
        </p:spPr>
      </p:pic>
      <p:pic>
        <p:nvPicPr>
          <p:cNvPr id="5" name="Picture 4">
            <a:extLst>
              <a:ext uri="{FF2B5EF4-FFF2-40B4-BE49-F238E27FC236}">
                <a16:creationId xmlns:a16="http://schemas.microsoft.com/office/drawing/2014/main" id="{FEE4FA05-8500-6049-A09D-D8831F45942D}"/>
              </a:ext>
            </a:extLst>
          </p:cNvPr>
          <p:cNvPicPr>
            <a:picLocks noChangeAspect="1"/>
          </p:cNvPicPr>
          <p:nvPr/>
        </p:nvPicPr>
        <p:blipFill>
          <a:blip r:embed="rId4"/>
          <a:srcRect/>
          <a:stretch/>
        </p:blipFill>
        <p:spPr>
          <a:xfrm>
            <a:off x="3044081" y="1871512"/>
            <a:ext cx="3055836" cy="2930082"/>
          </a:xfrm>
          <a:prstGeom prst="rect">
            <a:avLst/>
          </a:prstGeom>
        </p:spPr>
      </p:pic>
      <p:sp>
        <p:nvSpPr>
          <p:cNvPr id="6" name="5-Point Star 5">
            <a:extLst>
              <a:ext uri="{FF2B5EF4-FFF2-40B4-BE49-F238E27FC236}">
                <a16:creationId xmlns:a16="http://schemas.microsoft.com/office/drawing/2014/main" id="{EAA659FE-254C-114D-B82B-7706404DAAEC}"/>
              </a:ext>
            </a:extLst>
          </p:cNvPr>
          <p:cNvSpPr/>
          <p:nvPr/>
        </p:nvSpPr>
        <p:spPr>
          <a:xfrm>
            <a:off x="4408998" y="3013545"/>
            <a:ext cx="326003" cy="326003"/>
          </a:xfrm>
          <a:prstGeom prst="star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C18387-782E-9845-AC22-297B0F2F1B99}"/>
              </a:ext>
            </a:extLst>
          </p:cNvPr>
          <p:cNvSpPr txBox="1"/>
          <p:nvPr/>
        </p:nvSpPr>
        <p:spPr>
          <a:xfrm>
            <a:off x="5780598" y="4255051"/>
            <a:ext cx="1636987" cy="307777"/>
          </a:xfrm>
          <a:prstGeom prst="rect">
            <a:avLst/>
          </a:prstGeom>
          <a:noFill/>
        </p:spPr>
        <p:txBody>
          <a:bodyPr wrap="none" rtlCol="0">
            <a:spAutoFit/>
          </a:bodyPr>
          <a:lstStyle/>
          <a:p>
            <a:r>
              <a:rPr lang="en-US" dirty="0"/>
              <a:t>Product Marketing</a:t>
            </a:r>
          </a:p>
        </p:txBody>
      </p:sp>
      <p:cxnSp>
        <p:nvCxnSpPr>
          <p:cNvPr id="9" name="Curved Connector 8">
            <a:extLst>
              <a:ext uri="{FF2B5EF4-FFF2-40B4-BE49-F238E27FC236}">
                <a16:creationId xmlns:a16="http://schemas.microsoft.com/office/drawing/2014/main" id="{A0D9BBB4-5FC8-4546-A572-6CE54AD08A65}"/>
              </a:ext>
            </a:extLst>
          </p:cNvPr>
          <p:cNvCxnSpPr>
            <a:cxnSpLocks/>
            <a:endCxn id="7" idx="0"/>
          </p:cNvCxnSpPr>
          <p:nvPr/>
        </p:nvCxnSpPr>
        <p:spPr>
          <a:xfrm>
            <a:off x="4826442" y="3176546"/>
            <a:ext cx="1772650" cy="1078505"/>
          </a:xfrm>
          <a:prstGeom prst="curvedConnector2">
            <a:avLst/>
          </a:prstGeom>
          <a:ln>
            <a:headEnd type="triangle" w="lg" len="med"/>
            <a:tailEnd type="non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15229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02D1-4BDA-C24D-88A6-ABAD4F4018EB}"/>
              </a:ext>
            </a:extLst>
          </p:cNvPr>
          <p:cNvSpPr>
            <a:spLocks noGrp="1"/>
          </p:cNvSpPr>
          <p:nvPr>
            <p:ph type="title"/>
          </p:nvPr>
        </p:nvSpPr>
        <p:spPr/>
        <p:txBody>
          <a:bodyPr/>
          <a:lstStyle/>
          <a:p>
            <a:r>
              <a:rPr lang="en-US" dirty="0"/>
              <a:t>Core Product Marketing Manager Skills</a:t>
            </a:r>
          </a:p>
        </p:txBody>
      </p:sp>
      <p:pic>
        <p:nvPicPr>
          <p:cNvPr id="4" name="Google Shape;110;p19">
            <a:extLst>
              <a:ext uri="{FF2B5EF4-FFF2-40B4-BE49-F238E27FC236}">
                <a16:creationId xmlns:a16="http://schemas.microsoft.com/office/drawing/2014/main" id="{0E260EC8-9180-B94D-9473-79E01F2448E3}"/>
              </a:ext>
            </a:extLst>
          </p:cNvPr>
          <p:cNvPicPr preferRelativeResize="0"/>
          <p:nvPr/>
        </p:nvPicPr>
        <p:blipFill rotWithShape="1">
          <a:blip r:embed="rId3">
            <a:alphaModFix/>
          </a:blip>
          <a:srcRect l="17540" t="1283" r="17947" b="8325"/>
          <a:stretch/>
        </p:blipFill>
        <p:spPr>
          <a:xfrm>
            <a:off x="471900" y="2571750"/>
            <a:ext cx="1316807" cy="1991078"/>
          </a:xfrm>
          <a:prstGeom prst="rect">
            <a:avLst/>
          </a:prstGeom>
          <a:noFill/>
          <a:ln>
            <a:noFill/>
          </a:ln>
        </p:spPr>
      </p:pic>
      <p:grpSp>
        <p:nvGrpSpPr>
          <p:cNvPr id="13" name="Group 12">
            <a:extLst>
              <a:ext uri="{FF2B5EF4-FFF2-40B4-BE49-F238E27FC236}">
                <a16:creationId xmlns:a16="http://schemas.microsoft.com/office/drawing/2014/main" id="{331351CB-3292-A24F-B2F5-6EF85BA41005}"/>
              </a:ext>
            </a:extLst>
          </p:cNvPr>
          <p:cNvGrpSpPr/>
          <p:nvPr/>
        </p:nvGrpSpPr>
        <p:grpSpPr>
          <a:xfrm>
            <a:off x="2581835" y="1811275"/>
            <a:ext cx="6042872" cy="363070"/>
            <a:chOff x="2581835" y="1963271"/>
            <a:chExt cx="6042872" cy="363070"/>
          </a:xfrm>
        </p:grpSpPr>
        <p:sp>
          <p:nvSpPr>
            <p:cNvPr id="5" name="Rectangle 4">
              <a:extLst>
                <a:ext uri="{FF2B5EF4-FFF2-40B4-BE49-F238E27FC236}">
                  <a16:creationId xmlns:a16="http://schemas.microsoft.com/office/drawing/2014/main" id="{CBA420CA-9BA3-E24B-ABFE-F1BE156E364F}"/>
                </a:ext>
              </a:extLst>
            </p:cNvPr>
            <p:cNvSpPr/>
            <p:nvPr/>
          </p:nvSpPr>
          <p:spPr>
            <a:xfrm>
              <a:off x="2581835" y="1963271"/>
              <a:ext cx="5553636" cy="3630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Strong Verbal and Visual Communication</a:t>
              </a:r>
            </a:p>
          </p:txBody>
        </p:sp>
        <p:sp>
          <p:nvSpPr>
            <p:cNvPr id="6" name="TextBox 5">
              <a:extLst>
                <a:ext uri="{FF2B5EF4-FFF2-40B4-BE49-F238E27FC236}">
                  <a16:creationId xmlns:a16="http://schemas.microsoft.com/office/drawing/2014/main" id="{4646B604-A438-3247-946A-1BE00A0321FF}"/>
                </a:ext>
              </a:extLst>
            </p:cNvPr>
            <p:cNvSpPr txBox="1"/>
            <p:nvPr/>
          </p:nvSpPr>
          <p:spPr>
            <a:xfrm>
              <a:off x="8135471" y="1990918"/>
              <a:ext cx="489236" cy="307777"/>
            </a:xfrm>
            <a:prstGeom prst="rect">
              <a:avLst/>
            </a:prstGeom>
            <a:noFill/>
          </p:spPr>
          <p:txBody>
            <a:bodyPr wrap="none" rtlCol="0">
              <a:spAutoFit/>
            </a:bodyPr>
            <a:lstStyle/>
            <a:p>
              <a:r>
                <a:rPr lang="en-US" dirty="0"/>
                <a:t>80</a:t>
              </a:r>
              <a:r>
                <a:rPr lang="en-US" baseline="30000" dirty="0"/>
                <a:t>%</a:t>
              </a:r>
            </a:p>
          </p:txBody>
        </p:sp>
      </p:grpSp>
      <p:grpSp>
        <p:nvGrpSpPr>
          <p:cNvPr id="20" name="Group 19">
            <a:extLst>
              <a:ext uri="{FF2B5EF4-FFF2-40B4-BE49-F238E27FC236}">
                <a16:creationId xmlns:a16="http://schemas.microsoft.com/office/drawing/2014/main" id="{1556BD79-DF5C-2C4C-B9E1-B48077A6F719}"/>
              </a:ext>
            </a:extLst>
          </p:cNvPr>
          <p:cNvGrpSpPr/>
          <p:nvPr/>
        </p:nvGrpSpPr>
        <p:grpSpPr>
          <a:xfrm>
            <a:off x="2581835" y="2288205"/>
            <a:ext cx="5800825" cy="363070"/>
            <a:chOff x="2581835" y="2420472"/>
            <a:chExt cx="5800825" cy="363070"/>
          </a:xfrm>
        </p:grpSpPr>
        <p:sp>
          <p:nvSpPr>
            <p:cNvPr id="7" name="Rectangle 6">
              <a:extLst>
                <a:ext uri="{FF2B5EF4-FFF2-40B4-BE49-F238E27FC236}">
                  <a16:creationId xmlns:a16="http://schemas.microsoft.com/office/drawing/2014/main" id="{942ABCAC-8CC0-A64A-82D5-8B6A71D5EFA0}"/>
                </a:ext>
              </a:extLst>
            </p:cNvPr>
            <p:cNvSpPr/>
            <p:nvPr/>
          </p:nvSpPr>
          <p:spPr>
            <a:xfrm>
              <a:off x="2581835" y="2420472"/>
              <a:ext cx="5311589" cy="3630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Collaboration</a:t>
              </a:r>
            </a:p>
          </p:txBody>
        </p:sp>
        <p:sp>
          <p:nvSpPr>
            <p:cNvPr id="14" name="TextBox 13">
              <a:extLst>
                <a:ext uri="{FF2B5EF4-FFF2-40B4-BE49-F238E27FC236}">
                  <a16:creationId xmlns:a16="http://schemas.microsoft.com/office/drawing/2014/main" id="{AE009426-2996-3C40-868F-89DFE4BE5AC6}"/>
                </a:ext>
              </a:extLst>
            </p:cNvPr>
            <p:cNvSpPr txBox="1"/>
            <p:nvPr/>
          </p:nvSpPr>
          <p:spPr>
            <a:xfrm>
              <a:off x="7893424" y="2448119"/>
              <a:ext cx="489236" cy="307777"/>
            </a:xfrm>
            <a:prstGeom prst="rect">
              <a:avLst/>
            </a:prstGeom>
            <a:noFill/>
          </p:spPr>
          <p:txBody>
            <a:bodyPr wrap="none" rtlCol="0">
              <a:spAutoFit/>
            </a:bodyPr>
            <a:lstStyle/>
            <a:p>
              <a:r>
                <a:rPr lang="en-US" dirty="0"/>
                <a:t>78</a:t>
              </a:r>
              <a:r>
                <a:rPr lang="en-US" baseline="30000" dirty="0"/>
                <a:t>%</a:t>
              </a:r>
            </a:p>
          </p:txBody>
        </p:sp>
      </p:grpSp>
      <p:grpSp>
        <p:nvGrpSpPr>
          <p:cNvPr id="21" name="Group 20">
            <a:extLst>
              <a:ext uri="{FF2B5EF4-FFF2-40B4-BE49-F238E27FC236}">
                <a16:creationId xmlns:a16="http://schemas.microsoft.com/office/drawing/2014/main" id="{0FF5EDA9-7CC9-774B-AECA-A0532C58965D}"/>
              </a:ext>
            </a:extLst>
          </p:cNvPr>
          <p:cNvGrpSpPr/>
          <p:nvPr/>
        </p:nvGrpSpPr>
        <p:grpSpPr>
          <a:xfrm>
            <a:off x="2581835" y="2765135"/>
            <a:ext cx="5652907" cy="363070"/>
            <a:chOff x="2581835" y="2928097"/>
            <a:chExt cx="5652907" cy="363070"/>
          </a:xfrm>
        </p:grpSpPr>
        <p:sp>
          <p:nvSpPr>
            <p:cNvPr id="8" name="Rectangle 7">
              <a:extLst>
                <a:ext uri="{FF2B5EF4-FFF2-40B4-BE49-F238E27FC236}">
                  <a16:creationId xmlns:a16="http://schemas.microsoft.com/office/drawing/2014/main" id="{AE5F55F5-77DB-9446-BFB3-3A8668B922E4}"/>
                </a:ext>
              </a:extLst>
            </p:cNvPr>
            <p:cNvSpPr/>
            <p:nvPr/>
          </p:nvSpPr>
          <p:spPr>
            <a:xfrm>
              <a:off x="2581835" y="2928097"/>
              <a:ext cx="5163671" cy="36307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Creativity and Problem Solving</a:t>
              </a:r>
            </a:p>
          </p:txBody>
        </p:sp>
        <p:sp>
          <p:nvSpPr>
            <p:cNvPr id="15" name="TextBox 14">
              <a:extLst>
                <a:ext uri="{FF2B5EF4-FFF2-40B4-BE49-F238E27FC236}">
                  <a16:creationId xmlns:a16="http://schemas.microsoft.com/office/drawing/2014/main" id="{E0783393-0725-854D-B137-4C533A2D4111}"/>
                </a:ext>
              </a:extLst>
            </p:cNvPr>
            <p:cNvSpPr txBox="1"/>
            <p:nvPr/>
          </p:nvSpPr>
          <p:spPr>
            <a:xfrm>
              <a:off x="7745506" y="2955744"/>
              <a:ext cx="489236" cy="307777"/>
            </a:xfrm>
            <a:prstGeom prst="rect">
              <a:avLst/>
            </a:prstGeom>
            <a:noFill/>
          </p:spPr>
          <p:txBody>
            <a:bodyPr wrap="none" rtlCol="0">
              <a:spAutoFit/>
            </a:bodyPr>
            <a:lstStyle/>
            <a:p>
              <a:r>
                <a:rPr lang="en-US" dirty="0"/>
                <a:t>77</a:t>
              </a:r>
              <a:r>
                <a:rPr lang="en-US" baseline="30000" dirty="0"/>
                <a:t>%</a:t>
              </a:r>
            </a:p>
          </p:txBody>
        </p:sp>
      </p:grpSp>
      <p:grpSp>
        <p:nvGrpSpPr>
          <p:cNvPr id="22" name="Group 21">
            <a:extLst>
              <a:ext uri="{FF2B5EF4-FFF2-40B4-BE49-F238E27FC236}">
                <a16:creationId xmlns:a16="http://schemas.microsoft.com/office/drawing/2014/main" id="{C1EB0B3D-288E-C149-98AC-01A3C6B95DD7}"/>
              </a:ext>
            </a:extLst>
          </p:cNvPr>
          <p:cNvGrpSpPr/>
          <p:nvPr/>
        </p:nvGrpSpPr>
        <p:grpSpPr>
          <a:xfrm>
            <a:off x="2581835" y="3242065"/>
            <a:ext cx="5222602" cy="363070"/>
            <a:chOff x="2581835" y="3435722"/>
            <a:chExt cx="5222602" cy="363070"/>
          </a:xfrm>
        </p:grpSpPr>
        <p:sp>
          <p:nvSpPr>
            <p:cNvPr id="9" name="Rectangle 8">
              <a:extLst>
                <a:ext uri="{FF2B5EF4-FFF2-40B4-BE49-F238E27FC236}">
                  <a16:creationId xmlns:a16="http://schemas.microsoft.com/office/drawing/2014/main" id="{45F933E0-EBEE-4B41-9FB1-64936C131A30}"/>
                </a:ext>
              </a:extLst>
            </p:cNvPr>
            <p:cNvSpPr/>
            <p:nvPr/>
          </p:nvSpPr>
          <p:spPr>
            <a:xfrm>
              <a:off x="2581835" y="3435722"/>
              <a:ext cx="4733366" cy="36307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Strategic Planning and Business Acumen</a:t>
              </a:r>
            </a:p>
          </p:txBody>
        </p:sp>
        <p:sp>
          <p:nvSpPr>
            <p:cNvPr id="16" name="TextBox 15">
              <a:extLst>
                <a:ext uri="{FF2B5EF4-FFF2-40B4-BE49-F238E27FC236}">
                  <a16:creationId xmlns:a16="http://schemas.microsoft.com/office/drawing/2014/main" id="{ACCEF551-FF2F-C24D-9324-636E19BBC2C2}"/>
                </a:ext>
              </a:extLst>
            </p:cNvPr>
            <p:cNvSpPr txBox="1"/>
            <p:nvPr/>
          </p:nvSpPr>
          <p:spPr>
            <a:xfrm>
              <a:off x="7315201" y="3463369"/>
              <a:ext cx="489236" cy="307777"/>
            </a:xfrm>
            <a:prstGeom prst="rect">
              <a:avLst/>
            </a:prstGeom>
            <a:noFill/>
          </p:spPr>
          <p:txBody>
            <a:bodyPr wrap="none" rtlCol="0">
              <a:spAutoFit/>
            </a:bodyPr>
            <a:lstStyle/>
            <a:p>
              <a:r>
                <a:rPr lang="en-US" dirty="0"/>
                <a:t>62</a:t>
              </a:r>
              <a:r>
                <a:rPr lang="en-US" baseline="30000" dirty="0"/>
                <a:t>%</a:t>
              </a:r>
            </a:p>
          </p:txBody>
        </p:sp>
      </p:grpSp>
      <p:grpSp>
        <p:nvGrpSpPr>
          <p:cNvPr id="23" name="Group 22">
            <a:extLst>
              <a:ext uri="{FF2B5EF4-FFF2-40B4-BE49-F238E27FC236}">
                <a16:creationId xmlns:a16="http://schemas.microsoft.com/office/drawing/2014/main" id="{640E43C6-4545-624E-B71C-E750CB2B62EE}"/>
              </a:ext>
            </a:extLst>
          </p:cNvPr>
          <p:cNvGrpSpPr/>
          <p:nvPr/>
        </p:nvGrpSpPr>
        <p:grpSpPr>
          <a:xfrm>
            <a:off x="2581835" y="3718995"/>
            <a:ext cx="4994001" cy="363070"/>
            <a:chOff x="2581835" y="3946355"/>
            <a:chExt cx="4994001" cy="363070"/>
          </a:xfrm>
        </p:grpSpPr>
        <p:sp>
          <p:nvSpPr>
            <p:cNvPr id="10" name="Rectangle 9">
              <a:extLst>
                <a:ext uri="{FF2B5EF4-FFF2-40B4-BE49-F238E27FC236}">
                  <a16:creationId xmlns:a16="http://schemas.microsoft.com/office/drawing/2014/main" id="{6728120B-61F4-F44E-9291-8EA446659894}"/>
                </a:ext>
              </a:extLst>
            </p:cNvPr>
            <p:cNvSpPr/>
            <p:nvPr/>
          </p:nvSpPr>
          <p:spPr>
            <a:xfrm>
              <a:off x="2581835" y="3946355"/>
              <a:ext cx="4504765" cy="36307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Empathy and Ability to Connect with Others</a:t>
              </a:r>
            </a:p>
          </p:txBody>
        </p:sp>
        <p:sp>
          <p:nvSpPr>
            <p:cNvPr id="17" name="TextBox 16">
              <a:extLst>
                <a:ext uri="{FF2B5EF4-FFF2-40B4-BE49-F238E27FC236}">
                  <a16:creationId xmlns:a16="http://schemas.microsoft.com/office/drawing/2014/main" id="{B173FC91-CA67-BF45-B302-6CA235BD1091}"/>
                </a:ext>
              </a:extLst>
            </p:cNvPr>
            <p:cNvSpPr txBox="1"/>
            <p:nvPr/>
          </p:nvSpPr>
          <p:spPr>
            <a:xfrm>
              <a:off x="7086600" y="3974002"/>
              <a:ext cx="489236" cy="307777"/>
            </a:xfrm>
            <a:prstGeom prst="rect">
              <a:avLst/>
            </a:prstGeom>
            <a:noFill/>
          </p:spPr>
          <p:txBody>
            <a:bodyPr wrap="none" rtlCol="0">
              <a:spAutoFit/>
            </a:bodyPr>
            <a:lstStyle/>
            <a:p>
              <a:r>
                <a:rPr lang="en-US" dirty="0"/>
                <a:t>59</a:t>
              </a:r>
              <a:r>
                <a:rPr lang="en-US" baseline="30000" dirty="0"/>
                <a:t>%</a:t>
              </a:r>
            </a:p>
          </p:txBody>
        </p:sp>
      </p:grpSp>
      <p:grpSp>
        <p:nvGrpSpPr>
          <p:cNvPr id="24" name="Group 23">
            <a:extLst>
              <a:ext uri="{FF2B5EF4-FFF2-40B4-BE49-F238E27FC236}">
                <a16:creationId xmlns:a16="http://schemas.microsoft.com/office/drawing/2014/main" id="{C61FA864-823B-B64C-8FE7-72165946C312}"/>
              </a:ext>
            </a:extLst>
          </p:cNvPr>
          <p:cNvGrpSpPr/>
          <p:nvPr/>
        </p:nvGrpSpPr>
        <p:grpSpPr>
          <a:xfrm>
            <a:off x="2581835" y="4195925"/>
            <a:ext cx="4765402" cy="363070"/>
            <a:chOff x="2581835" y="4424262"/>
            <a:chExt cx="4765402" cy="363070"/>
          </a:xfrm>
        </p:grpSpPr>
        <p:sp>
          <p:nvSpPr>
            <p:cNvPr id="11" name="Rectangle 10">
              <a:extLst>
                <a:ext uri="{FF2B5EF4-FFF2-40B4-BE49-F238E27FC236}">
                  <a16:creationId xmlns:a16="http://schemas.microsoft.com/office/drawing/2014/main" id="{09BBBD95-D9F1-7940-AF19-E1BEE0743FDC}"/>
                </a:ext>
              </a:extLst>
            </p:cNvPr>
            <p:cNvSpPr/>
            <p:nvPr/>
          </p:nvSpPr>
          <p:spPr>
            <a:xfrm>
              <a:off x="2581835" y="4424262"/>
              <a:ext cx="4276166" cy="36307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Research and Analytic Skills</a:t>
              </a:r>
            </a:p>
          </p:txBody>
        </p:sp>
        <p:sp>
          <p:nvSpPr>
            <p:cNvPr id="18" name="TextBox 17">
              <a:extLst>
                <a:ext uri="{FF2B5EF4-FFF2-40B4-BE49-F238E27FC236}">
                  <a16:creationId xmlns:a16="http://schemas.microsoft.com/office/drawing/2014/main" id="{A208AB69-6746-EE4D-AE03-034CF6200AC1}"/>
                </a:ext>
              </a:extLst>
            </p:cNvPr>
            <p:cNvSpPr txBox="1"/>
            <p:nvPr/>
          </p:nvSpPr>
          <p:spPr>
            <a:xfrm>
              <a:off x="6858001" y="4451909"/>
              <a:ext cx="489236" cy="307777"/>
            </a:xfrm>
            <a:prstGeom prst="rect">
              <a:avLst/>
            </a:prstGeom>
            <a:noFill/>
          </p:spPr>
          <p:txBody>
            <a:bodyPr wrap="none" rtlCol="0">
              <a:spAutoFit/>
            </a:bodyPr>
            <a:lstStyle/>
            <a:p>
              <a:r>
                <a:rPr lang="en-US" dirty="0"/>
                <a:t>52</a:t>
              </a:r>
              <a:r>
                <a:rPr lang="en-US" baseline="30000" dirty="0"/>
                <a:t>%</a:t>
              </a:r>
            </a:p>
          </p:txBody>
        </p:sp>
      </p:grpSp>
      <p:grpSp>
        <p:nvGrpSpPr>
          <p:cNvPr id="25" name="Group 24">
            <a:extLst>
              <a:ext uri="{FF2B5EF4-FFF2-40B4-BE49-F238E27FC236}">
                <a16:creationId xmlns:a16="http://schemas.microsoft.com/office/drawing/2014/main" id="{1FF81045-C1B3-034A-A764-821C452213CE}"/>
              </a:ext>
            </a:extLst>
          </p:cNvPr>
          <p:cNvGrpSpPr/>
          <p:nvPr/>
        </p:nvGrpSpPr>
        <p:grpSpPr>
          <a:xfrm>
            <a:off x="2581835" y="4672854"/>
            <a:ext cx="4429225" cy="363070"/>
            <a:chOff x="2581835" y="4932426"/>
            <a:chExt cx="4429225" cy="363070"/>
          </a:xfrm>
        </p:grpSpPr>
        <p:sp>
          <p:nvSpPr>
            <p:cNvPr id="12" name="Rectangle 11">
              <a:extLst>
                <a:ext uri="{FF2B5EF4-FFF2-40B4-BE49-F238E27FC236}">
                  <a16:creationId xmlns:a16="http://schemas.microsoft.com/office/drawing/2014/main" id="{7B1EACF5-D37F-F244-AC13-4E0D622E92A0}"/>
                </a:ext>
              </a:extLst>
            </p:cNvPr>
            <p:cNvSpPr/>
            <p:nvPr/>
          </p:nvSpPr>
          <p:spPr>
            <a:xfrm>
              <a:off x="2581835" y="4932426"/>
              <a:ext cx="3939989" cy="3630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Content Creation, Storytelling, and Copywriting</a:t>
              </a:r>
            </a:p>
          </p:txBody>
        </p:sp>
        <p:sp>
          <p:nvSpPr>
            <p:cNvPr id="19" name="TextBox 18">
              <a:extLst>
                <a:ext uri="{FF2B5EF4-FFF2-40B4-BE49-F238E27FC236}">
                  <a16:creationId xmlns:a16="http://schemas.microsoft.com/office/drawing/2014/main" id="{8F4FC5D3-9315-AD4E-95CA-CC6853CD280E}"/>
                </a:ext>
              </a:extLst>
            </p:cNvPr>
            <p:cNvSpPr txBox="1"/>
            <p:nvPr/>
          </p:nvSpPr>
          <p:spPr>
            <a:xfrm>
              <a:off x="6521824" y="4960073"/>
              <a:ext cx="489236" cy="307777"/>
            </a:xfrm>
            <a:prstGeom prst="rect">
              <a:avLst/>
            </a:prstGeom>
            <a:noFill/>
          </p:spPr>
          <p:txBody>
            <a:bodyPr wrap="none" rtlCol="0">
              <a:spAutoFit/>
            </a:bodyPr>
            <a:lstStyle/>
            <a:p>
              <a:r>
                <a:rPr lang="en-US" dirty="0"/>
                <a:t>50</a:t>
              </a:r>
              <a:r>
                <a:rPr lang="en-US" baseline="30000" dirty="0"/>
                <a:t>%</a:t>
              </a:r>
            </a:p>
          </p:txBody>
        </p:sp>
      </p:grpSp>
    </p:spTree>
    <p:extLst>
      <p:ext uri="{BB962C8B-B14F-4D97-AF65-F5344CB8AC3E}">
        <p14:creationId xmlns:p14="http://schemas.microsoft.com/office/powerpoint/2010/main" val="1196174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500"/>
                                        <p:tgtEl>
                                          <p:spTgt spid="22"/>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226075" y="357800"/>
            <a:ext cx="2808000" cy="1369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Main Tasks of Product Marketing</a:t>
            </a:r>
            <a:endParaRPr dirty="0"/>
          </a:p>
        </p:txBody>
      </p:sp>
      <p:sp>
        <p:nvSpPr>
          <p:cNvPr id="237" name="Google Shape;237;p26"/>
          <p:cNvSpPr txBox="1">
            <a:spLocks noGrp="1"/>
          </p:cNvSpPr>
          <p:nvPr>
            <p:ph type="body" idx="1"/>
          </p:nvPr>
        </p:nvSpPr>
        <p:spPr>
          <a:xfrm>
            <a:off x="226075" y="1865650"/>
            <a:ext cx="2939156" cy="3098236"/>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 dirty="0"/>
              <a:t>Messaging / Positioning</a:t>
            </a:r>
          </a:p>
          <a:p>
            <a:pPr marL="0" lvl="0" indent="0" algn="l" rtl="0">
              <a:spcBef>
                <a:spcPts val="0"/>
              </a:spcBef>
              <a:spcAft>
                <a:spcPts val="1200"/>
              </a:spcAft>
              <a:buNone/>
            </a:pPr>
            <a:r>
              <a:rPr lang="en" dirty="0"/>
              <a:t>Influence Product Roadmap</a:t>
            </a:r>
          </a:p>
          <a:p>
            <a:pPr marL="0" lvl="0" indent="0" algn="l" rtl="0">
              <a:spcBef>
                <a:spcPts val="0"/>
              </a:spcBef>
              <a:spcAft>
                <a:spcPts val="1200"/>
              </a:spcAft>
              <a:buNone/>
            </a:pPr>
            <a:r>
              <a:rPr lang="en" dirty="0"/>
              <a:t>Define / Execute the Go-to-Market Strategy</a:t>
            </a:r>
          </a:p>
          <a:p>
            <a:pPr marL="0" lvl="0" indent="0" algn="l" rtl="0">
              <a:spcBef>
                <a:spcPts val="0"/>
              </a:spcBef>
              <a:spcAft>
                <a:spcPts val="1200"/>
              </a:spcAft>
              <a:buNone/>
            </a:pPr>
            <a:r>
              <a:rPr lang="en" dirty="0"/>
              <a:t>Persona Research and Development</a:t>
            </a:r>
          </a:p>
          <a:p>
            <a:pPr marL="0" lvl="0" indent="0" algn="l" rtl="0">
              <a:spcBef>
                <a:spcPts val="0"/>
              </a:spcBef>
              <a:spcAft>
                <a:spcPts val="1200"/>
              </a:spcAft>
              <a:buNone/>
            </a:pPr>
            <a:r>
              <a:rPr lang="en" dirty="0"/>
              <a:t>Competitive Intelligence</a:t>
            </a:r>
          </a:p>
          <a:p>
            <a:pPr marL="0" lvl="0" indent="0" algn="l" rtl="0">
              <a:spcBef>
                <a:spcPts val="0"/>
              </a:spcBef>
              <a:spcAft>
                <a:spcPts val="1200"/>
              </a:spcAft>
              <a:buNone/>
            </a:pPr>
            <a:r>
              <a:rPr lang="en" dirty="0"/>
              <a:t>Navigates the Launch; Advocates for the Product</a:t>
            </a:r>
          </a:p>
          <a:p>
            <a:pPr marL="0" lvl="0" indent="0" algn="l" rtl="0">
              <a:spcBef>
                <a:spcPts val="0"/>
              </a:spcBef>
              <a:spcAft>
                <a:spcPts val="1200"/>
              </a:spcAft>
              <a:buNone/>
            </a:pPr>
            <a:r>
              <a:rPr lang="en" dirty="0"/>
              <a:t>Increase Product Demand and Use</a:t>
            </a:r>
          </a:p>
          <a:p>
            <a:pPr marL="0" lvl="0" indent="0" algn="l" rtl="0">
              <a:spcBef>
                <a:spcPts val="0"/>
              </a:spcBef>
              <a:spcAft>
                <a:spcPts val="1200"/>
              </a:spcAft>
              <a:buNone/>
            </a:pPr>
            <a:r>
              <a:rPr lang="en-US" i="1" dirty="0"/>
              <a:t>And much more</a:t>
            </a:r>
            <a:endParaRPr i="1" dirty="0"/>
          </a:p>
        </p:txBody>
      </p:sp>
      <p:pic>
        <p:nvPicPr>
          <p:cNvPr id="3074" name="Picture 2">
            <a:extLst>
              <a:ext uri="{FF2B5EF4-FFF2-40B4-BE49-F238E27FC236}">
                <a16:creationId xmlns:a16="http://schemas.microsoft.com/office/drawing/2014/main" id="{26F29DCE-3C4C-F048-861C-3C20B2383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8228" y="0"/>
            <a:ext cx="51435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931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14" name="Google Shape;910;p48">
            <a:extLst>
              <a:ext uri="{FF2B5EF4-FFF2-40B4-BE49-F238E27FC236}">
                <a16:creationId xmlns:a16="http://schemas.microsoft.com/office/drawing/2014/main" id="{3214714F-7780-7340-B0D0-DF40B062B96C}"/>
              </a:ext>
            </a:extLst>
          </p:cNvPr>
          <p:cNvSpPr txBox="1">
            <a:spLocks/>
          </p:cNvSpPr>
          <p:nvPr/>
        </p:nvSpPr>
        <p:spPr>
          <a:xfrm>
            <a:off x="3279850" y="156742"/>
            <a:ext cx="3868800" cy="5343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1pPr>
            <a:lvl2pPr marL="914400" marR="0" lvl="1"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2pPr>
            <a:lvl3pPr marL="1371600" marR="0" lvl="2"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3pPr>
            <a:lvl4pPr marL="1828800" marR="0" lvl="3"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4pPr>
            <a:lvl5pPr marL="2286000" marR="0" lvl="4"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5pPr>
            <a:lvl6pPr marL="2743200" marR="0" lvl="5"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6pPr>
            <a:lvl7pPr marL="3200400" marR="0" lvl="6"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7pPr>
            <a:lvl8pPr marL="3657600" marR="0" lvl="7"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8pPr>
            <a:lvl9pPr marL="4114800" marR="0" lvl="8"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9pPr>
          </a:lstStyle>
          <a:p>
            <a:pPr marL="0" indent="0">
              <a:spcAft>
                <a:spcPts val="1200"/>
              </a:spcAft>
              <a:buFont typeface="Roboto"/>
              <a:buNone/>
            </a:pPr>
            <a:r>
              <a:rPr lang="en-US" sz="1400" b="1" dirty="0">
                <a:solidFill>
                  <a:schemeClr val="dk2"/>
                </a:solidFill>
              </a:rPr>
              <a:t>Create</a:t>
            </a:r>
            <a:endParaRPr lang="en-US" sz="1400" dirty="0">
              <a:solidFill>
                <a:schemeClr val="dk2"/>
              </a:solidFill>
            </a:endParaRPr>
          </a:p>
        </p:txBody>
      </p:sp>
      <p:sp>
        <p:nvSpPr>
          <p:cNvPr id="15" name="Google Shape;910;p48">
            <a:extLst>
              <a:ext uri="{FF2B5EF4-FFF2-40B4-BE49-F238E27FC236}">
                <a16:creationId xmlns:a16="http://schemas.microsoft.com/office/drawing/2014/main" id="{75FE6DDD-CC6D-F940-A812-707B15481847}"/>
              </a:ext>
            </a:extLst>
          </p:cNvPr>
          <p:cNvSpPr txBox="1">
            <a:spLocks/>
          </p:cNvSpPr>
          <p:nvPr/>
        </p:nvSpPr>
        <p:spPr>
          <a:xfrm>
            <a:off x="3279850" y="2283569"/>
            <a:ext cx="3868800" cy="534300"/>
          </a:xfrm>
          <a:prstGeom prst="rect">
            <a:avLst/>
          </a:prstGeom>
          <a:noFill/>
          <a:ln>
            <a:noFill/>
          </a:ln>
        </p:spPr>
        <p:txBody>
          <a:bodyPr spcFirstLastPara="1" wrap="square" lIns="91425" tIns="91425" rIns="91425" bIns="91425" anchor="ctr" anchorCtr="0">
            <a:normAutofit fontScale="92500" lnSpcReduction="20000"/>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1pPr>
            <a:lvl2pPr marL="914400" marR="0" lvl="1"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2pPr>
            <a:lvl3pPr marL="1371600" marR="0" lvl="2"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3pPr>
            <a:lvl4pPr marL="1828800" marR="0" lvl="3"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4pPr>
            <a:lvl5pPr marL="2286000" marR="0" lvl="4"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5pPr>
            <a:lvl6pPr marL="2743200" marR="0" lvl="5"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6pPr>
            <a:lvl7pPr marL="3200400" marR="0" lvl="6"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7pPr>
            <a:lvl8pPr marL="3657600" marR="0" lvl="7"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8pPr>
            <a:lvl9pPr marL="4114800" marR="0" lvl="8"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9pPr>
          </a:lstStyle>
          <a:p>
            <a:pPr marL="0" indent="0">
              <a:spcAft>
                <a:spcPts val="1200"/>
              </a:spcAft>
              <a:buFont typeface="Roboto"/>
              <a:buNone/>
            </a:pPr>
            <a:r>
              <a:rPr lang="en-US" sz="1400" b="1" dirty="0">
                <a:solidFill>
                  <a:schemeClr val="dk2"/>
                </a:solidFill>
              </a:rPr>
              <a:t>Influence</a:t>
            </a:r>
            <a:endParaRPr lang="en-US" sz="1400" dirty="0">
              <a:solidFill>
                <a:schemeClr val="dk2"/>
              </a:solidFill>
            </a:endParaRPr>
          </a:p>
        </p:txBody>
      </p:sp>
      <p:sp>
        <p:nvSpPr>
          <p:cNvPr id="899" name="Google Shape;899;p48"/>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Standard PMM Bill of Materials</a:t>
            </a:r>
            <a:endParaRPr/>
          </a:p>
        </p:txBody>
      </p:sp>
      <p:sp>
        <p:nvSpPr>
          <p:cNvPr id="900" name="Google Shape;900;p48"/>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The basic set of deliverables a product-focused Product Marketing Manager is responsible for.</a:t>
            </a:r>
            <a:endParaRPr dirty="0"/>
          </a:p>
          <a:p>
            <a:pPr marL="0" lvl="0" indent="0" algn="l" rtl="0">
              <a:spcBef>
                <a:spcPts val="1200"/>
              </a:spcBef>
              <a:spcAft>
                <a:spcPts val="1200"/>
              </a:spcAft>
              <a:buNone/>
            </a:pPr>
            <a:r>
              <a:rPr lang="en" dirty="0"/>
              <a:t>This is just a basic list - more items may come and go depending on the effort, project, and/or task.</a:t>
            </a:r>
            <a:endParaRPr dirty="0"/>
          </a:p>
        </p:txBody>
      </p:sp>
      <p:sp>
        <p:nvSpPr>
          <p:cNvPr id="901" name="Google Shape;901;p48"/>
          <p:cNvSpPr txBox="1">
            <a:spLocks noGrp="1"/>
          </p:cNvSpPr>
          <p:nvPr>
            <p:ph type="body" idx="1"/>
          </p:nvPr>
        </p:nvSpPr>
        <p:spPr>
          <a:xfrm>
            <a:off x="3615267" y="334551"/>
            <a:ext cx="41628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Product / Solution </a:t>
            </a:r>
            <a:r>
              <a:rPr lang="en" dirty="0">
                <a:solidFill>
                  <a:schemeClr val="dk2"/>
                </a:solidFill>
              </a:rPr>
              <a:t>messaging</a:t>
            </a:r>
            <a:endParaRPr dirty="0">
              <a:solidFill>
                <a:schemeClr val="dk2"/>
              </a:solidFill>
            </a:endParaRPr>
          </a:p>
        </p:txBody>
      </p:sp>
      <p:sp>
        <p:nvSpPr>
          <p:cNvPr id="902" name="Google Shape;902;p48"/>
          <p:cNvSpPr txBox="1">
            <a:spLocks noGrp="1"/>
          </p:cNvSpPr>
          <p:nvPr>
            <p:ph type="body" idx="1"/>
          </p:nvPr>
        </p:nvSpPr>
        <p:spPr>
          <a:xfrm>
            <a:off x="3615267" y="2771553"/>
            <a:ext cx="5302657"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All Core and Channel Sales Enablement</a:t>
            </a:r>
            <a:endParaRPr dirty="0">
              <a:solidFill>
                <a:schemeClr val="dk2"/>
              </a:solidFill>
            </a:endParaRPr>
          </a:p>
        </p:txBody>
      </p:sp>
      <p:sp>
        <p:nvSpPr>
          <p:cNvPr id="903" name="Google Shape;903;p48"/>
          <p:cNvSpPr txBox="1">
            <a:spLocks noGrp="1"/>
          </p:cNvSpPr>
          <p:nvPr>
            <p:ph type="body" idx="1"/>
          </p:nvPr>
        </p:nvSpPr>
        <p:spPr>
          <a:xfrm>
            <a:off x="3615267" y="683422"/>
            <a:ext cx="55287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GTM Strategy</a:t>
            </a:r>
            <a:r>
              <a:rPr lang="en" dirty="0">
                <a:solidFill>
                  <a:schemeClr val="dk2"/>
                </a:solidFill>
              </a:rPr>
              <a:t> - the single source of business growth truth</a:t>
            </a:r>
            <a:endParaRPr dirty="0">
              <a:solidFill>
                <a:schemeClr val="dk2"/>
              </a:solidFill>
            </a:endParaRPr>
          </a:p>
        </p:txBody>
      </p:sp>
      <p:sp>
        <p:nvSpPr>
          <p:cNvPr id="904" name="Google Shape;904;p48"/>
          <p:cNvSpPr txBox="1">
            <a:spLocks noGrp="1"/>
          </p:cNvSpPr>
          <p:nvPr>
            <p:ph type="body" idx="1"/>
          </p:nvPr>
        </p:nvSpPr>
        <p:spPr>
          <a:xfrm>
            <a:off x="3615267" y="1381164"/>
            <a:ext cx="55287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AR, PR, Influencer Presentations</a:t>
            </a:r>
            <a:r>
              <a:rPr lang="en" dirty="0">
                <a:solidFill>
                  <a:schemeClr val="dk2"/>
                </a:solidFill>
              </a:rPr>
              <a:t> product demonstrations (recorded)</a:t>
            </a:r>
            <a:endParaRPr dirty="0">
              <a:solidFill>
                <a:schemeClr val="dk2"/>
              </a:solidFill>
            </a:endParaRPr>
          </a:p>
        </p:txBody>
      </p:sp>
      <p:sp>
        <p:nvSpPr>
          <p:cNvPr id="905" name="Google Shape;905;p48"/>
          <p:cNvSpPr txBox="1">
            <a:spLocks noGrp="1"/>
          </p:cNvSpPr>
          <p:nvPr>
            <p:ph type="body" idx="1"/>
          </p:nvPr>
        </p:nvSpPr>
        <p:spPr>
          <a:xfrm>
            <a:off x="3615267" y="2456700"/>
            <a:ext cx="55287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Product Roadmap</a:t>
            </a:r>
            <a:endParaRPr dirty="0">
              <a:solidFill>
                <a:schemeClr val="dk2"/>
              </a:solidFill>
            </a:endParaRPr>
          </a:p>
        </p:txBody>
      </p:sp>
      <p:sp>
        <p:nvSpPr>
          <p:cNvPr id="906" name="Google Shape;906;p48"/>
          <p:cNvSpPr txBox="1">
            <a:spLocks noGrp="1"/>
          </p:cNvSpPr>
          <p:nvPr>
            <p:ph type="body" idx="1"/>
          </p:nvPr>
        </p:nvSpPr>
        <p:spPr>
          <a:xfrm>
            <a:off x="3615267" y="1032293"/>
            <a:ext cx="55287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Standard EBC Presentation </a:t>
            </a:r>
            <a:r>
              <a:rPr lang="en" dirty="0">
                <a:solidFill>
                  <a:schemeClr val="dk2"/>
                </a:solidFill>
              </a:rPr>
              <a:t>with customer-facing product roadmap</a:t>
            </a:r>
            <a:endParaRPr dirty="0">
              <a:solidFill>
                <a:schemeClr val="dk2"/>
              </a:solidFill>
            </a:endParaRPr>
          </a:p>
        </p:txBody>
      </p:sp>
      <p:sp>
        <p:nvSpPr>
          <p:cNvPr id="907" name="Google Shape;907;p48"/>
          <p:cNvSpPr txBox="1">
            <a:spLocks noGrp="1"/>
          </p:cNvSpPr>
          <p:nvPr>
            <p:ph type="body" idx="1"/>
          </p:nvPr>
        </p:nvSpPr>
        <p:spPr>
          <a:xfrm>
            <a:off x="3615267" y="3578401"/>
            <a:ext cx="41628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Launch Delta </a:t>
            </a:r>
            <a:r>
              <a:rPr lang="en" dirty="0">
                <a:solidFill>
                  <a:schemeClr val="dk2"/>
                </a:solidFill>
              </a:rPr>
              <a:t>messaging and copy blocks</a:t>
            </a:r>
            <a:endParaRPr dirty="0">
              <a:solidFill>
                <a:schemeClr val="dk2"/>
              </a:solidFill>
            </a:endParaRPr>
          </a:p>
        </p:txBody>
      </p:sp>
      <p:sp>
        <p:nvSpPr>
          <p:cNvPr id="908" name="Google Shape;908;p48"/>
          <p:cNvSpPr txBox="1">
            <a:spLocks noGrp="1"/>
          </p:cNvSpPr>
          <p:nvPr>
            <p:ph type="body" idx="1"/>
          </p:nvPr>
        </p:nvSpPr>
        <p:spPr>
          <a:xfrm>
            <a:off x="3615267" y="4015429"/>
            <a:ext cx="5528733" cy="534300"/>
          </a:xfrm>
          <a:prstGeom prst="rect">
            <a:avLst/>
          </a:prstGeom>
        </p:spPr>
        <p:txBody>
          <a:bodyPr spcFirstLastPara="1" wrap="square" lIns="91425" tIns="91425" rIns="91425" bIns="91425" anchor="ctr" anchorCtr="0">
            <a:normAutofit/>
          </a:bodyPr>
          <a:lstStyle/>
          <a:p>
            <a:pPr marL="114300" lvl="0" indent="-179070" algn="l" rtl="0">
              <a:spcBef>
                <a:spcPts val="0"/>
              </a:spcBef>
              <a:spcAft>
                <a:spcPts val="0"/>
              </a:spcAft>
              <a:buClr>
                <a:schemeClr val="dk2"/>
              </a:buClr>
              <a:buSzPct val="83606"/>
              <a:buChar char="●"/>
            </a:pPr>
            <a:r>
              <a:rPr lang="en" b="1" dirty="0">
                <a:solidFill>
                  <a:schemeClr val="dk2"/>
                </a:solidFill>
              </a:rPr>
              <a:t>Launch GTM Presentation</a:t>
            </a:r>
            <a:r>
              <a:rPr lang="en" dirty="0">
                <a:solidFill>
                  <a:schemeClr val="dk2"/>
                </a:solidFill>
              </a:rPr>
              <a:t> </a:t>
            </a:r>
            <a:r>
              <a:rPr lang="en" sz="600" dirty="0">
                <a:solidFill>
                  <a:schemeClr val="dk2"/>
                </a:solidFill>
              </a:rPr>
              <a:t>(visual representation of launch deliverables across all functions and on a delivery schedule)</a:t>
            </a:r>
            <a:endParaRPr sz="1000" dirty="0">
              <a:solidFill>
                <a:schemeClr val="dk2"/>
              </a:solidFill>
            </a:endParaRPr>
          </a:p>
        </p:txBody>
      </p:sp>
      <p:sp>
        <p:nvSpPr>
          <p:cNvPr id="909" name="Google Shape;909;p48"/>
          <p:cNvSpPr txBox="1">
            <a:spLocks noGrp="1"/>
          </p:cNvSpPr>
          <p:nvPr>
            <p:ph type="body" idx="1"/>
          </p:nvPr>
        </p:nvSpPr>
        <p:spPr>
          <a:xfrm>
            <a:off x="3615267" y="4452458"/>
            <a:ext cx="5528733"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dirty="0">
                <a:solidFill>
                  <a:schemeClr val="dk2"/>
                </a:solidFill>
              </a:rPr>
              <a:t>Launch Pitch Deck</a:t>
            </a:r>
            <a:r>
              <a:rPr lang="en" dirty="0">
                <a:solidFill>
                  <a:schemeClr val="dk2"/>
                </a:solidFill>
              </a:rPr>
              <a:t> </a:t>
            </a:r>
            <a:r>
              <a:rPr lang="en" sz="600" dirty="0">
                <a:solidFill>
                  <a:schemeClr val="dk2"/>
                </a:solidFill>
              </a:rPr>
              <a:t>(for analyst, press, influencer briefings and global spokesperson enablement and amplification)</a:t>
            </a:r>
            <a:endParaRPr sz="1000" dirty="0">
              <a:solidFill>
                <a:schemeClr val="dk2"/>
              </a:solidFill>
            </a:endParaRPr>
          </a:p>
        </p:txBody>
      </p:sp>
      <p:sp>
        <p:nvSpPr>
          <p:cNvPr id="910" name="Google Shape;910;p48"/>
          <p:cNvSpPr txBox="1">
            <a:spLocks noGrp="1"/>
          </p:cNvSpPr>
          <p:nvPr>
            <p:ph type="body" idx="1"/>
          </p:nvPr>
        </p:nvSpPr>
        <p:spPr>
          <a:xfrm>
            <a:off x="3279850" y="3356736"/>
            <a:ext cx="3868800" cy="534300"/>
          </a:xfrm>
          <a:prstGeom prst="rect">
            <a:avLst/>
          </a:prstGeom>
        </p:spPr>
        <p:txBody>
          <a:bodyPr spcFirstLastPara="1" wrap="square" lIns="91425" tIns="91425" rIns="91425" bIns="91425" anchor="ctr" anchorCtr="0">
            <a:normAutofit fontScale="92500" lnSpcReduction="20000"/>
          </a:bodyPr>
          <a:lstStyle/>
          <a:p>
            <a:pPr marL="0" lvl="0" indent="0" algn="l" rtl="0">
              <a:spcBef>
                <a:spcPts val="0"/>
              </a:spcBef>
              <a:spcAft>
                <a:spcPts val="1200"/>
              </a:spcAft>
              <a:buNone/>
            </a:pPr>
            <a:r>
              <a:rPr lang="en" sz="1400" b="1" dirty="0">
                <a:solidFill>
                  <a:schemeClr val="dk2"/>
                </a:solidFill>
              </a:rPr>
              <a:t>Special Items for Product / Solution Launches</a:t>
            </a:r>
            <a:endParaRPr sz="1400" dirty="0">
              <a:solidFill>
                <a:schemeClr val="dk2"/>
              </a:solidFill>
            </a:endParaRPr>
          </a:p>
        </p:txBody>
      </p:sp>
      <p:sp>
        <p:nvSpPr>
          <p:cNvPr id="16" name="Google Shape;904;p48">
            <a:extLst>
              <a:ext uri="{FF2B5EF4-FFF2-40B4-BE49-F238E27FC236}">
                <a16:creationId xmlns:a16="http://schemas.microsoft.com/office/drawing/2014/main" id="{6B8C9F14-9C77-574D-A2A7-A2F506945962}"/>
              </a:ext>
            </a:extLst>
          </p:cNvPr>
          <p:cNvSpPr txBox="1">
            <a:spLocks/>
          </p:cNvSpPr>
          <p:nvPr/>
        </p:nvSpPr>
        <p:spPr>
          <a:xfrm>
            <a:off x="3615267" y="1730035"/>
            <a:ext cx="5528733" cy="5343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1pPr>
            <a:lvl2pPr marL="914400" marR="0" lvl="1"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2pPr>
            <a:lvl3pPr marL="1371600" marR="0" lvl="2"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3pPr>
            <a:lvl4pPr marL="1828800" marR="0" lvl="3"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4pPr>
            <a:lvl5pPr marL="2286000" marR="0" lvl="4"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5pPr>
            <a:lvl6pPr marL="2743200" marR="0" lvl="5"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6pPr>
            <a:lvl7pPr marL="3200400" marR="0" lvl="6"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7pPr>
            <a:lvl8pPr marL="3657600" marR="0" lvl="7"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8pPr>
            <a:lvl9pPr marL="4114800" marR="0" lvl="8" indent="-304800" algn="l" rtl="0">
              <a:lnSpc>
                <a:spcPct val="115000"/>
              </a:lnSpc>
              <a:spcBef>
                <a:spcPts val="0"/>
              </a:spcBef>
              <a:spcAft>
                <a:spcPts val="0"/>
              </a:spcAft>
              <a:buClr>
                <a:schemeClr val="lt1"/>
              </a:buClr>
              <a:buSzPts val="1200"/>
              <a:buFont typeface="Roboto"/>
              <a:buChar char="■"/>
              <a:defRPr sz="1200" b="0" i="0" u="none" strike="noStrike" cap="none">
                <a:solidFill>
                  <a:schemeClr val="lt1"/>
                </a:solidFill>
                <a:latin typeface="Roboto"/>
                <a:ea typeface="Roboto"/>
                <a:cs typeface="Roboto"/>
                <a:sym typeface="Roboto"/>
              </a:defRPr>
            </a:lvl9pPr>
          </a:lstStyle>
          <a:p>
            <a:pPr marL="114300" indent="-190500">
              <a:buClr>
                <a:schemeClr val="dk2"/>
              </a:buClr>
            </a:pPr>
            <a:r>
              <a:rPr lang="en-US" b="1" dirty="0">
                <a:solidFill>
                  <a:schemeClr val="dk2"/>
                </a:solidFill>
              </a:rPr>
              <a:t>Persona and Competitive Research</a:t>
            </a:r>
            <a:endParaRPr lang="en-US" dirty="0">
              <a:solidFill>
                <a:schemeClr val="dk2"/>
              </a:solidFill>
            </a:endParaRPr>
          </a:p>
        </p:txBody>
      </p:sp>
    </p:spTree>
    <p:extLst>
      <p:ext uri="{BB962C8B-B14F-4D97-AF65-F5344CB8AC3E}">
        <p14:creationId xmlns:p14="http://schemas.microsoft.com/office/powerpoint/2010/main" val="467637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22"/>
          <p:cNvPicPr preferRelativeResize="0">
            <a:picLocks noChangeAspect="1"/>
          </p:cNvPicPr>
          <p:nvPr/>
        </p:nvPicPr>
        <p:blipFill>
          <a:blip r:embed="rId3">
            <a:alphaModFix/>
          </a:blip>
          <a:stretch>
            <a:fillRect/>
          </a:stretch>
        </p:blipFill>
        <p:spPr>
          <a:xfrm>
            <a:off x="7536895" y="709749"/>
            <a:ext cx="1365055" cy="2039112"/>
          </a:xfrm>
          <a:prstGeom prst="rect">
            <a:avLst/>
          </a:prstGeom>
          <a:noFill/>
          <a:ln w="9525" cap="flat" cmpd="sng">
            <a:solidFill>
              <a:schemeClr val="lt2"/>
            </a:solidFill>
            <a:prstDash val="solid"/>
            <a:round/>
            <a:headEnd type="none" w="sm" len="sm"/>
            <a:tailEnd type="none" w="sm" len="sm"/>
          </a:ln>
        </p:spPr>
      </p:pic>
      <p:pic>
        <p:nvPicPr>
          <p:cNvPr id="207" name="Google Shape;207;p22"/>
          <p:cNvPicPr preferRelativeResize="0"/>
          <p:nvPr/>
        </p:nvPicPr>
        <p:blipFill>
          <a:blip r:embed="rId4">
            <a:alphaModFix/>
          </a:blip>
          <a:stretch>
            <a:fillRect/>
          </a:stretch>
        </p:blipFill>
        <p:spPr>
          <a:xfrm>
            <a:off x="2863938" y="709749"/>
            <a:ext cx="1334691" cy="2039113"/>
          </a:xfrm>
          <a:prstGeom prst="rect">
            <a:avLst/>
          </a:prstGeom>
          <a:noFill/>
          <a:ln w="9525" cap="flat" cmpd="sng">
            <a:solidFill>
              <a:schemeClr val="lt2"/>
            </a:solidFill>
            <a:prstDash val="solid"/>
            <a:round/>
            <a:headEnd type="none" w="sm" len="sm"/>
            <a:tailEnd type="none" w="sm" len="sm"/>
          </a:ln>
        </p:spPr>
      </p:pic>
      <p:pic>
        <p:nvPicPr>
          <p:cNvPr id="208" name="Google Shape;208;p22"/>
          <p:cNvPicPr preferRelativeResize="0"/>
          <p:nvPr/>
        </p:nvPicPr>
        <p:blipFill>
          <a:blip r:embed="rId5">
            <a:alphaModFix/>
          </a:blip>
          <a:stretch>
            <a:fillRect/>
          </a:stretch>
        </p:blipFill>
        <p:spPr>
          <a:xfrm>
            <a:off x="5971252" y="709749"/>
            <a:ext cx="1362498" cy="2039113"/>
          </a:xfrm>
          <a:prstGeom prst="rect">
            <a:avLst/>
          </a:prstGeom>
          <a:noFill/>
          <a:ln w="9525" cap="flat" cmpd="sng">
            <a:solidFill>
              <a:schemeClr val="lt2"/>
            </a:solidFill>
            <a:prstDash val="solid"/>
            <a:round/>
            <a:headEnd type="none" w="sm" len="sm"/>
            <a:tailEnd type="none" w="sm" len="sm"/>
          </a:ln>
        </p:spPr>
      </p:pic>
      <p:pic>
        <p:nvPicPr>
          <p:cNvPr id="210" name="Google Shape;210;p22"/>
          <p:cNvPicPr preferRelativeResize="0"/>
          <p:nvPr/>
        </p:nvPicPr>
        <p:blipFill>
          <a:blip r:embed="rId6">
            <a:alphaModFix/>
          </a:blip>
          <a:stretch>
            <a:fillRect/>
          </a:stretch>
        </p:blipFill>
        <p:spPr>
          <a:xfrm>
            <a:off x="7502531" y="2950812"/>
            <a:ext cx="1399571" cy="2039112"/>
          </a:xfrm>
          <a:prstGeom prst="rect">
            <a:avLst/>
          </a:prstGeom>
          <a:noFill/>
          <a:ln w="9525" cap="flat" cmpd="sng">
            <a:solidFill>
              <a:schemeClr val="lt2"/>
            </a:solidFill>
            <a:prstDash val="solid"/>
            <a:round/>
            <a:headEnd type="none" w="sm" len="sm"/>
            <a:tailEnd type="none" w="sm" len="sm"/>
          </a:ln>
        </p:spPr>
      </p:pic>
      <p:pic>
        <p:nvPicPr>
          <p:cNvPr id="211" name="Google Shape;211;p22"/>
          <p:cNvPicPr preferRelativeResize="0"/>
          <p:nvPr/>
        </p:nvPicPr>
        <p:blipFill>
          <a:blip r:embed="rId7">
            <a:alphaModFix/>
          </a:blip>
          <a:stretch>
            <a:fillRect/>
          </a:stretch>
        </p:blipFill>
        <p:spPr>
          <a:xfrm>
            <a:off x="2853846" y="2950812"/>
            <a:ext cx="1354876" cy="2040300"/>
          </a:xfrm>
          <a:prstGeom prst="rect">
            <a:avLst/>
          </a:prstGeom>
          <a:noFill/>
          <a:ln w="9525" cap="flat" cmpd="sng">
            <a:solidFill>
              <a:schemeClr val="lt2"/>
            </a:solidFill>
            <a:prstDash val="solid"/>
            <a:round/>
            <a:headEnd type="none" w="sm" len="sm"/>
            <a:tailEnd type="none" w="sm" len="sm"/>
          </a:ln>
        </p:spPr>
      </p:pic>
      <p:sp>
        <p:nvSpPr>
          <p:cNvPr id="212" name="Google Shape;212;p22"/>
          <p:cNvSpPr txBox="1">
            <a:spLocks noGrp="1"/>
          </p:cNvSpPr>
          <p:nvPr>
            <p:ph type="title" idx="4294967295"/>
          </p:nvPr>
        </p:nvSpPr>
        <p:spPr>
          <a:xfrm>
            <a:off x="132050" y="0"/>
            <a:ext cx="8769900" cy="6450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solidFill>
                  <a:schemeClr val="accent5"/>
                </a:solidFill>
              </a:rPr>
              <a:t>Typical PMM Go-To Reference Materials</a:t>
            </a:r>
            <a:endParaRPr dirty="0">
              <a:solidFill>
                <a:schemeClr val="accent5"/>
              </a:solidFill>
            </a:endParaRPr>
          </a:p>
        </p:txBody>
      </p:sp>
      <p:pic>
        <p:nvPicPr>
          <p:cNvPr id="2052" name="Picture 4" descr="Amazon.com: The Structure of Story: How to Write Great Stories by Focusing  on What Really Matters (Kiingo Storytelling Book 1) eBook : Hartmann, Ross,  Chilton, Esther: Books">
            <a:extLst>
              <a:ext uri="{FF2B5EF4-FFF2-40B4-BE49-F238E27FC236}">
                <a16:creationId xmlns:a16="http://schemas.microsoft.com/office/drawing/2014/main" id="{5CEB5383-7DCF-4E4C-8F29-046B395D28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4324" y="2950812"/>
            <a:ext cx="1276333" cy="203911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Visual Meetings: How Graphics, Sticky Notes and Idea Mapping Can Transform  Group Productivity- Buy Online in Cayman Islands at cayman.desertcart.com.  ProductId : 7904427.">
            <a:extLst>
              <a:ext uri="{FF2B5EF4-FFF2-40B4-BE49-F238E27FC236}">
                <a16:creationId xmlns:a16="http://schemas.microsoft.com/office/drawing/2014/main" id="{1A7B28AA-40F6-4642-96AB-C06D7253C83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00596" y="2950812"/>
            <a:ext cx="1441854" cy="203911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mazon.com: Buyer Personas: How to Gain Insight into your Customer's  Expectations, Align your Marketing Strategies, and Win More Business eBook  : Revella, Adele: Kindle Store">
            <a:extLst>
              <a:ext uri="{FF2B5EF4-FFF2-40B4-BE49-F238E27FC236}">
                <a16:creationId xmlns:a16="http://schemas.microsoft.com/office/drawing/2014/main" id="{D39441C3-4580-DE40-B373-803E13BFA4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01775" y="709749"/>
            <a:ext cx="1366331" cy="203911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mazon.com: slide:ology: The Art and Science of Creating Great  Presentations: 8601300354712: Duarte, Nancy: Books">
            <a:extLst>
              <a:ext uri="{FF2B5EF4-FFF2-40B4-BE49-F238E27FC236}">
                <a16:creationId xmlns:a16="http://schemas.microsoft.com/office/drawing/2014/main" id="{ECB9B152-6E15-7E42-B9C2-47C8EE60108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976" y="709749"/>
            <a:ext cx="2030929" cy="203911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esonate: Present Visual Stories that Transform Audiences by Nancy Duarte">
            <a:extLst>
              <a:ext uri="{FF2B5EF4-FFF2-40B4-BE49-F238E27FC236}">
                <a16:creationId xmlns:a16="http://schemas.microsoft.com/office/drawing/2014/main" id="{9511CAF2-6EA3-6941-BFD3-9C4A722D30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6535" y="2950812"/>
            <a:ext cx="1747810" cy="2039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Questions</a:t>
            </a:r>
            <a:endParaRPr/>
          </a:p>
        </p:txBody>
      </p:sp>
      <p:sp>
        <p:nvSpPr>
          <p:cNvPr id="225" name="Google Shape;225;p24"/>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t>I know you must have some.</a:t>
            </a:r>
            <a:r>
              <a:rPr lang="en" sz="1400" b="1"/>
              <a:t> </a:t>
            </a:r>
            <a:r>
              <a:rPr lang="en" sz="1400"/>
              <a:t>If you don’t, I get to ask you something</a:t>
            </a:r>
            <a:endParaRPr sz="1400"/>
          </a:p>
        </p:txBody>
      </p:sp>
      <p:pic>
        <p:nvPicPr>
          <p:cNvPr id="226" name="Google Shape;226;p24"/>
          <p:cNvPicPr preferRelativeResize="0"/>
          <p:nvPr/>
        </p:nvPicPr>
        <p:blipFill rotWithShape="1">
          <a:blip r:embed="rId3">
            <a:alphaModFix/>
          </a:blip>
          <a:srcRect l="11942" r="11942"/>
          <a:stretch/>
        </p:blipFill>
        <p:spPr>
          <a:xfrm>
            <a:off x="3274676" y="0"/>
            <a:ext cx="5869325" cy="514350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1659467"/>
            <a:ext cx="8222100" cy="178108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accent6"/>
                </a:solidFill>
              </a:rPr>
              <a:t>How Most Companies </a:t>
            </a:r>
            <a:r>
              <a:rPr lang="en" b="1" dirty="0">
                <a:solidFill>
                  <a:schemeClr val="bg1"/>
                </a:solidFill>
              </a:rPr>
              <a:t>Approach Product Marketing</a:t>
            </a:r>
            <a:endParaRPr b="1"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3B4826DF-7C8B-5143-A403-95FAFAEA1BE2}"/>
              </a:ext>
            </a:extLst>
          </p:cNvPr>
          <p:cNvCxnSpPr>
            <a:cxnSpLocks/>
            <a:stCxn id="4" idx="3"/>
            <a:endCxn id="9" idx="1"/>
          </p:cNvCxnSpPr>
          <p:nvPr/>
        </p:nvCxnSpPr>
        <p:spPr>
          <a:xfrm flipV="1">
            <a:off x="1717589" y="3336324"/>
            <a:ext cx="554302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Google Shape;7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dirty="0"/>
              <a:t>How Most </a:t>
            </a:r>
            <a:r>
              <a:rPr lang="en-US" dirty="0"/>
              <a:t>Companies </a:t>
            </a:r>
            <a:r>
              <a:rPr lang="en" dirty="0"/>
              <a:t>Do PMM</a:t>
            </a:r>
            <a:endParaRPr dirty="0"/>
          </a:p>
        </p:txBody>
      </p:sp>
      <p:sp>
        <p:nvSpPr>
          <p:cNvPr id="4" name="Rounded Rectangle 3">
            <a:extLst>
              <a:ext uri="{FF2B5EF4-FFF2-40B4-BE49-F238E27FC236}">
                <a16:creationId xmlns:a16="http://schemas.microsoft.com/office/drawing/2014/main" id="{455B7906-1308-FB4C-AC16-2D694B06AB5C}"/>
              </a:ext>
            </a:extLst>
          </p:cNvPr>
          <p:cNvSpPr/>
          <p:nvPr/>
        </p:nvSpPr>
        <p:spPr>
          <a:xfrm>
            <a:off x="284205" y="2953265"/>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Build Product or Solution</a:t>
            </a:r>
          </a:p>
        </p:txBody>
      </p:sp>
      <p:sp>
        <p:nvSpPr>
          <p:cNvPr id="7" name="Rounded Rectangle 6">
            <a:extLst>
              <a:ext uri="{FF2B5EF4-FFF2-40B4-BE49-F238E27FC236}">
                <a16:creationId xmlns:a16="http://schemas.microsoft.com/office/drawing/2014/main" id="{21EFF420-C126-234A-99F2-03C27C4F0E9E}"/>
              </a:ext>
            </a:extLst>
          </p:cNvPr>
          <p:cNvSpPr/>
          <p:nvPr/>
        </p:nvSpPr>
        <p:spPr>
          <a:xfrm>
            <a:off x="2413685" y="1846785"/>
            <a:ext cx="2010033" cy="3157701"/>
          </a:xfrm>
          <a:prstGeom prst="roundRect">
            <a:avLst>
              <a:gd name="adj" fmla="val 10633"/>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1" u="sng" dirty="0"/>
              <a:t>Figure Out:</a:t>
            </a:r>
          </a:p>
          <a:p>
            <a:pPr marL="285750" indent="-285750">
              <a:buClr>
                <a:schemeClr val="bg1"/>
              </a:buClr>
              <a:buFont typeface="Arial" panose="020B0604020202020204" pitchFamily="34" charset="0"/>
              <a:buChar char="•"/>
            </a:pPr>
            <a:r>
              <a:rPr lang="en-US" dirty="0"/>
              <a:t>Persona</a:t>
            </a:r>
          </a:p>
          <a:p>
            <a:pPr marL="285750" indent="-285750">
              <a:buClr>
                <a:schemeClr val="bg1"/>
              </a:buClr>
              <a:buFont typeface="Arial" panose="020B0604020202020204" pitchFamily="34" charset="0"/>
              <a:buChar char="•"/>
            </a:pPr>
            <a:r>
              <a:rPr lang="en-US" dirty="0"/>
              <a:t>Use-Cases</a:t>
            </a:r>
          </a:p>
          <a:p>
            <a:pPr marL="285750" indent="-285750">
              <a:buClr>
                <a:schemeClr val="bg1"/>
              </a:buClr>
              <a:buFont typeface="Arial" panose="020B0604020202020204" pitchFamily="34" charset="0"/>
              <a:buChar char="•"/>
            </a:pPr>
            <a:r>
              <a:rPr lang="en-US" dirty="0"/>
              <a:t>Value Prop</a:t>
            </a:r>
          </a:p>
          <a:p>
            <a:pPr marL="285750" indent="-285750">
              <a:buClr>
                <a:schemeClr val="bg1"/>
              </a:buClr>
              <a:buFont typeface="Arial" panose="020B0604020202020204" pitchFamily="34" charset="0"/>
              <a:buChar char="•"/>
            </a:pPr>
            <a:r>
              <a:rPr lang="en-US" dirty="0"/>
              <a:t>Competition</a:t>
            </a:r>
          </a:p>
          <a:p>
            <a:pPr marL="285750" indent="-285750">
              <a:buClr>
                <a:schemeClr val="bg1"/>
              </a:buClr>
              <a:buFont typeface="Arial" panose="020B0604020202020204" pitchFamily="34" charset="0"/>
              <a:buChar char="•"/>
            </a:pPr>
            <a:r>
              <a:rPr lang="en-US" dirty="0"/>
              <a:t>Feature Benefits</a:t>
            </a:r>
          </a:p>
          <a:p>
            <a:pPr marL="285750" indent="-285750">
              <a:buClr>
                <a:schemeClr val="bg1"/>
              </a:buClr>
              <a:buFont typeface="Arial" panose="020B0604020202020204" pitchFamily="34" charset="0"/>
              <a:buChar char="•"/>
            </a:pPr>
            <a:r>
              <a:rPr lang="en-US" dirty="0"/>
              <a:t>Positioning</a:t>
            </a:r>
          </a:p>
          <a:p>
            <a:pPr marL="285750" indent="-285750">
              <a:buClr>
                <a:schemeClr val="bg1"/>
              </a:buClr>
              <a:buFont typeface="Arial" panose="020B0604020202020204" pitchFamily="34" charset="0"/>
              <a:buChar char="•"/>
            </a:pPr>
            <a:r>
              <a:rPr lang="en-US" dirty="0"/>
              <a:t>Target Markets</a:t>
            </a:r>
          </a:p>
          <a:p>
            <a:pPr marL="285750" indent="-285750">
              <a:buClr>
                <a:schemeClr val="bg1"/>
              </a:buClr>
              <a:buFont typeface="Arial" panose="020B0604020202020204" pitchFamily="34" charset="0"/>
              <a:buChar char="•"/>
            </a:pPr>
            <a:r>
              <a:rPr lang="en-US" dirty="0"/>
              <a:t>Messaging</a:t>
            </a:r>
          </a:p>
          <a:p>
            <a:pPr marL="285750" indent="-285750">
              <a:buClr>
                <a:schemeClr val="bg1"/>
              </a:buClr>
              <a:buFont typeface="Arial" panose="020B0604020202020204" pitchFamily="34" charset="0"/>
              <a:buChar char="•"/>
            </a:pPr>
            <a:r>
              <a:rPr lang="en-US" dirty="0"/>
              <a:t>Buyer’s Journey</a:t>
            </a:r>
          </a:p>
        </p:txBody>
      </p:sp>
      <p:sp>
        <p:nvSpPr>
          <p:cNvPr id="8" name="Rounded Rectangle 7">
            <a:extLst>
              <a:ext uri="{FF2B5EF4-FFF2-40B4-BE49-F238E27FC236}">
                <a16:creationId xmlns:a16="http://schemas.microsoft.com/office/drawing/2014/main" id="{5D86FC76-ED9F-7545-87E4-C9C97DC4133F}"/>
              </a:ext>
            </a:extLst>
          </p:cNvPr>
          <p:cNvSpPr/>
          <p:nvPr/>
        </p:nvSpPr>
        <p:spPr>
          <a:xfrm>
            <a:off x="5218670" y="2953264"/>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Launch Product or Solution</a:t>
            </a:r>
          </a:p>
        </p:txBody>
      </p:sp>
      <p:sp>
        <p:nvSpPr>
          <p:cNvPr id="9" name="Rounded Rectangle 8">
            <a:extLst>
              <a:ext uri="{FF2B5EF4-FFF2-40B4-BE49-F238E27FC236}">
                <a16:creationId xmlns:a16="http://schemas.microsoft.com/office/drawing/2014/main" id="{E991E410-B271-F949-97E2-0BDAA87BA8C2}"/>
              </a:ext>
            </a:extLst>
          </p:cNvPr>
          <p:cNvSpPr/>
          <p:nvPr/>
        </p:nvSpPr>
        <p:spPr>
          <a:xfrm>
            <a:off x="7260616" y="2953264"/>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Market Product or Solution</a:t>
            </a:r>
          </a:p>
        </p:txBody>
      </p:sp>
    </p:spTree>
    <p:extLst>
      <p:ext uri="{BB962C8B-B14F-4D97-AF65-F5344CB8AC3E}">
        <p14:creationId xmlns:p14="http://schemas.microsoft.com/office/powerpoint/2010/main" val="2654936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1659467"/>
            <a:ext cx="8222100" cy="1781083"/>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accent6"/>
                </a:solidFill>
              </a:rPr>
              <a:t>How SUCCESSFUL Companies </a:t>
            </a:r>
            <a:r>
              <a:rPr lang="en" b="1" dirty="0">
                <a:solidFill>
                  <a:schemeClr val="bg1"/>
                </a:solidFill>
              </a:rPr>
              <a:t>Approach Product Marketing</a:t>
            </a:r>
            <a:endParaRPr b="1" dirty="0">
              <a:solidFill>
                <a:schemeClr val="bg1"/>
              </a:solidFill>
            </a:endParaRPr>
          </a:p>
        </p:txBody>
      </p:sp>
    </p:spTree>
    <p:extLst>
      <p:ext uri="{BB962C8B-B14F-4D97-AF65-F5344CB8AC3E}">
        <p14:creationId xmlns:p14="http://schemas.microsoft.com/office/powerpoint/2010/main" val="3131956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3B4826DF-7C8B-5143-A403-95FAFAEA1BE2}"/>
              </a:ext>
            </a:extLst>
          </p:cNvPr>
          <p:cNvCxnSpPr>
            <a:cxnSpLocks/>
            <a:endCxn id="9" idx="1"/>
          </p:cNvCxnSpPr>
          <p:nvPr/>
        </p:nvCxnSpPr>
        <p:spPr>
          <a:xfrm flipV="1">
            <a:off x="2285999" y="3336324"/>
            <a:ext cx="527117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Google Shape;76;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t>What Great Product Marketing Looks Like</a:t>
            </a:r>
            <a:endParaRPr dirty="0"/>
          </a:p>
        </p:txBody>
      </p:sp>
      <p:sp>
        <p:nvSpPr>
          <p:cNvPr id="4" name="Rounded Rectangle 3">
            <a:extLst>
              <a:ext uri="{FF2B5EF4-FFF2-40B4-BE49-F238E27FC236}">
                <a16:creationId xmlns:a16="http://schemas.microsoft.com/office/drawing/2014/main" id="{455B7906-1308-FB4C-AC16-2D694B06AB5C}"/>
              </a:ext>
            </a:extLst>
          </p:cNvPr>
          <p:cNvSpPr/>
          <p:nvPr/>
        </p:nvSpPr>
        <p:spPr>
          <a:xfrm>
            <a:off x="2623231" y="2953265"/>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Build Product or Solution</a:t>
            </a:r>
          </a:p>
        </p:txBody>
      </p:sp>
      <p:sp>
        <p:nvSpPr>
          <p:cNvPr id="7" name="Rounded Rectangle 6">
            <a:extLst>
              <a:ext uri="{FF2B5EF4-FFF2-40B4-BE49-F238E27FC236}">
                <a16:creationId xmlns:a16="http://schemas.microsoft.com/office/drawing/2014/main" id="{21EFF420-C126-234A-99F2-03C27C4F0E9E}"/>
              </a:ext>
            </a:extLst>
          </p:cNvPr>
          <p:cNvSpPr/>
          <p:nvPr/>
        </p:nvSpPr>
        <p:spPr>
          <a:xfrm>
            <a:off x="275966" y="1846785"/>
            <a:ext cx="2010033" cy="3157701"/>
          </a:xfrm>
          <a:prstGeom prst="roundRect">
            <a:avLst>
              <a:gd name="adj" fmla="val 10633"/>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b="1" u="sng" dirty="0"/>
              <a:t>Figure Out:</a:t>
            </a:r>
          </a:p>
          <a:p>
            <a:pPr marL="285750" indent="-285750">
              <a:buClr>
                <a:schemeClr val="bg1"/>
              </a:buClr>
              <a:buFont typeface="Arial" panose="020B0604020202020204" pitchFamily="34" charset="0"/>
              <a:buChar char="•"/>
            </a:pPr>
            <a:r>
              <a:rPr lang="en-US" dirty="0"/>
              <a:t>Persona</a:t>
            </a:r>
          </a:p>
          <a:p>
            <a:pPr marL="285750" indent="-285750">
              <a:buClr>
                <a:schemeClr val="bg1"/>
              </a:buClr>
              <a:buFont typeface="Arial" panose="020B0604020202020204" pitchFamily="34" charset="0"/>
              <a:buChar char="•"/>
            </a:pPr>
            <a:r>
              <a:rPr lang="en-US" dirty="0"/>
              <a:t>Use-Cases</a:t>
            </a:r>
          </a:p>
          <a:p>
            <a:pPr marL="285750" indent="-285750">
              <a:buClr>
                <a:schemeClr val="bg1"/>
              </a:buClr>
              <a:buFont typeface="Arial" panose="020B0604020202020204" pitchFamily="34" charset="0"/>
              <a:buChar char="•"/>
            </a:pPr>
            <a:r>
              <a:rPr lang="en-US" dirty="0"/>
              <a:t>Value Prop</a:t>
            </a:r>
          </a:p>
          <a:p>
            <a:pPr marL="285750" indent="-285750">
              <a:buClr>
                <a:schemeClr val="bg1"/>
              </a:buClr>
              <a:buFont typeface="Arial" panose="020B0604020202020204" pitchFamily="34" charset="0"/>
              <a:buChar char="•"/>
            </a:pPr>
            <a:r>
              <a:rPr lang="en-US" dirty="0"/>
              <a:t>Competition</a:t>
            </a:r>
          </a:p>
          <a:p>
            <a:pPr marL="285750" indent="-285750">
              <a:buClr>
                <a:schemeClr val="bg1"/>
              </a:buClr>
              <a:buFont typeface="Arial" panose="020B0604020202020204" pitchFamily="34" charset="0"/>
              <a:buChar char="•"/>
            </a:pPr>
            <a:r>
              <a:rPr lang="en-US" dirty="0"/>
              <a:t>Feature Benefits</a:t>
            </a:r>
          </a:p>
          <a:p>
            <a:pPr marL="285750" indent="-285750">
              <a:buClr>
                <a:schemeClr val="bg1"/>
              </a:buClr>
              <a:buFont typeface="Arial" panose="020B0604020202020204" pitchFamily="34" charset="0"/>
              <a:buChar char="•"/>
            </a:pPr>
            <a:r>
              <a:rPr lang="en-US" dirty="0"/>
              <a:t>Positioning</a:t>
            </a:r>
          </a:p>
          <a:p>
            <a:pPr marL="285750" indent="-285750">
              <a:buClr>
                <a:schemeClr val="bg1"/>
              </a:buClr>
              <a:buFont typeface="Arial" panose="020B0604020202020204" pitchFamily="34" charset="0"/>
              <a:buChar char="•"/>
            </a:pPr>
            <a:r>
              <a:rPr lang="en-US" dirty="0"/>
              <a:t>Target Markets</a:t>
            </a:r>
          </a:p>
          <a:p>
            <a:pPr marL="285750" indent="-285750">
              <a:buClr>
                <a:schemeClr val="bg1"/>
              </a:buClr>
              <a:buFont typeface="Arial" panose="020B0604020202020204" pitchFamily="34" charset="0"/>
              <a:buChar char="•"/>
            </a:pPr>
            <a:r>
              <a:rPr lang="en-US" dirty="0"/>
              <a:t>Messaging</a:t>
            </a:r>
          </a:p>
          <a:p>
            <a:pPr marL="285750" indent="-285750">
              <a:buClr>
                <a:schemeClr val="bg1"/>
              </a:buClr>
              <a:buFont typeface="Arial" panose="020B0604020202020204" pitchFamily="34" charset="0"/>
              <a:buChar char="•"/>
            </a:pPr>
            <a:r>
              <a:rPr lang="en-US" dirty="0"/>
              <a:t>Buyer’s Journey</a:t>
            </a:r>
          </a:p>
        </p:txBody>
      </p:sp>
      <p:sp>
        <p:nvSpPr>
          <p:cNvPr id="8" name="Rounded Rectangle 7">
            <a:extLst>
              <a:ext uri="{FF2B5EF4-FFF2-40B4-BE49-F238E27FC236}">
                <a16:creationId xmlns:a16="http://schemas.microsoft.com/office/drawing/2014/main" id="{5D86FC76-ED9F-7545-87E4-C9C97DC4133F}"/>
              </a:ext>
            </a:extLst>
          </p:cNvPr>
          <p:cNvSpPr/>
          <p:nvPr/>
        </p:nvSpPr>
        <p:spPr>
          <a:xfrm>
            <a:off x="4267880" y="2953264"/>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u="sng" dirty="0"/>
              <a:t>Figure Out: </a:t>
            </a:r>
            <a:r>
              <a:rPr lang="en-US" dirty="0"/>
              <a:t>Messaging around “Do”</a:t>
            </a:r>
          </a:p>
        </p:txBody>
      </p:sp>
      <p:sp>
        <p:nvSpPr>
          <p:cNvPr id="9" name="Rounded Rectangle 8">
            <a:extLst>
              <a:ext uri="{FF2B5EF4-FFF2-40B4-BE49-F238E27FC236}">
                <a16:creationId xmlns:a16="http://schemas.microsoft.com/office/drawing/2014/main" id="{E991E410-B271-F949-97E2-0BDAA87BA8C2}"/>
              </a:ext>
            </a:extLst>
          </p:cNvPr>
          <p:cNvSpPr/>
          <p:nvPr/>
        </p:nvSpPr>
        <p:spPr>
          <a:xfrm>
            <a:off x="7557178" y="2953264"/>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Market Product or Solution</a:t>
            </a:r>
          </a:p>
        </p:txBody>
      </p:sp>
      <p:sp>
        <p:nvSpPr>
          <p:cNvPr id="10" name="Rounded Rectangle 9">
            <a:extLst>
              <a:ext uri="{FF2B5EF4-FFF2-40B4-BE49-F238E27FC236}">
                <a16:creationId xmlns:a16="http://schemas.microsoft.com/office/drawing/2014/main" id="{6ED86F86-28F0-1042-9040-D880149B0ABE}"/>
              </a:ext>
            </a:extLst>
          </p:cNvPr>
          <p:cNvSpPr/>
          <p:nvPr/>
        </p:nvSpPr>
        <p:spPr>
          <a:xfrm>
            <a:off x="5912529" y="2953264"/>
            <a:ext cx="1433384" cy="766119"/>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Launch Product or Solution</a:t>
            </a:r>
          </a:p>
        </p:txBody>
      </p:sp>
    </p:spTree>
    <p:extLst>
      <p:ext uri="{BB962C8B-B14F-4D97-AF65-F5344CB8AC3E}">
        <p14:creationId xmlns:p14="http://schemas.microsoft.com/office/powerpoint/2010/main" val="918344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1275072"/>
            <a:ext cx="8222100" cy="259335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bg1"/>
                </a:solidFill>
              </a:rPr>
              <a:t>So How is </a:t>
            </a:r>
            <a:r>
              <a:rPr lang="en" b="1" dirty="0">
                <a:solidFill>
                  <a:schemeClr val="accent6"/>
                </a:solidFill>
              </a:rPr>
              <a:t>Product Marketing </a:t>
            </a:r>
            <a:r>
              <a:rPr lang="en" b="1" dirty="0">
                <a:solidFill>
                  <a:schemeClr val="bg1"/>
                </a:solidFill>
              </a:rPr>
              <a:t>different</a:t>
            </a:r>
            <a:r>
              <a:rPr lang="en" b="1" dirty="0">
                <a:solidFill>
                  <a:schemeClr val="accent6"/>
                </a:solidFill>
              </a:rPr>
              <a:t> </a:t>
            </a:r>
            <a:r>
              <a:rPr lang="en" b="1" dirty="0">
                <a:solidFill>
                  <a:schemeClr val="bg1"/>
                </a:solidFill>
              </a:rPr>
              <a:t>Compared to Other Functions</a:t>
            </a:r>
            <a:endParaRPr b="1" dirty="0">
              <a:solidFill>
                <a:schemeClr val="bg1"/>
              </a:solidFill>
            </a:endParaRPr>
          </a:p>
        </p:txBody>
      </p:sp>
    </p:spTree>
    <p:extLst>
      <p:ext uri="{BB962C8B-B14F-4D97-AF65-F5344CB8AC3E}">
        <p14:creationId xmlns:p14="http://schemas.microsoft.com/office/powerpoint/2010/main" val="1377808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EB8B950E-7D03-0244-8FD9-751E241247AB}"/>
              </a:ext>
            </a:extLst>
          </p:cNvPr>
          <p:cNvSpPr/>
          <p:nvPr/>
        </p:nvSpPr>
        <p:spPr>
          <a:xfrm>
            <a:off x="313265" y="1085918"/>
            <a:ext cx="3158066" cy="1325881"/>
          </a:xfrm>
          <a:prstGeom prst="homePlat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09538">
              <a:buClr>
                <a:schemeClr val="bg2"/>
              </a:buClr>
              <a:buFont typeface="Arial" panose="020B0604020202020204" pitchFamily="34" charset="0"/>
              <a:buChar char="•"/>
            </a:pPr>
            <a:r>
              <a:rPr lang="en-US" sz="1200" dirty="0">
                <a:solidFill>
                  <a:schemeClr val="bg2"/>
                </a:solidFill>
              </a:rPr>
              <a:t>Market Size / Segmentation</a:t>
            </a:r>
          </a:p>
          <a:p>
            <a:pPr marL="117475" indent="-109538">
              <a:buClr>
                <a:schemeClr val="bg2"/>
              </a:buClr>
              <a:buFont typeface="Arial" panose="020B0604020202020204" pitchFamily="34" charset="0"/>
              <a:buChar char="•"/>
            </a:pPr>
            <a:r>
              <a:rPr lang="en-US" sz="1200" dirty="0">
                <a:solidFill>
                  <a:schemeClr val="bg2"/>
                </a:solidFill>
              </a:rPr>
              <a:t>Buyer Persona / Needs</a:t>
            </a:r>
          </a:p>
          <a:p>
            <a:pPr marL="117475" indent="-109538">
              <a:buClr>
                <a:schemeClr val="bg2"/>
              </a:buClr>
              <a:buFont typeface="Arial" panose="020B0604020202020204" pitchFamily="34" charset="0"/>
              <a:buChar char="•"/>
            </a:pPr>
            <a:r>
              <a:rPr lang="en-US" sz="1200" dirty="0">
                <a:solidFill>
                  <a:schemeClr val="bg2"/>
                </a:solidFill>
              </a:rPr>
              <a:t>Messaging / Positioning</a:t>
            </a:r>
          </a:p>
          <a:p>
            <a:pPr marL="117475" indent="-109538">
              <a:buClr>
                <a:schemeClr val="bg2"/>
              </a:buClr>
              <a:buFont typeface="Arial" panose="020B0604020202020204" pitchFamily="34" charset="0"/>
              <a:buChar char="•"/>
            </a:pPr>
            <a:r>
              <a:rPr lang="en-US" sz="1200" dirty="0">
                <a:solidFill>
                  <a:schemeClr val="bg2"/>
                </a:solidFill>
              </a:rPr>
              <a:t>Buying Cycle </a:t>
            </a:r>
          </a:p>
          <a:p>
            <a:pPr marL="117475" indent="-109538">
              <a:buClr>
                <a:schemeClr val="bg2"/>
              </a:buClr>
              <a:buFont typeface="Arial" panose="020B0604020202020204" pitchFamily="34" charset="0"/>
              <a:buChar char="•"/>
            </a:pPr>
            <a:r>
              <a:rPr lang="en-US" sz="1200" dirty="0">
                <a:solidFill>
                  <a:schemeClr val="bg2"/>
                </a:solidFill>
              </a:rPr>
              <a:t>Marketing Plans / Strategy</a:t>
            </a:r>
          </a:p>
          <a:p>
            <a:pPr marL="117475" indent="-109538">
              <a:buClr>
                <a:schemeClr val="bg2"/>
              </a:buClr>
              <a:buFont typeface="Arial" panose="020B0604020202020204" pitchFamily="34" charset="0"/>
              <a:buChar char="•"/>
            </a:pPr>
            <a:r>
              <a:rPr lang="en-US" sz="1200" dirty="0">
                <a:solidFill>
                  <a:schemeClr val="bg2"/>
                </a:solidFill>
              </a:rPr>
              <a:t>Marketing Requirements</a:t>
            </a:r>
          </a:p>
        </p:txBody>
      </p:sp>
      <p:sp>
        <p:nvSpPr>
          <p:cNvPr id="11" name="Pentagon 10">
            <a:extLst>
              <a:ext uri="{FF2B5EF4-FFF2-40B4-BE49-F238E27FC236}">
                <a16:creationId xmlns:a16="http://schemas.microsoft.com/office/drawing/2014/main" id="{8AB38A5D-EDCF-4D4B-AFDE-B22DCD1E08BF}"/>
              </a:ext>
            </a:extLst>
          </p:cNvPr>
          <p:cNvSpPr/>
          <p:nvPr/>
        </p:nvSpPr>
        <p:spPr>
          <a:xfrm>
            <a:off x="313265" y="2451768"/>
            <a:ext cx="3158066" cy="1325881"/>
          </a:xfrm>
          <a:prstGeom prst="homePlat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09538">
              <a:buClr>
                <a:schemeClr val="bg2"/>
              </a:buClr>
              <a:buFont typeface="Arial" panose="020B0604020202020204" pitchFamily="34" charset="0"/>
              <a:buChar char="•"/>
            </a:pPr>
            <a:r>
              <a:rPr lang="en-US" sz="1200" dirty="0">
                <a:solidFill>
                  <a:schemeClr val="bg2"/>
                </a:solidFill>
              </a:rPr>
              <a:t>Content Briefings</a:t>
            </a:r>
          </a:p>
          <a:p>
            <a:pPr marL="117475" indent="-109538">
              <a:buClr>
                <a:schemeClr val="bg2"/>
              </a:buClr>
              <a:buFont typeface="Arial" panose="020B0604020202020204" pitchFamily="34" charset="0"/>
              <a:buChar char="•"/>
            </a:pPr>
            <a:r>
              <a:rPr lang="en-US" sz="1200" dirty="0">
                <a:solidFill>
                  <a:schemeClr val="bg2"/>
                </a:solidFill>
              </a:rPr>
              <a:t>Campaign Planning</a:t>
            </a:r>
          </a:p>
          <a:p>
            <a:pPr marL="117475" indent="-109538">
              <a:buClr>
                <a:schemeClr val="bg2"/>
              </a:buClr>
              <a:buFont typeface="Arial" panose="020B0604020202020204" pitchFamily="34" charset="0"/>
              <a:buChar char="•"/>
            </a:pPr>
            <a:r>
              <a:rPr lang="en-US" sz="1200" dirty="0">
                <a:solidFill>
                  <a:schemeClr val="bg2"/>
                </a:solidFill>
              </a:rPr>
              <a:t>Demand Generation Planning</a:t>
            </a:r>
          </a:p>
          <a:p>
            <a:pPr marL="117475" indent="-109538">
              <a:buClr>
                <a:schemeClr val="bg2"/>
              </a:buClr>
              <a:buFont typeface="Arial" panose="020B0604020202020204" pitchFamily="34" charset="0"/>
              <a:buChar char="•"/>
            </a:pPr>
            <a:r>
              <a:rPr lang="en-US" sz="1200" dirty="0">
                <a:solidFill>
                  <a:schemeClr val="bg2"/>
                </a:solidFill>
              </a:rPr>
              <a:t>Content Strategy Planning</a:t>
            </a:r>
          </a:p>
          <a:p>
            <a:pPr marL="117475" indent="-109538">
              <a:buClr>
                <a:schemeClr val="bg2"/>
              </a:buClr>
              <a:buFont typeface="Arial" panose="020B0604020202020204" pitchFamily="34" charset="0"/>
              <a:buChar char="•"/>
            </a:pPr>
            <a:r>
              <a:rPr lang="en-US" sz="1200" dirty="0">
                <a:solidFill>
                  <a:schemeClr val="bg2"/>
                </a:solidFill>
              </a:rPr>
              <a:t>Digital Strategy Planning</a:t>
            </a:r>
          </a:p>
          <a:p>
            <a:pPr marL="117475" indent="-109538">
              <a:buClr>
                <a:schemeClr val="bg2"/>
              </a:buClr>
              <a:buFont typeface="Arial" panose="020B0604020202020204" pitchFamily="34" charset="0"/>
              <a:buChar char="•"/>
            </a:pPr>
            <a:r>
              <a:rPr lang="en-US" sz="1200" dirty="0">
                <a:solidFill>
                  <a:schemeClr val="bg2"/>
                </a:solidFill>
              </a:rPr>
              <a:t>Channel Marketing Planning</a:t>
            </a:r>
          </a:p>
        </p:txBody>
      </p:sp>
      <p:sp>
        <p:nvSpPr>
          <p:cNvPr id="12" name="Pentagon 11">
            <a:extLst>
              <a:ext uri="{FF2B5EF4-FFF2-40B4-BE49-F238E27FC236}">
                <a16:creationId xmlns:a16="http://schemas.microsoft.com/office/drawing/2014/main" id="{7A536DB7-CD07-C04A-B0AC-A559686DC901}"/>
              </a:ext>
            </a:extLst>
          </p:cNvPr>
          <p:cNvSpPr/>
          <p:nvPr/>
        </p:nvSpPr>
        <p:spPr>
          <a:xfrm>
            <a:off x="313265" y="3817619"/>
            <a:ext cx="3158066" cy="1325881"/>
          </a:xfrm>
          <a:prstGeom prst="homePlat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09538">
              <a:buClr>
                <a:schemeClr val="bg2"/>
              </a:buClr>
              <a:buFont typeface="Arial" panose="020B0604020202020204" pitchFamily="34" charset="0"/>
              <a:buChar char="•"/>
            </a:pPr>
            <a:r>
              <a:rPr lang="en-US" sz="1200" dirty="0">
                <a:solidFill>
                  <a:schemeClr val="bg2"/>
                </a:solidFill>
              </a:rPr>
              <a:t>Marketing / BU Reporting</a:t>
            </a:r>
          </a:p>
          <a:p>
            <a:pPr marL="117475" indent="-109538">
              <a:buClr>
                <a:schemeClr val="bg2"/>
              </a:buClr>
              <a:buFont typeface="Arial" panose="020B0604020202020204" pitchFamily="34" charset="0"/>
              <a:buChar char="•"/>
            </a:pPr>
            <a:r>
              <a:rPr lang="en-US" sz="1200" dirty="0">
                <a:solidFill>
                  <a:schemeClr val="bg2"/>
                </a:solidFill>
              </a:rPr>
              <a:t>Win / Loss Analysis</a:t>
            </a:r>
          </a:p>
          <a:p>
            <a:pPr marL="117475" indent="-109538">
              <a:buClr>
                <a:schemeClr val="bg2"/>
              </a:buClr>
              <a:buFont typeface="Arial" panose="020B0604020202020204" pitchFamily="34" charset="0"/>
              <a:buChar char="•"/>
            </a:pPr>
            <a:r>
              <a:rPr lang="en-US" sz="1200" dirty="0">
                <a:solidFill>
                  <a:schemeClr val="bg2"/>
                </a:solidFill>
              </a:rPr>
              <a:t>Advocacy / Case Studies</a:t>
            </a:r>
          </a:p>
          <a:p>
            <a:pPr marL="117475" indent="-109538">
              <a:buClr>
                <a:schemeClr val="bg2"/>
              </a:buClr>
              <a:buFont typeface="Arial" panose="020B0604020202020204" pitchFamily="34" charset="0"/>
              <a:buChar char="•"/>
            </a:pPr>
            <a:r>
              <a:rPr lang="en-US" sz="1200" dirty="0">
                <a:solidFill>
                  <a:schemeClr val="bg2"/>
                </a:solidFill>
              </a:rPr>
              <a:t>Customer Retention Strategy</a:t>
            </a:r>
          </a:p>
          <a:p>
            <a:pPr marL="117475" indent="-109538">
              <a:buClr>
                <a:schemeClr val="bg2"/>
              </a:buClr>
              <a:buFont typeface="Arial" panose="020B0604020202020204" pitchFamily="34" charset="0"/>
              <a:buChar char="•"/>
            </a:pPr>
            <a:r>
              <a:rPr lang="en-US" sz="1200" dirty="0">
                <a:solidFill>
                  <a:schemeClr val="bg2"/>
                </a:solidFill>
              </a:rPr>
              <a:t>Up-Sell / Cross-Sell Strategies</a:t>
            </a:r>
          </a:p>
          <a:p>
            <a:pPr marL="117475" indent="-109538">
              <a:buClr>
                <a:schemeClr val="bg2"/>
              </a:buClr>
              <a:buFont typeface="Arial" panose="020B0604020202020204" pitchFamily="34" charset="0"/>
              <a:buChar char="•"/>
            </a:pPr>
            <a:r>
              <a:rPr lang="en-US" sz="1200" dirty="0">
                <a:solidFill>
                  <a:schemeClr val="bg2"/>
                </a:solidFill>
              </a:rPr>
              <a:t>Market Expansion Strategies</a:t>
            </a:r>
          </a:p>
        </p:txBody>
      </p:sp>
      <p:sp>
        <p:nvSpPr>
          <p:cNvPr id="3" name="Title 2">
            <a:extLst>
              <a:ext uri="{FF2B5EF4-FFF2-40B4-BE49-F238E27FC236}">
                <a16:creationId xmlns:a16="http://schemas.microsoft.com/office/drawing/2014/main" id="{C2B50A93-B8DD-0743-A152-D92F19305C1D}"/>
              </a:ext>
            </a:extLst>
          </p:cNvPr>
          <p:cNvSpPr>
            <a:spLocks noGrp="1"/>
          </p:cNvSpPr>
          <p:nvPr>
            <p:ph type="title"/>
          </p:nvPr>
        </p:nvSpPr>
        <p:spPr/>
        <p:txBody>
          <a:bodyPr/>
          <a:lstStyle/>
          <a:p>
            <a:r>
              <a:rPr lang="en-US" dirty="0">
                <a:solidFill>
                  <a:schemeClr val="accent6"/>
                </a:solidFill>
              </a:rPr>
              <a:t>Product Marketing Function </a:t>
            </a:r>
            <a:r>
              <a:rPr lang="en-US" dirty="0"/>
              <a:t>vs. Product Management Function</a:t>
            </a:r>
          </a:p>
        </p:txBody>
      </p:sp>
      <p:sp>
        <p:nvSpPr>
          <p:cNvPr id="2" name="Rectangle 1">
            <a:extLst>
              <a:ext uri="{FF2B5EF4-FFF2-40B4-BE49-F238E27FC236}">
                <a16:creationId xmlns:a16="http://schemas.microsoft.com/office/drawing/2014/main" id="{D13EE8A8-1FD3-9845-A224-E3BDEA3D8B11}"/>
              </a:ext>
            </a:extLst>
          </p:cNvPr>
          <p:cNvSpPr/>
          <p:nvPr/>
        </p:nvSpPr>
        <p:spPr>
          <a:xfrm rot="16200000">
            <a:off x="-506307" y="4323926"/>
            <a:ext cx="1325880" cy="3132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Growth</a:t>
            </a:r>
          </a:p>
        </p:txBody>
      </p:sp>
      <p:sp>
        <p:nvSpPr>
          <p:cNvPr id="5" name="Rectangle 4">
            <a:extLst>
              <a:ext uri="{FF2B5EF4-FFF2-40B4-BE49-F238E27FC236}">
                <a16:creationId xmlns:a16="http://schemas.microsoft.com/office/drawing/2014/main" id="{C6B74941-54A6-C041-A937-BA815FEEAA56}"/>
              </a:ext>
            </a:extLst>
          </p:cNvPr>
          <p:cNvSpPr/>
          <p:nvPr/>
        </p:nvSpPr>
        <p:spPr>
          <a:xfrm rot="16200000">
            <a:off x="-506307" y="2958075"/>
            <a:ext cx="1325880" cy="3132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p:txBody>
      </p:sp>
      <p:sp>
        <p:nvSpPr>
          <p:cNvPr id="6" name="Rectangle 5">
            <a:extLst>
              <a:ext uri="{FF2B5EF4-FFF2-40B4-BE49-F238E27FC236}">
                <a16:creationId xmlns:a16="http://schemas.microsoft.com/office/drawing/2014/main" id="{1B29156C-1521-C743-9617-0D5F543F7A2C}"/>
              </a:ext>
            </a:extLst>
          </p:cNvPr>
          <p:cNvSpPr/>
          <p:nvPr/>
        </p:nvSpPr>
        <p:spPr>
          <a:xfrm rot="16200000">
            <a:off x="-506309" y="1592225"/>
            <a:ext cx="1325880" cy="3132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Strategy</a:t>
            </a:r>
          </a:p>
        </p:txBody>
      </p:sp>
      <p:sp>
        <p:nvSpPr>
          <p:cNvPr id="13" name="Pentagon 12">
            <a:extLst>
              <a:ext uri="{FF2B5EF4-FFF2-40B4-BE49-F238E27FC236}">
                <a16:creationId xmlns:a16="http://schemas.microsoft.com/office/drawing/2014/main" id="{625B3FFE-F182-8D4C-ACFF-F5A656317222}"/>
              </a:ext>
            </a:extLst>
          </p:cNvPr>
          <p:cNvSpPr/>
          <p:nvPr/>
        </p:nvSpPr>
        <p:spPr>
          <a:xfrm flipH="1">
            <a:off x="5985933" y="1085918"/>
            <a:ext cx="3158067" cy="1325881"/>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109538">
              <a:buClr>
                <a:schemeClr val="bg2"/>
              </a:buClr>
              <a:buFont typeface="Arial" panose="020B0604020202020204" pitchFamily="34" charset="0"/>
              <a:buChar char="•"/>
            </a:pPr>
            <a:r>
              <a:rPr lang="en-US" sz="1200" dirty="0">
                <a:solidFill>
                  <a:schemeClr val="bg2"/>
                </a:solidFill>
              </a:rPr>
              <a:t>User / Persona Needs</a:t>
            </a:r>
          </a:p>
          <a:p>
            <a:pPr marL="344488" indent="-109538">
              <a:buClr>
                <a:schemeClr val="bg2"/>
              </a:buClr>
              <a:buFont typeface="Arial" panose="020B0604020202020204" pitchFamily="34" charset="0"/>
              <a:buChar char="•"/>
            </a:pPr>
            <a:r>
              <a:rPr lang="en-US" sz="1200" dirty="0">
                <a:solidFill>
                  <a:schemeClr val="bg2"/>
                </a:solidFill>
              </a:rPr>
              <a:t>Product Strategy</a:t>
            </a:r>
          </a:p>
          <a:p>
            <a:pPr marL="344488" indent="-109538">
              <a:buClr>
                <a:schemeClr val="bg2"/>
              </a:buClr>
              <a:buFont typeface="Arial" panose="020B0604020202020204" pitchFamily="34" charset="0"/>
              <a:buChar char="•"/>
            </a:pPr>
            <a:r>
              <a:rPr lang="en-US" sz="1200" dirty="0">
                <a:solidFill>
                  <a:schemeClr val="bg2"/>
                </a:solidFill>
              </a:rPr>
              <a:t>Prototyping / Concept Testing</a:t>
            </a:r>
          </a:p>
          <a:p>
            <a:pPr marL="344488" indent="-109538">
              <a:buClr>
                <a:schemeClr val="bg2"/>
              </a:buClr>
              <a:buFont typeface="Arial" panose="020B0604020202020204" pitchFamily="34" charset="0"/>
              <a:buChar char="•"/>
            </a:pPr>
            <a:r>
              <a:rPr lang="en-US" sz="1200" dirty="0">
                <a:solidFill>
                  <a:schemeClr val="bg2"/>
                </a:solidFill>
              </a:rPr>
              <a:t>Product Requirements</a:t>
            </a:r>
          </a:p>
          <a:p>
            <a:pPr marL="344488" indent="-109538">
              <a:buClr>
                <a:schemeClr val="bg2"/>
              </a:buClr>
              <a:buFont typeface="Arial" panose="020B0604020202020204" pitchFamily="34" charset="0"/>
              <a:buChar char="•"/>
            </a:pPr>
            <a:r>
              <a:rPr lang="en-US" sz="1200" dirty="0">
                <a:solidFill>
                  <a:schemeClr val="bg2"/>
                </a:solidFill>
              </a:rPr>
              <a:t>Product Development</a:t>
            </a:r>
          </a:p>
        </p:txBody>
      </p:sp>
      <p:sp>
        <p:nvSpPr>
          <p:cNvPr id="14" name="Pentagon 13">
            <a:extLst>
              <a:ext uri="{FF2B5EF4-FFF2-40B4-BE49-F238E27FC236}">
                <a16:creationId xmlns:a16="http://schemas.microsoft.com/office/drawing/2014/main" id="{A6F03AE1-B94D-B243-BDCA-76163EED3868}"/>
              </a:ext>
            </a:extLst>
          </p:cNvPr>
          <p:cNvSpPr/>
          <p:nvPr/>
        </p:nvSpPr>
        <p:spPr>
          <a:xfrm flipH="1">
            <a:off x="5985933" y="2451768"/>
            <a:ext cx="3158067" cy="1325881"/>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109538">
              <a:buClr>
                <a:schemeClr val="bg2"/>
              </a:buClr>
              <a:buFont typeface="Arial" panose="020B0604020202020204" pitchFamily="34" charset="0"/>
              <a:buChar char="•"/>
            </a:pPr>
            <a:r>
              <a:rPr lang="en-US" sz="1200" dirty="0">
                <a:solidFill>
                  <a:schemeClr val="bg2"/>
                </a:solidFill>
              </a:rPr>
              <a:t>Functional Specifications</a:t>
            </a:r>
          </a:p>
          <a:p>
            <a:pPr marL="344488" indent="-109538">
              <a:buClr>
                <a:schemeClr val="bg2"/>
              </a:buClr>
              <a:buFont typeface="Arial" panose="020B0604020202020204" pitchFamily="34" charset="0"/>
              <a:buChar char="•"/>
            </a:pPr>
            <a:r>
              <a:rPr lang="en-US" sz="1200" dirty="0">
                <a:solidFill>
                  <a:schemeClr val="bg2"/>
                </a:solidFill>
              </a:rPr>
              <a:t>Alpha / Beta Testing</a:t>
            </a:r>
          </a:p>
          <a:p>
            <a:pPr marL="344488" indent="-109538">
              <a:buClr>
                <a:schemeClr val="bg2"/>
              </a:buClr>
              <a:buFont typeface="Arial" panose="020B0604020202020204" pitchFamily="34" charset="0"/>
              <a:buChar char="•"/>
            </a:pPr>
            <a:r>
              <a:rPr lang="en-US" sz="1200" dirty="0">
                <a:solidFill>
                  <a:schemeClr val="bg2"/>
                </a:solidFill>
              </a:rPr>
              <a:t>Release Readiness</a:t>
            </a:r>
          </a:p>
          <a:p>
            <a:pPr marL="344488" indent="-109538">
              <a:buClr>
                <a:schemeClr val="bg2"/>
              </a:buClr>
              <a:buFont typeface="Arial" panose="020B0604020202020204" pitchFamily="34" charset="0"/>
              <a:buChar char="•"/>
            </a:pPr>
            <a:r>
              <a:rPr lang="en-US" sz="1200" dirty="0">
                <a:solidFill>
                  <a:schemeClr val="bg2"/>
                </a:solidFill>
              </a:rPr>
              <a:t>Field Support</a:t>
            </a:r>
          </a:p>
        </p:txBody>
      </p:sp>
      <p:sp>
        <p:nvSpPr>
          <p:cNvPr id="15" name="Pentagon 14">
            <a:extLst>
              <a:ext uri="{FF2B5EF4-FFF2-40B4-BE49-F238E27FC236}">
                <a16:creationId xmlns:a16="http://schemas.microsoft.com/office/drawing/2014/main" id="{0BC9D182-6EF3-9342-BEFC-7D2D4FF1CEC9}"/>
              </a:ext>
            </a:extLst>
          </p:cNvPr>
          <p:cNvSpPr/>
          <p:nvPr/>
        </p:nvSpPr>
        <p:spPr>
          <a:xfrm flipH="1">
            <a:off x="5985933" y="3817619"/>
            <a:ext cx="3158067" cy="1325881"/>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109538">
              <a:buClr>
                <a:schemeClr val="bg2"/>
              </a:buClr>
              <a:buFont typeface="Arial" panose="020B0604020202020204" pitchFamily="34" charset="0"/>
              <a:buChar char="•"/>
            </a:pPr>
            <a:r>
              <a:rPr lang="en-US" sz="1200" dirty="0">
                <a:solidFill>
                  <a:schemeClr val="bg2"/>
                </a:solidFill>
              </a:rPr>
              <a:t>Lifecycle Management</a:t>
            </a:r>
          </a:p>
          <a:p>
            <a:pPr marL="344488" indent="-109538">
              <a:buClr>
                <a:schemeClr val="bg2"/>
              </a:buClr>
              <a:buFont typeface="Arial" panose="020B0604020202020204" pitchFamily="34" charset="0"/>
              <a:buChar char="•"/>
            </a:pPr>
            <a:r>
              <a:rPr lang="en-US" sz="1200" dirty="0">
                <a:solidFill>
                  <a:schemeClr val="bg2"/>
                </a:solidFill>
              </a:rPr>
              <a:t>Product NPS / Customer Sat</a:t>
            </a:r>
          </a:p>
          <a:p>
            <a:pPr marL="344488" indent="-109538">
              <a:buClr>
                <a:schemeClr val="bg2"/>
              </a:buClr>
              <a:buFont typeface="Arial" panose="020B0604020202020204" pitchFamily="34" charset="0"/>
              <a:buChar char="•"/>
            </a:pPr>
            <a:r>
              <a:rPr lang="en-US" sz="1200" dirty="0">
                <a:solidFill>
                  <a:schemeClr val="bg2"/>
                </a:solidFill>
              </a:rPr>
              <a:t>Customer Success Updates</a:t>
            </a:r>
          </a:p>
        </p:txBody>
      </p:sp>
      <p:sp>
        <p:nvSpPr>
          <p:cNvPr id="10" name="TextBox 9">
            <a:extLst>
              <a:ext uri="{FF2B5EF4-FFF2-40B4-BE49-F238E27FC236}">
                <a16:creationId xmlns:a16="http://schemas.microsoft.com/office/drawing/2014/main" id="{C78F39E8-8406-624C-BB5C-032201285565}"/>
              </a:ext>
            </a:extLst>
          </p:cNvPr>
          <p:cNvSpPr txBox="1"/>
          <p:nvPr/>
        </p:nvSpPr>
        <p:spPr>
          <a:xfrm>
            <a:off x="567223" y="738171"/>
            <a:ext cx="1755609" cy="307777"/>
          </a:xfrm>
          <a:prstGeom prst="rect">
            <a:avLst/>
          </a:prstGeom>
          <a:noFill/>
        </p:spPr>
        <p:txBody>
          <a:bodyPr wrap="none" rtlCol="0">
            <a:spAutoFit/>
          </a:bodyPr>
          <a:lstStyle/>
          <a:p>
            <a:pPr algn="ctr"/>
            <a:r>
              <a:rPr lang="en-US" b="1" dirty="0"/>
              <a:t>Product Marketing</a:t>
            </a:r>
          </a:p>
        </p:txBody>
      </p:sp>
      <p:sp>
        <p:nvSpPr>
          <p:cNvPr id="17" name="TextBox 16">
            <a:extLst>
              <a:ext uri="{FF2B5EF4-FFF2-40B4-BE49-F238E27FC236}">
                <a16:creationId xmlns:a16="http://schemas.microsoft.com/office/drawing/2014/main" id="{BE975AAC-A846-F84B-9D1F-49A5AACE03D0}"/>
              </a:ext>
            </a:extLst>
          </p:cNvPr>
          <p:cNvSpPr txBox="1"/>
          <p:nvPr/>
        </p:nvSpPr>
        <p:spPr>
          <a:xfrm>
            <a:off x="6953859" y="738171"/>
            <a:ext cx="2004075" cy="307777"/>
          </a:xfrm>
          <a:prstGeom prst="rect">
            <a:avLst/>
          </a:prstGeom>
          <a:noFill/>
        </p:spPr>
        <p:txBody>
          <a:bodyPr wrap="none" rtlCol="0">
            <a:spAutoFit/>
          </a:bodyPr>
          <a:lstStyle/>
          <a:p>
            <a:pPr algn="ctr"/>
            <a:r>
              <a:rPr lang="en-US" b="1" dirty="0"/>
              <a:t>Product Management</a:t>
            </a:r>
          </a:p>
        </p:txBody>
      </p:sp>
      <p:sp>
        <p:nvSpPr>
          <p:cNvPr id="18" name="TextBox 17">
            <a:extLst>
              <a:ext uri="{FF2B5EF4-FFF2-40B4-BE49-F238E27FC236}">
                <a16:creationId xmlns:a16="http://schemas.microsoft.com/office/drawing/2014/main" id="{42B4DD93-4064-0E4A-9984-8C3FC76C3190}"/>
              </a:ext>
            </a:extLst>
          </p:cNvPr>
          <p:cNvSpPr txBox="1"/>
          <p:nvPr/>
        </p:nvSpPr>
        <p:spPr>
          <a:xfrm>
            <a:off x="4432716" y="738171"/>
            <a:ext cx="591830" cy="307777"/>
          </a:xfrm>
          <a:prstGeom prst="rect">
            <a:avLst/>
          </a:prstGeom>
          <a:noFill/>
        </p:spPr>
        <p:txBody>
          <a:bodyPr wrap="none" rtlCol="0">
            <a:spAutoFit/>
          </a:bodyPr>
          <a:lstStyle/>
          <a:p>
            <a:pPr algn="ctr"/>
            <a:r>
              <a:rPr lang="en-US" b="1" dirty="0"/>
              <a:t>Both</a:t>
            </a:r>
          </a:p>
        </p:txBody>
      </p:sp>
      <p:sp>
        <p:nvSpPr>
          <p:cNvPr id="16" name="Rectangle 15">
            <a:extLst>
              <a:ext uri="{FF2B5EF4-FFF2-40B4-BE49-F238E27FC236}">
                <a16:creationId xmlns:a16="http://schemas.microsoft.com/office/drawing/2014/main" id="{ED2057C8-D0FC-FD47-B01A-0A75E294862B}"/>
              </a:ext>
            </a:extLst>
          </p:cNvPr>
          <p:cNvSpPr/>
          <p:nvPr/>
        </p:nvSpPr>
        <p:spPr>
          <a:xfrm>
            <a:off x="3555998" y="1085918"/>
            <a:ext cx="2345267" cy="132588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50" indent="-109538">
              <a:buClr>
                <a:schemeClr val="bg2"/>
              </a:buClr>
              <a:buFont typeface="Arial" panose="020B0604020202020204" pitchFamily="34" charset="0"/>
              <a:buChar char="•"/>
            </a:pPr>
            <a:r>
              <a:rPr lang="en-US" sz="1200" dirty="0">
                <a:solidFill>
                  <a:schemeClr val="bg2"/>
                </a:solidFill>
              </a:rPr>
              <a:t>Competitive Analysis</a:t>
            </a:r>
          </a:p>
          <a:p>
            <a:pPr marL="234950" indent="-109538">
              <a:buClr>
                <a:schemeClr val="bg2"/>
              </a:buClr>
              <a:buFont typeface="Arial" panose="020B0604020202020204" pitchFamily="34" charset="0"/>
              <a:buChar char="•"/>
            </a:pPr>
            <a:r>
              <a:rPr lang="en-US" sz="1200" dirty="0">
                <a:solidFill>
                  <a:schemeClr val="bg2"/>
                </a:solidFill>
              </a:rPr>
              <a:t>Business Case</a:t>
            </a:r>
          </a:p>
          <a:p>
            <a:pPr marL="234950" indent="-109538">
              <a:buClr>
                <a:schemeClr val="bg2"/>
              </a:buClr>
              <a:buFont typeface="Arial" panose="020B0604020202020204" pitchFamily="34" charset="0"/>
              <a:buChar char="•"/>
            </a:pPr>
            <a:r>
              <a:rPr lang="en-US" sz="1200" dirty="0">
                <a:solidFill>
                  <a:schemeClr val="bg2"/>
                </a:solidFill>
              </a:rPr>
              <a:t>Go-To-Market Strategy</a:t>
            </a:r>
          </a:p>
          <a:p>
            <a:pPr marL="234950" indent="-109538">
              <a:buClr>
                <a:schemeClr val="bg2"/>
              </a:buClr>
              <a:buFont typeface="Arial" panose="020B0604020202020204" pitchFamily="34" charset="0"/>
              <a:buChar char="•"/>
            </a:pPr>
            <a:r>
              <a:rPr lang="en-US" sz="1200" dirty="0">
                <a:solidFill>
                  <a:schemeClr val="bg2"/>
                </a:solidFill>
              </a:rPr>
              <a:t>Product Roadmap Priorities</a:t>
            </a:r>
          </a:p>
          <a:p>
            <a:pPr marL="234950" indent="-109538">
              <a:buClr>
                <a:schemeClr val="bg2"/>
              </a:buClr>
              <a:buFont typeface="Arial" panose="020B0604020202020204" pitchFamily="34" charset="0"/>
              <a:buChar char="•"/>
            </a:pPr>
            <a:r>
              <a:rPr lang="en-US" sz="1200" dirty="0">
                <a:solidFill>
                  <a:schemeClr val="bg2"/>
                </a:solidFill>
              </a:rPr>
              <a:t>Pricing / Packaging</a:t>
            </a:r>
          </a:p>
          <a:p>
            <a:pPr marL="234950" indent="-109538">
              <a:buClr>
                <a:schemeClr val="bg2"/>
              </a:buClr>
              <a:buFont typeface="Arial" panose="020B0604020202020204" pitchFamily="34" charset="0"/>
              <a:buChar char="•"/>
            </a:pPr>
            <a:r>
              <a:rPr lang="en-US" sz="1200" dirty="0">
                <a:solidFill>
                  <a:schemeClr val="bg2"/>
                </a:solidFill>
              </a:rPr>
              <a:t>Field Enablement Plans</a:t>
            </a:r>
          </a:p>
        </p:txBody>
      </p:sp>
      <p:sp>
        <p:nvSpPr>
          <p:cNvPr id="20" name="Rectangle 19">
            <a:extLst>
              <a:ext uri="{FF2B5EF4-FFF2-40B4-BE49-F238E27FC236}">
                <a16:creationId xmlns:a16="http://schemas.microsoft.com/office/drawing/2014/main" id="{90E90FBC-CC36-0440-8978-94D9FDF1140A}"/>
              </a:ext>
            </a:extLst>
          </p:cNvPr>
          <p:cNvSpPr/>
          <p:nvPr/>
        </p:nvSpPr>
        <p:spPr>
          <a:xfrm>
            <a:off x="3555997" y="2451768"/>
            <a:ext cx="2345267" cy="132588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50" indent="-109538">
              <a:buClr>
                <a:schemeClr val="bg2"/>
              </a:buClr>
              <a:buFont typeface="Arial" panose="020B0604020202020204" pitchFamily="34" charset="0"/>
              <a:buChar char="•"/>
            </a:pPr>
            <a:r>
              <a:rPr lang="en-US" sz="1200" dirty="0">
                <a:solidFill>
                  <a:schemeClr val="bg2"/>
                </a:solidFill>
              </a:rPr>
              <a:t>Product Launch Plans</a:t>
            </a:r>
          </a:p>
          <a:p>
            <a:pPr marL="234950" indent="-109538">
              <a:buClr>
                <a:schemeClr val="bg2"/>
              </a:buClr>
              <a:buFont typeface="Arial" panose="020B0604020202020204" pitchFamily="34" charset="0"/>
              <a:buChar char="•"/>
            </a:pPr>
            <a:r>
              <a:rPr lang="en-US" sz="1200" dirty="0">
                <a:solidFill>
                  <a:schemeClr val="bg2"/>
                </a:solidFill>
              </a:rPr>
              <a:t>User Stories</a:t>
            </a:r>
          </a:p>
          <a:p>
            <a:pPr marL="234950" indent="-109538">
              <a:buClr>
                <a:schemeClr val="bg2"/>
              </a:buClr>
              <a:buFont typeface="Arial" panose="020B0604020202020204" pitchFamily="34" charset="0"/>
              <a:buChar char="•"/>
            </a:pPr>
            <a:r>
              <a:rPr lang="en-US" sz="1200" dirty="0">
                <a:solidFill>
                  <a:schemeClr val="bg2"/>
                </a:solidFill>
              </a:rPr>
              <a:t>Go-To-Market Execution</a:t>
            </a:r>
          </a:p>
          <a:p>
            <a:pPr marL="234950" indent="-109538">
              <a:buClr>
                <a:schemeClr val="bg2"/>
              </a:buClr>
              <a:buFont typeface="Arial" panose="020B0604020202020204" pitchFamily="34" charset="0"/>
              <a:buChar char="•"/>
            </a:pPr>
            <a:r>
              <a:rPr lang="en-US" sz="1200" dirty="0">
                <a:solidFill>
                  <a:schemeClr val="bg2"/>
                </a:solidFill>
              </a:rPr>
              <a:t>Buyer’s Journey</a:t>
            </a:r>
          </a:p>
          <a:p>
            <a:pPr marL="234950" indent="-109538">
              <a:buClr>
                <a:schemeClr val="bg2"/>
              </a:buClr>
              <a:buFont typeface="Arial" panose="020B0604020202020204" pitchFamily="34" charset="0"/>
              <a:buChar char="•"/>
            </a:pPr>
            <a:r>
              <a:rPr lang="en-US" sz="1200" dirty="0">
                <a:solidFill>
                  <a:schemeClr val="bg2"/>
                </a:solidFill>
              </a:rPr>
              <a:t>Field Training / Briefing</a:t>
            </a:r>
          </a:p>
        </p:txBody>
      </p:sp>
      <p:sp>
        <p:nvSpPr>
          <p:cNvPr id="21" name="Rectangle 20">
            <a:extLst>
              <a:ext uri="{FF2B5EF4-FFF2-40B4-BE49-F238E27FC236}">
                <a16:creationId xmlns:a16="http://schemas.microsoft.com/office/drawing/2014/main" id="{5BAD3E18-8869-3C4C-B033-7260A5142174}"/>
              </a:ext>
            </a:extLst>
          </p:cNvPr>
          <p:cNvSpPr/>
          <p:nvPr/>
        </p:nvSpPr>
        <p:spPr>
          <a:xfrm>
            <a:off x="3555997" y="3817619"/>
            <a:ext cx="2345267" cy="132588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50" indent="-109538">
              <a:buClr>
                <a:schemeClr val="bg2"/>
              </a:buClr>
              <a:buFont typeface="Arial" panose="020B0604020202020204" pitchFamily="34" charset="0"/>
              <a:buChar char="•"/>
            </a:pPr>
            <a:r>
              <a:rPr lang="en-US" sz="1200" dirty="0">
                <a:solidFill>
                  <a:schemeClr val="bg2"/>
                </a:solidFill>
              </a:rPr>
              <a:t>Future Roadmaps</a:t>
            </a:r>
          </a:p>
          <a:p>
            <a:pPr marL="234950" indent="-109538">
              <a:buClr>
                <a:schemeClr val="bg2"/>
              </a:buClr>
              <a:buFont typeface="Arial" panose="020B0604020202020204" pitchFamily="34" charset="0"/>
              <a:buChar char="•"/>
            </a:pPr>
            <a:r>
              <a:rPr lang="en-US" sz="1200" dirty="0">
                <a:solidFill>
                  <a:schemeClr val="bg2"/>
                </a:solidFill>
              </a:rPr>
              <a:t>Customer Feedback / Analysis</a:t>
            </a:r>
          </a:p>
          <a:p>
            <a:pPr marL="234950" indent="-109538">
              <a:buClr>
                <a:schemeClr val="bg2"/>
              </a:buClr>
              <a:buFont typeface="Arial" panose="020B0604020202020204" pitchFamily="34" charset="0"/>
              <a:buChar char="•"/>
            </a:pPr>
            <a:r>
              <a:rPr lang="en-US" sz="1200" dirty="0">
                <a:solidFill>
                  <a:schemeClr val="bg2"/>
                </a:solidFill>
              </a:rPr>
              <a:t>Feature Adoption Analysis</a:t>
            </a:r>
          </a:p>
          <a:p>
            <a:pPr marL="234950" indent="-109538">
              <a:buClr>
                <a:schemeClr val="bg2"/>
              </a:buClr>
              <a:buFont typeface="Arial" panose="020B0604020202020204" pitchFamily="34" charset="0"/>
              <a:buChar char="•"/>
            </a:pPr>
            <a:r>
              <a:rPr lang="en-US" sz="1200" dirty="0">
                <a:solidFill>
                  <a:schemeClr val="bg2"/>
                </a:solidFill>
              </a:rPr>
              <a:t>Run-Rate Analysis</a:t>
            </a:r>
          </a:p>
          <a:p>
            <a:pPr marL="234950" indent="-109538">
              <a:buClr>
                <a:schemeClr val="bg2"/>
              </a:buClr>
              <a:buFont typeface="Arial" panose="020B0604020202020204" pitchFamily="34" charset="0"/>
              <a:buChar char="•"/>
            </a:pPr>
            <a:r>
              <a:rPr lang="en-US" sz="1200" dirty="0">
                <a:solidFill>
                  <a:schemeClr val="bg2"/>
                </a:solidFill>
              </a:rPr>
              <a:t>Pipeline Analysis</a:t>
            </a:r>
          </a:p>
        </p:txBody>
      </p:sp>
    </p:spTree>
    <p:extLst>
      <p:ext uri="{BB962C8B-B14F-4D97-AF65-F5344CB8AC3E}">
        <p14:creationId xmlns:p14="http://schemas.microsoft.com/office/powerpoint/2010/main" val="354615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p:tgtEl>
                                          <p:spTgt spid="4"/>
                                        </p:tgtEl>
                                        <p:attrNameLst>
                                          <p:attrName>ppt_x</p:attrName>
                                        </p:attrNameLst>
                                      </p:cBhvr>
                                      <p:tavLst>
                                        <p:tav tm="0">
                                          <p:val>
                                            <p:strVal val="#ppt_x-#ppt_w*1.125000"/>
                                          </p:val>
                                        </p:tav>
                                        <p:tav tm="100000">
                                          <p:val>
                                            <p:strVal val="#ppt_x"/>
                                          </p:val>
                                        </p:tav>
                                      </p:tavLst>
                                    </p:anim>
                                    <p:animEffect transition="in" filter="wipe(righ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p:tgtEl>
                                          <p:spTgt spid="13"/>
                                        </p:tgtEl>
                                        <p:attrNameLst>
                                          <p:attrName>ppt_x</p:attrName>
                                        </p:attrNameLst>
                                      </p:cBhvr>
                                      <p:tavLst>
                                        <p:tav tm="0">
                                          <p:val>
                                            <p:strVal val="#ppt_x+#ppt_w*1.125000"/>
                                          </p:val>
                                        </p:tav>
                                        <p:tav tm="100000">
                                          <p:val>
                                            <p:strVal val="#ppt_x"/>
                                          </p:val>
                                        </p:tav>
                                      </p:tavLst>
                                    </p:anim>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p:tgtEl>
                                          <p:spTgt spid="11"/>
                                        </p:tgtEl>
                                        <p:attrNameLst>
                                          <p:attrName>ppt_x</p:attrName>
                                        </p:attrNameLst>
                                      </p:cBhvr>
                                      <p:tavLst>
                                        <p:tav tm="0">
                                          <p:val>
                                            <p:strVal val="#ppt_x-#ppt_w*1.125000"/>
                                          </p:val>
                                        </p:tav>
                                        <p:tav tm="100000">
                                          <p:val>
                                            <p:strVal val="#ppt_x"/>
                                          </p:val>
                                        </p:tav>
                                      </p:tavLst>
                                    </p:anim>
                                    <p:animEffect transition="in" filter="wipe(righ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p:tgtEl>
                                          <p:spTgt spid="12"/>
                                        </p:tgtEl>
                                        <p:attrNameLst>
                                          <p:attrName>ppt_x</p:attrName>
                                        </p:attrNameLst>
                                      </p:cBhvr>
                                      <p:tavLst>
                                        <p:tav tm="0">
                                          <p:val>
                                            <p:strVal val="#ppt_x-#ppt_w*1.125000"/>
                                          </p:val>
                                        </p:tav>
                                        <p:tav tm="100000">
                                          <p:val>
                                            <p:strVal val="#ppt_x"/>
                                          </p:val>
                                        </p:tav>
                                      </p:tavLst>
                                    </p:anim>
                                    <p:animEffect transition="in" filter="wipe(right)">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P spid="2" grpId="0" animBg="1"/>
      <p:bldP spid="5" grpId="0" animBg="1"/>
      <p:bldP spid="6" grpId="0" animBg="1"/>
      <p:bldP spid="13" grpId="0" animBg="1"/>
      <p:bldP spid="14" grpId="0" animBg="1"/>
      <p:bldP spid="15" grpId="0" animBg="1"/>
      <p:bldP spid="10" grpId="0"/>
      <p:bldP spid="17" grpId="0"/>
      <p:bldP spid="18" grpId="0"/>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EB8B950E-7D03-0244-8FD9-751E241247AB}"/>
              </a:ext>
            </a:extLst>
          </p:cNvPr>
          <p:cNvSpPr/>
          <p:nvPr/>
        </p:nvSpPr>
        <p:spPr>
          <a:xfrm>
            <a:off x="313265" y="1085918"/>
            <a:ext cx="3158066" cy="1325881"/>
          </a:xfrm>
          <a:prstGeom prst="homePlat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09538">
              <a:buClr>
                <a:schemeClr val="bg2"/>
              </a:buClr>
              <a:buFont typeface="Arial" panose="020B0604020202020204" pitchFamily="34" charset="0"/>
              <a:buChar char="•"/>
            </a:pPr>
            <a:r>
              <a:rPr lang="en-US" sz="1200" dirty="0">
                <a:solidFill>
                  <a:schemeClr val="bg2"/>
                </a:solidFill>
              </a:rPr>
              <a:t>Market Size / Segmentation</a:t>
            </a:r>
          </a:p>
          <a:p>
            <a:pPr marL="117475" indent="-109538">
              <a:buClr>
                <a:schemeClr val="bg2"/>
              </a:buClr>
              <a:buFont typeface="Arial" panose="020B0604020202020204" pitchFamily="34" charset="0"/>
              <a:buChar char="•"/>
            </a:pPr>
            <a:r>
              <a:rPr lang="en-US" sz="1200" dirty="0">
                <a:solidFill>
                  <a:schemeClr val="bg2"/>
                </a:solidFill>
              </a:rPr>
              <a:t>Buyer Persona / Needs</a:t>
            </a:r>
          </a:p>
          <a:p>
            <a:pPr marL="117475" indent="-109538">
              <a:buClr>
                <a:schemeClr val="bg2"/>
              </a:buClr>
              <a:buFont typeface="Arial" panose="020B0604020202020204" pitchFamily="34" charset="0"/>
              <a:buChar char="•"/>
            </a:pPr>
            <a:r>
              <a:rPr lang="en-US" sz="1200" dirty="0">
                <a:solidFill>
                  <a:schemeClr val="bg2"/>
                </a:solidFill>
              </a:rPr>
              <a:t>Messaging / Positioning</a:t>
            </a:r>
          </a:p>
          <a:p>
            <a:pPr marL="117475" indent="-109538">
              <a:buClr>
                <a:schemeClr val="bg2"/>
              </a:buClr>
              <a:buFont typeface="Arial" panose="020B0604020202020204" pitchFamily="34" charset="0"/>
              <a:buChar char="•"/>
            </a:pPr>
            <a:r>
              <a:rPr lang="en-US" sz="1200" dirty="0">
                <a:solidFill>
                  <a:schemeClr val="bg2"/>
                </a:solidFill>
              </a:rPr>
              <a:t>Buying Cycle </a:t>
            </a:r>
          </a:p>
          <a:p>
            <a:pPr marL="117475" indent="-109538">
              <a:buClr>
                <a:schemeClr val="bg2"/>
              </a:buClr>
              <a:buFont typeface="Arial" panose="020B0604020202020204" pitchFamily="34" charset="0"/>
              <a:buChar char="•"/>
            </a:pPr>
            <a:r>
              <a:rPr lang="en-US" sz="1200" dirty="0">
                <a:solidFill>
                  <a:schemeClr val="bg2"/>
                </a:solidFill>
              </a:rPr>
              <a:t>Marketing Strategy / Requirements</a:t>
            </a:r>
          </a:p>
          <a:p>
            <a:pPr marL="117475" indent="-109538">
              <a:buClr>
                <a:schemeClr val="bg2"/>
              </a:buClr>
              <a:buFont typeface="Arial" panose="020B0604020202020204" pitchFamily="34" charset="0"/>
              <a:buChar char="•"/>
            </a:pPr>
            <a:r>
              <a:rPr lang="en-US" sz="1200" dirty="0">
                <a:solidFill>
                  <a:schemeClr val="bg2"/>
                </a:solidFill>
              </a:rPr>
              <a:t>Content Development</a:t>
            </a:r>
          </a:p>
        </p:txBody>
      </p:sp>
      <p:sp>
        <p:nvSpPr>
          <p:cNvPr id="11" name="Pentagon 10">
            <a:extLst>
              <a:ext uri="{FF2B5EF4-FFF2-40B4-BE49-F238E27FC236}">
                <a16:creationId xmlns:a16="http://schemas.microsoft.com/office/drawing/2014/main" id="{8AB38A5D-EDCF-4D4B-AFDE-B22DCD1E08BF}"/>
              </a:ext>
            </a:extLst>
          </p:cNvPr>
          <p:cNvSpPr/>
          <p:nvPr/>
        </p:nvSpPr>
        <p:spPr>
          <a:xfrm>
            <a:off x="313265" y="2451768"/>
            <a:ext cx="3158066" cy="1325881"/>
          </a:xfrm>
          <a:prstGeom prst="homePlat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09538">
              <a:buClr>
                <a:schemeClr val="bg2"/>
              </a:buClr>
              <a:buFont typeface="Arial" panose="020B0604020202020204" pitchFamily="34" charset="0"/>
              <a:buChar char="•"/>
            </a:pPr>
            <a:r>
              <a:rPr lang="en-US" sz="1200" dirty="0">
                <a:solidFill>
                  <a:schemeClr val="bg2"/>
                </a:solidFill>
              </a:rPr>
              <a:t>Content Briefings</a:t>
            </a:r>
          </a:p>
          <a:p>
            <a:pPr marL="117475" indent="-109538">
              <a:buClr>
                <a:schemeClr val="bg2"/>
              </a:buClr>
              <a:buFont typeface="Arial" panose="020B0604020202020204" pitchFamily="34" charset="0"/>
              <a:buChar char="•"/>
            </a:pPr>
            <a:r>
              <a:rPr lang="en-US" sz="1200" dirty="0">
                <a:solidFill>
                  <a:schemeClr val="bg2"/>
                </a:solidFill>
              </a:rPr>
              <a:t>Campaign Support</a:t>
            </a:r>
          </a:p>
          <a:p>
            <a:pPr marL="117475" indent="-109538">
              <a:buClr>
                <a:schemeClr val="bg2"/>
              </a:buClr>
              <a:buFont typeface="Arial" panose="020B0604020202020204" pitchFamily="34" charset="0"/>
              <a:buChar char="•"/>
            </a:pPr>
            <a:r>
              <a:rPr lang="en-US" sz="1200" dirty="0">
                <a:solidFill>
                  <a:schemeClr val="bg2"/>
                </a:solidFill>
              </a:rPr>
              <a:t>Demand Generation Support</a:t>
            </a:r>
          </a:p>
          <a:p>
            <a:pPr marL="117475" indent="-109538">
              <a:buClr>
                <a:schemeClr val="bg2"/>
              </a:buClr>
              <a:buFont typeface="Arial" panose="020B0604020202020204" pitchFamily="34" charset="0"/>
              <a:buChar char="•"/>
            </a:pPr>
            <a:r>
              <a:rPr lang="en-US" sz="1200" dirty="0">
                <a:solidFill>
                  <a:schemeClr val="bg2"/>
                </a:solidFill>
              </a:rPr>
              <a:t>Content Performance Analysis</a:t>
            </a:r>
          </a:p>
          <a:p>
            <a:pPr marL="117475" indent="-109538">
              <a:buClr>
                <a:schemeClr val="bg2"/>
              </a:buClr>
              <a:buFont typeface="Arial" panose="020B0604020202020204" pitchFamily="34" charset="0"/>
              <a:buChar char="•"/>
            </a:pPr>
            <a:r>
              <a:rPr lang="en-US" sz="1200" dirty="0">
                <a:solidFill>
                  <a:schemeClr val="bg2"/>
                </a:solidFill>
              </a:rPr>
              <a:t>Digital Strategy Guidance</a:t>
            </a:r>
          </a:p>
          <a:p>
            <a:pPr marL="117475" indent="-109538">
              <a:buClr>
                <a:schemeClr val="bg2"/>
              </a:buClr>
              <a:buFont typeface="Arial" panose="020B0604020202020204" pitchFamily="34" charset="0"/>
              <a:buChar char="•"/>
            </a:pPr>
            <a:r>
              <a:rPr lang="en-US" sz="1200" dirty="0">
                <a:solidFill>
                  <a:schemeClr val="bg2"/>
                </a:solidFill>
              </a:rPr>
              <a:t>Channel Marketing Support</a:t>
            </a:r>
          </a:p>
        </p:txBody>
      </p:sp>
      <p:sp>
        <p:nvSpPr>
          <p:cNvPr id="12" name="Pentagon 11">
            <a:extLst>
              <a:ext uri="{FF2B5EF4-FFF2-40B4-BE49-F238E27FC236}">
                <a16:creationId xmlns:a16="http://schemas.microsoft.com/office/drawing/2014/main" id="{7A536DB7-CD07-C04A-B0AC-A559686DC901}"/>
              </a:ext>
            </a:extLst>
          </p:cNvPr>
          <p:cNvSpPr/>
          <p:nvPr/>
        </p:nvSpPr>
        <p:spPr>
          <a:xfrm>
            <a:off x="313265" y="3817619"/>
            <a:ext cx="3158066" cy="1325881"/>
          </a:xfrm>
          <a:prstGeom prst="homePlat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indent="-109538">
              <a:buClr>
                <a:schemeClr val="bg2"/>
              </a:buClr>
              <a:buFont typeface="Arial" panose="020B0604020202020204" pitchFamily="34" charset="0"/>
              <a:buChar char="•"/>
            </a:pPr>
            <a:r>
              <a:rPr lang="en-US" sz="1200" dirty="0">
                <a:solidFill>
                  <a:schemeClr val="bg2"/>
                </a:solidFill>
              </a:rPr>
              <a:t>Marketing / BU Reporting</a:t>
            </a:r>
          </a:p>
          <a:p>
            <a:pPr marL="117475" indent="-109538">
              <a:buClr>
                <a:schemeClr val="bg2"/>
              </a:buClr>
              <a:buFont typeface="Arial" panose="020B0604020202020204" pitchFamily="34" charset="0"/>
              <a:buChar char="•"/>
            </a:pPr>
            <a:r>
              <a:rPr lang="en-US" sz="1200" dirty="0">
                <a:solidFill>
                  <a:schemeClr val="bg2"/>
                </a:solidFill>
              </a:rPr>
              <a:t>Win / Loss Analysis</a:t>
            </a:r>
          </a:p>
          <a:p>
            <a:pPr marL="117475" indent="-109538">
              <a:buClr>
                <a:schemeClr val="bg2"/>
              </a:buClr>
              <a:buFont typeface="Arial" panose="020B0604020202020204" pitchFamily="34" charset="0"/>
              <a:buChar char="•"/>
            </a:pPr>
            <a:r>
              <a:rPr lang="en-US" sz="1200" dirty="0">
                <a:solidFill>
                  <a:schemeClr val="bg2"/>
                </a:solidFill>
              </a:rPr>
              <a:t>Advocacy / Case Studies</a:t>
            </a:r>
          </a:p>
          <a:p>
            <a:pPr marL="117475" indent="-109538">
              <a:buClr>
                <a:schemeClr val="bg2"/>
              </a:buClr>
              <a:buFont typeface="Arial" panose="020B0604020202020204" pitchFamily="34" charset="0"/>
              <a:buChar char="•"/>
            </a:pPr>
            <a:r>
              <a:rPr lang="en-US" sz="1200" dirty="0">
                <a:solidFill>
                  <a:schemeClr val="bg2"/>
                </a:solidFill>
              </a:rPr>
              <a:t>Customer Retention Strategy</a:t>
            </a:r>
          </a:p>
          <a:p>
            <a:pPr marL="117475" indent="-109538">
              <a:buClr>
                <a:schemeClr val="bg2"/>
              </a:buClr>
              <a:buFont typeface="Arial" panose="020B0604020202020204" pitchFamily="34" charset="0"/>
              <a:buChar char="•"/>
            </a:pPr>
            <a:r>
              <a:rPr lang="en-US" sz="1200" dirty="0">
                <a:solidFill>
                  <a:schemeClr val="bg2"/>
                </a:solidFill>
              </a:rPr>
              <a:t>Up-Sell / Cross-Sell Strategies</a:t>
            </a:r>
          </a:p>
        </p:txBody>
      </p:sp>
      <p:sp>
        <p:nvSpPr>
          <p:cNvPr id="3" name="Title 2">
            <a:extLst>
              <a:ext uri="{FF2B5EF4-FFF2-40B4-BE49-F238E27FC236}">
                <a16:creationId xmlns:a16="http://schemas.microsoft.com/office/drawing/2014/main" id="{C2B50A93-B8DD-0743-A152-D92F19305C1D}"/>
              </a:ext>
            </a:extLst>
          </p:cNvPr>
          <p:cNvSpPr>
            <a:spLocks noGrp="1"/>
          </p:cNvSpPr>
          <p:nvPr>
            <p:ph type="title"/>
          </p:nvPr>
        </p:nvSpPr>
        <p:spPr/>
        <p:txBody>
          <a:bodyPr/>
          <a:lstStyle/>
          <a:p>
            <a:r>
              <a:rPr lang="en-US" dirty="0">
                <a:solidFill>
                  <a:schemeClr val="accent6"/>
                </a:solidFill>
              </a:rPr>
              <a:t>Product Marketing Function </a:t>
            </a:r>
            <a:r>
              <a:rPr lang="en-US" dirty="0"/>
              <a:t>vs. Marketing Manager Function</a:t>
            </a:r>
          </a:p>
        </p:txBody>
      </p:sp>
      <p:sp>
        <p:nvSpPr>
          <p:cNvPr id="2" name="Rectangle 1">
            <a:extLst>
              <a:ext uri="{FF2B5EF4-FFF2-40B4-BE49-F238E27FC236}">
                <a16:creationId xmlns:a16="http://schemas.microsoft.com/office/drawing/2014/main" id="{D13EE8A8-1FD3-9845-A224-E3BDEA3D8B11}"/>
              </a:ext>
            </a:extLst>
          </p:cNvPr>
          <p:cNvSpPr/>
          <p:nvPr/>
        </p:nvSpPr>
        <p:spPr>
          <a:xfrm rot="16200000">
            <a:off x="-506307" y="4323926"/>
            <a:ext cx="1325880" cy="3132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Growth</a:t>
            </a:r>
          </a:p>
        </p:txBody>
      </p:sp>
      <p:sp>
        <p:nvSpPr>
          <p:cNvPr id="5" name="Rectangle 4">
            <a:extLst>
              <a:ext uri="{FF2B5EF4-FFF2-40B4-BE49-F238E27FC236}">
                <a16:creationId xmlns:a16="http://schemas.microsoft.com/office/drawing/2014/main" id="{C6B74941-54A6-C041-A937-BA815FEEAA56}"/>
              </a:ext>
            </a:extLst>
          </p:cNvPr>
          <p:cNvSpPr/>
          <p:nvPr/>
        </p:nvSpPr>
        <p:spPr>
          <a:xfrm rot="16200000">
            <a:off x="-506307" y="2958075"/>
            <a:ext cx="1325880" cy="3132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p:txBody>
      </p:sp>
      <p:sp>
        <p:nvSpPr>
          <p:cNvPr id="6" name="Rectangle 5">
            <a:extLst>
              <a:ext uri="{FF2B5EF4-FFF2-40B4-BE49-F238E27FC236}">
                <a16:creationId xmlns:a16="http://schemas.microsoft.com/office/drawing/2014/main" id="{1B29156C-1521-C743-9617-0D5F543F7A2C}"/>
              </a:ext>
            </a:extLst>
          </p:cNvPr>
          <p:cNvSpPr/>
          <p:nvPr/>
        </p:nvSpPr>
        <p:spPr>
          <a:xfrm rot="16200000">
            <a:off x="-506309" y="1592225"/>
            <a:ext cx="1325880" cy="3132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Strategy</a:t>
            </a:r>
          </a:p>
        </p:txBody>
      </p:sp>
      <p:sp>
        <p:nvSpPr>
          <p:cNvPr id="13" name="Pentagon 12">
            <a:extLst>
              <a:ext uri="{FF2B5EF4-FFF2-40B4-BE49-F238E27FC236}">
                <a16:creationId xmlns:a16="http://schemas.microsoft.com/office/drawing/2014/main" id="{625B3FFE-F182-8D4C-ACFF-F5A656317222}"/>
              </a:ext>
            </a:extLst>
          </p:cNvPr>
          <p:cNvSpPr/>
          <p:nvPr/>
        </p:nvSpPr>
        <p:spPr>
          <a:xfrm flipH="1">
            <a:off x="5985933" y="1085918"/>
            <a:ext cx="3158067" cy="1325881"/>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109538">
              <a:buClr>
                <a:schemeClr val="bg2"/>
              </a:buClr>
              <a:buFont typeface="Arial" panose="020B0604020202020204" pitchFamily="34" charset="0"/>
              <a:buChar char="•"/>
            </a:pPr>
            <a:r>
              <a:rPr lang="en-US" sz="1200" dirty="0">
                <a:solidFill>
                  <a:schemeClr val="bg2"/>
                </a:solidFill>
              </a:rPr>
              <a:t>Market Research / Funnel</a:t>
            </a:r>
          </a:p>
          <a:p>
            <a:pPr marL="344488" indent="-109538">
              <a:buClr>
                <a:schemeClr val="bg2"/>
              </a:buClr>
              <a:buFont typeface="Arial" panose="020B0604020202020204" pitchFamily="34" charset="0"/>
              <a:buChar char="•"/>
            </a:pPr>
            <a:r>
              <a:rPr lang="en-US" sz="1200" dirty="0">
                <a:solidFill>
                  <a:schemeClr val="bg2"/>
                </a:solidFill>
              </a:rPr>
              <a:t>Campaign Strategy</a:t>
            </a:r>
          </a:p>
          <a:p>
            <a:pPr marL="344488" indent="-109538">
              <a:buClr>
                <a:schemeClr val="bg2"/>
              </a:buClr>
              <a:buFont typeface="Arial" panose="020B0604020202020204" pitchFamily="34" charset="0"/>
              <a:buChar char="•"/>
            </a:pPr>
            <a:r>
              <a:rPr lang="en-US" sz="1200" dirty="0">
                <a:solidFill>
                  <a:schemeClr val="bg2"/>
                </a:solidFill>
              </a:rPr>
              <a:t>Digital Plans</a:t>
            </a:r>
          </a:p>
          <a:p>
            <a:pPr marL="344488" indent="-109538">
              <a:buClr>
                <a:schemeClr val="bg2"/>
              </a:buClr>
              <a:buFont typeface="Arial" panose="020B0604020202020204" pitchFamily="34" charset="0"/>
              <a:buChar char="•"/>
            </a:pPr>
            <a:r>
              <a:rPr lang="en-US" sz="1200" dirty="0">
                <a:solidFill>
                  <a:schemeClr val="bg2"/>
                </a:solidFill>
              </a:rPr>
              <a:t>Content Plans</a:t>
            </a:r>
          </a:p>
          <a:p>
            <a:pPr marL="344488" indent="-109538">
              <a:buClr>
                <a:schemeClr val="bg2"/>
              </a:buClr>
              <a:buFont typeface="Arial" panose="020B0604020202020204" pitchFamily="34" charset="0"/>
              <a:buChar char="•"/>
            </a:pPr>
            <a:r>
              <a:rPr lang="en-US" sz="1200" dirty="0">
                <a:solidFill>
                  <a:schemeClr val="bg2"/>
                </a:solidFill>
              </a:rPr>
              <a:t>Demand Plans</a:t>
            </a:r>
          </a:p>
          <a:p>
            <a:pPr marL="344488" indent="-109538">
              <a:buClr>
                <a:schemeClr val="bg2"/>
              </a:buClr>
              <a:buFont typeface="Arial" panose="020B0604020202020204" pitchFamily="34" charset="0"/>
              <a:buChar char="•"/>
            </a:pPr>
            <a:r>
              <a:rPr lang="en-US" sz="1200" dirty="0">
                <a:solidFill>
                  <a:schemeClr val="bg2"/>
                </a:solidFill>
              </a:rPr>
              <a:t>Field Marketing Alignment</a:t>
            </a:r>
          </a:p>
        </p:txBody>
      </p:sp>
      <p:sp>
        <p:nvSpPr>
          <p:cNvPr id="14" name="Pentagon 13">
            <a:extLst>
              <a:ext uri="{FF2B5EF4-FFF2-40B4-BE49-F238E27FC236}">
                <a16:creationId xmlns:a16="http://schemas.microsoft.com/office/drawing/2014/main" id="{A6F03AE1-B94D-B243-BDCA-76163EED3868}"/>
              </a:ext>
            </a:extLst>
          </p:cNvPr>
          <p:cNvSpPr/>
          <p:nvPr/>
        </p:nvSpPr>
        <p:spPr>
          <a:xfrm flipH="1">
            <a:off x="5985933" y="2451768"/>
            <a:ext cx="3158067" cy="1325881"/>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109538">
              <a:buClr>
                <a:schemeClr val="bg2"/>
              </a:buClr>
              <a:buFont typeface="Arial" panose="020B0604020202020204" pitchFamily="34" charset="0"/>
              <a:buChar char="•"/>
            </a:pPr>
            <a:r>
              <a:rPr lang="en-US" sz="1200" dirty="0">
                <a:solidFill>
                  <a:schemeClr val="bg2"/>
                </a:solidFill>
              </a:rPr>
              <a:t>Campaign Execution</a:t>
            </a:r>
          </a:p>
          <a:p>
            <a:pPr marL="344488" indent="-109538">
              <a:buClr>
                <a:schemeClr val="bg2"/>
              </a:buClr>
              <a:buFont typeface="Arial" panose="020B0604020202020204" pitchFamily="34" charset="0"/>
              <a:buChar char="•"/>
            </a:pPr>
            <a:r>
              <a:rPr lang="en-US" sz="1200" dirty="0">
                <a:solidFill>
                  <a:schemeClr val="bg2"/>
                </a:solidFill>
              </a:rPr>
              <a:t>Field Marketing Alignment</a:t>
            </a:r>
          </a:p>
          <a:p>
            <a:pPr marL="344488" indent="-109538">
              <a:buClr>
                <a:schemeClr val="bg2"/>
              </a:buClr>
              <a:buFont typeface="Arial" panose="020B0604020202020204" pitchFamily="34" charset="0"/>
              <a:buChar char="•"/>
            </a:pPr>
            <a:r>
              <a:rPr lang="en-US" sz="1200" dirty="0">
                <a:solidFill>
                  <a:schemeClr val="bg2"/>
                </a:solidFill>
              </a:rPr>
              <a:t>SEO / Social / Paid-Search</a:t>
            </a:r>
          </a:p>
          <a:p>
            <a:pPr marL="344488" indent="-109538">
              <a:buClr>
                <a:schemeClr val="bg2"/>
              </a:buClr>
              <a:buFont typeface="Arial" panose="020B0604020202020204" pitchFamily="34" charset="0"/>
              <a:buChar char="•"/>
            </a:pPr>
            <a:r>
              <a:rPr lang="en-US" sz="1200" dirty="0">
                <a:solidFill>
                  <a:schemeClr val="bg2"/>
                </a:solidFill>
              </a:rPr>
              <a:t>Inbound / Outbound Strategies</a:t>
            </a:r>
          </a:p>
          <a:p>
            <a:pPr marL="344488" indent="-109538">
              <a:buClr>
                <a:schemeClr val="bg2"/>
              </a:buClr>
              <a:buFont typeface="Arial" panose="020B0604020202020204" pitchFamily="34" charset="0"/>
              <a:buChar char="•"/>
            </a:pPr>
            <a:r>
              <a:rPr lang="en-US" sz="1200" dirty="0">
                <a:solidFill>
                  <a:schemeClr val="bg2"/>
                </a:solidFill>
              </a:rPr>
              <a:t>Retargeting / Nurture Strategies</a:t>
            </a:r>
          </a:p>
          <a:p>
            <a:pPr marL="344488" indent="-109538">
              <a:buClr>
                <a:schemeClr val="bg2"/>
              </a:buClr>
              <a:buFont typeface="Arial" panose="020B0604020202020204" pitchFamily="34" charset="0"/>
              <a:buChar char="•"/>
            </a:pPr>
            <a:r>
              <a:rPr lang="en-US" sz="1200" dirty="0">
                <a:solidFill>
                  <a:schemeClr val="bg2"/>
                </a:solidFill>
              </a:rPr>
              <a:t>Channel Marketing Enablement</a:t>
            </a:r>
          </a:p>
        </p:txBody>
      </p:sp>
      <p:sp>
        <p:nvSpPr>
          <p:cNvPr id="15" name="Pentagon 14">
            <a:extLst>
              <a:ext uri="{FF2B5EF4-FFF2-40B4-BE49-F238E27FC236}">
                <a16:creationId xmlns:a16="http://schemas.microsoft.com/office/drawing/2014/main" id="{0BC9D182-6EF3-9342-BEFC-7D2D4FF1CEC9}"/>
              </a:ext>
            </a:extLst>
          </p:cNvPr>
          <p:cNvSpPr/>
          <p:nvPr/>
        </p:nvSpPr>
        <p:spPr>
          <a:xfrm flipH="1">
            <a:off x="5985933" y="3817619"/>
            <a:ext cx="3158067" cy="1325881"/>
          </a:xfrm>
          <a:prstGeom prst="homePlat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4488" indent="-109538">
              <a:buClr>
                <a:schemeClr val="bg2"/>
              </a:buClr>
              <a:buFont typeface="Arial" panose="020B0604020202020204" pitchFamily="34" charset="0"/>
              <a:buChar char="•"/>
            </a:pPr>
            <a:r>
              <a:rPr lang="en-US" sz="1200" dirty="0">
                <a:solidFill>
                  <a:schemeClr val="bg2"/>
                </a:solidFill>
              </a:rPr>
              <a:t>Acquisition / Engagement Plans</a:t>
            </a:r>
          </a:p>
          <a:p>
            <a:pPr marL="344488" indent="-109538">
              <a:buClr>
                <a:schemeClr val="bg2"/>
              </a:buClr>
              <a:buFont typeface="Arial" panose="020B0604020202020204" pitchFamily="34" charset="0"/>
              <a:buChar char="•"/>
            </a:pPr>
            <a:r>
              <a:rPr lang="en-US" sz="1200" dirty="0">
                <a:solidFill>
                  <a:schemeClr val="bg2"/>
                </a:solidFill>
              </a:rPr>
              <a:t>ABM Strategies / Execution</a:t>
            </a:r>
          </a:p>
          <a:p>
            <a:pPr marL="344488" indent="-109538">
              <a:buClr>
                <a:schemeClr val="bg2"/>
              </a:buClr>
              <a:buFont typeface="Arial" panose="020B0604020202020204" pitchFamily="34" charset="0"/>
              <a:buChar char="•"/>
            </a:pPr>
            <a:r>
              <a:rPr lang="en-US" sz="1200" dirty="0">
                <a:solidFill>
                  <a:schemeClr val="bg2"/>
                </a:solidFill>
              </a:rPr>
              <a:t>Market Behavior / Feedback</a:t>
            </a:r>
          </a:p>
          <a:p>
            <a:pPr marL="344488" indent="-109538">
              <a:buClr>
                <a:schemeClr val="bg2"/>
              </a:buClr>
              <a:buFont typeface="Arial" panose="020B0604020202020204" pitchFamily="34" charset="0"/>
              <a:buChar char="•"/>
            </a:pPr>
            <a:r>
              <a:rPr lang="en-US" sz="1200" dirty="0">
                <a:solidFill>
                  <a:schemeClr val="bg2"/>
                </a:solidFill>
              </a:rPr>
              <a:t>Cross-Portfolio Strategies</a:t>
            </a:r>
          </a:p>
        </p:txBody>
      </p:sp>
      <p:sp>
        <p:nvSpPr>
          <p:cNvPr id="10" name="TextBox 9">
            <a:extLst>
              <a:ext uri="{FF2B5EF4-FFF2-40B4-BE49-F238E27FC236}">
                <a16:creationId xmlns:a16="http://schemas.microsoft.com/office/drawing/2014/main" id="{C78F39E8-8406-624C-BB5C-032201285565}"/>
              </a:ext>
            </a:extLst>
          </p:cNvPr>
          <p:cNvSpPr txBox="1"/>
          <p:nvPr/>
        </p:nvSpPr>
        <p:spPr>
          <a:xfrm>
            <a:off x="567223" y="738171"/>
            <a:ext cx="1755609" cy="307777"/>
          </a:xfrm>
          <a:prstGeom prst="rect">
            <a:avLst/>
          </a:prstGeom>
          <a:noFill/>
        </p:spPr>
        <p:txBody>
          <a:bodyPr wrap="none" rtlCol="0">
            <a:spAutoFit/>
          </a:bodyPr>
          <a:lstStyle/>
          <a:p>
            <a:pPr algn="ctr"/>
            <a:r>
              <a:rPr lang="en-US" b="1" dirty="0"/>
              <a:t>Product Marketing</a:t>
            </a:r>
          </a:p>
        </p:txBody>
      </p:sp>
      <p:sp>
        <p:nvSpPr>
          <p:cNvPr id="17" name="TextBox 16">
            <a:extLst>
              <a:ext uri="{FF2B5EF4-FFF2-40B4-BE49-F238E27FC236}">
                <a16:creationId xmlns:a16="http://schemas.microsoft.com/office/drawing/2014/main" id="{BE975AAC-A846-F84B-9D1F-49A5AACE03D0}"/>
              </a:ext>
            </a:extLst>
          </p:cNvPr>
          <p:cNvSpPr txBox="1"/>
          <p:nvPr/>
        </p:nvSpPr>
        <p:spPr>
          <a:xfrm>
            <a:off x="7048439" y="738171"/>
            <a:ext cx="1814920" cy="307777"/>
          </a:xfrm>
          <a:prstGeom prst="rect">
            <a:avLst/>
          </a:prstGeom>
          <a:noFill/>
        </p:spPr>
        <p:txBody>
          <a:bodyPr wrap="none" rtlCol="0">
            <a:spAutoFit/>
          </a:bodyPr>
          <a:lstStyle/>
          <a:p>
            <a:pPr algn="ctr"/>
            <a:r>
              <a:rPr lang="en-US" b="1" dirty="0"/>
              <a:t>Marketing Manager</a:t>
            </a:r>
          </a:p>
        </p:txBody>
      </p:sp>
      <p:sp>
        <p:nvSpPr>
          <p:cNvPr id="18" name="TextBox 17">
            <a:extLst>
              <a:ext uri="{FF2B5EF4-FFF2-40B4-BE49-F238E27FC236}">
                <a16:creationId xmlns:a16="http://schemas.microsoft.com/office/drawing/2014/main" id="{42B4DD93-4064-0E4A-9984-8C3FC76C3190}"/>
              </a:ext>
            </a:extLst>
          </p:cNvPr>
          <p:cNvSpPr txBox="1"/>
          <p:nvPr/>
        </p:nvSpPr>
        <p:spPr>
          <a:xfrm>
            <a:off x="4432716" y="738171"/>
            <a:ext cx="591830" cy="307777"/>
          </a:xfrm>
          <a:prstGeom prst="rect">
            <a:avLst/>
          </a:prstGeom>
          <a:noFill/>
        </p:spPr>
        <p:txBody>
          <a:bodyPr wrap="none" rtlCol="0">
            <a:spAutoFit/>
          </a:bodyPr>
          <a:lstStyle/>
          <a:p>
            <a:pPr algn="ctr"/>
            <a:r>
              <a:rPr lang="en-US" b="1" dirty="0"/>
              <a:t>Both</a:t>
            </a:r>
          </a:p>
        </p:txBody>
      </p:sp>
      <p:sp>
        <p:nvSpPr>
          <p:cNvPr id="16" name="Rectangle 15">
            <a:extLst>
              <a:ext uri="{FF2B5EF4-FFF2-40B4-BE49-F238E27FC236}">
                <a16:creationId xmlns:a16="http://schemas.microsoft.com/office/drawing/2014/main" id="{ED2057C8-D0FC-FD47-B01A-0A75E294862B}"/>
              </a:ext>
            </a:extLst>
          </p:cNvPr>
          <p:cNvSpPr/>
          <p:nvPr/>
        </p:nvSpPr>
        <p:spPr>
          <a:xfrm>
            <a:off x="3555998" y="1085918"/>
            <a:ext cx="2345267" cy="132588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50" indent="-109538">
              <a:buClr>
                <a:schemeClr val="bg2"/>
              </a:buClr>
              <a:buFont typeface="Arial" panose="020B0604020202020204" pitchFamily="34" charset="0"/>
              <a:buChar char="•"/>
            </a:pPr>
            <a:r>
              <a:rPr lang="en-US" sz="1200" dirty="0">
                <a:solidFill>
                  <a:schemeClr val="bg2"/>
                </a:solidFill>
              </a:rPr>
              <a:t>Product + Market Fit</a:t>
            </a:r>
          </a:p>
          <a:p>
            <a:pPr marL="234950" indent="-109538">
              <a:buClr>
                <a:schemeClr val="bg2"/>
              </a:buClr>
              <a:buFont typeface="Arial" panose="020B0604020202020204" pitchFamily="34" charset="0"/>
              <a:buChar char="•"/>
            </a:pPr>
            <a:r>
              <a:rPr lang="en-US" sz="1200" dirty="0">
                <a:solidFill>
                  <a:schemeClr val="bg2"/>
                </a:solidFill>
              </a:rPr>
              <a:t>Content / Digital  Strategy</a:t>
            </a:r>
          </a:p>
          <a:p>
            <a:pPr marL="234950" indent="-109538">
              <a:buClr>
                <a:schemeClr val="bg2"/>
              </a:buClr>
              <a:buFont typeface="Arial" panose="020B0604020202020204" pitchFamily="34" charset="0"/>
              <a:buChar char="•"/>
            </a:pPr>
            <a:r>
              <a:rPr lang="en-US" sz="1200" dirty="0">
                <a:solidFill>
                  <a:schemeClr val="bg2"/>
                </a:solidFill>
              </a:rPr>
              <a:t>Copywriting / Storytelling</a:t>
            </a:r>
          </a:p>
          <a:p>
            <a:pPr marL="234950" indent="-109538">
              <a:buClr>
                <a:schemeClr val="bg2"/>
              </a:buClr>
              <a:buFont typeface="Arial" panose="020B0604020202020204" pitchFamily="34" charset="0"/>
              <a:buChar char="•"/>
            </a:pPr>
            <a:r>
              <a:rPr lang="en-US" sz="1200" dirty="0">
                <a:solidFill>
                  <a:schemeClr val="bg2"/>
                </a:solidFill>
              </a:rPr>
              <a:t>Demand Strategy</a:t>
            </a:r>
          </a:p>
          <a:p>
            <a:pPr marL="234950" indent="-109538">
              <a:buClr>
                <a:schemeClr val="bg2"/>
              </a:buClr>
              <a:buFont typeface="Arial" panose="020B0604020202020204" pitchFamily="34" charset="0"/>
              <a:buChar char="•"/>
            </a:pPr>
            <a:r>
              <a:rPr lang="en-US" sz="1200" dirty="0">
                <a:solidFill>
                  <a:schemeClr val="bg2"/>
                </a:solidFill>
              </a:rPr>
              <a:t>Marketing + Field Activities</a:t>
            </a:r>
          </a:p>
        </p:txBody>
      </p:sp>
      <p:sp>
        <p:nvSpPr>
          <p:cNvPr id="20" name="Rectangle 19">
            <a:extLst>
              <a:ext uri="{FF2B5EF4-FFF2-40B4-BE49-F238E27FC236}">
                <a16:creationId xmlns:a16="http://schemas.microsoft.com/office/drawing/2014/main" id="{90E90FBC-CC36-0440-8978-94D9FDF1140A}"/>
              </a:ext>
            </a:extLst>
          </p:cNvPr>
          <p:cNvSpPr/>
          <p:nvPr/>
        </p:nvSpPr>
        <p:spPr>
          <a:xfrm>
            <a:off x="3555997" y="2451768"/>
            <a:ext cx="2345267" cy="132588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50" indent="-109538">
              <a:buClr>
                <a:schemeClr val="bg2"/>
              </a:buClr>
              <a:buFont typeface="Arial" panose="020B0604020202020204" pitchFamily="34" charset="0"/>
              <a:buChar char="•"/>
            </a:pPr>
            <a:r>
              <a:rPr lang="en-US" sz="1200" dirty="0">
                <a:solidFill>
                  <a:schemeClr val="bg2"/>
                </a:solidFill>
              </a:rPr>
              <a:t>Product Launch</a:t>
            </a:r>
          </a:p>
          <a:p>
            <a:pPr marL="234950" indent="-109538">
              <a:buClr>
                <a:schemeClr val="bg2"/>
              </a:buClr>
              <a:buFont typeface="Arial" panose="020B0604020202020204" pitchFamily="34" charset="0"/>
              <a:buChar char="•"/>
            </a:pPr>
            <a:r>
              <a:rPr lang="en-US" sz="1200" dirty="0">
                <a:solidFill>
                  <a:schemeClr val="bg2"/>
                </a:solidFill>
              </a:rPr>
              <a:t>Campaign Refinement</a:t>
            </a:r>
          </a:p>
          <a:p>
            <a:pPr marL="234950" indent="-109538">
              <a:buClr>
                <a:schemeClr val="bg2"/>
              </a:buClr>
              <a:buFont typeface="Arial" panose="020B0604020202020204" pitchFamily="34" charset="0"/>
              <a:buChar char="•"/>
            </a:pPr>
            <a:r>
              <a:rPr lang="en-US" sz="1200" dirty="0">
                <a:solidFill>
                  <a:schemeClr val="bg2"/>
                </a:solidFill>
              </a:rPr>
              <a:t>Demand Refinement</a:t>
            </a:r>
          </a:p>
          <a:p>
            <a:pPr marL="234950" indent="-109538">
              <a:buClr>
                <a:schemeClr val="bg2"/>
              </a:buClr>
              <a:buFont typeface="Arial" panose="020B0604020202020204" pitchFamily="34" charset="0"/>
              <a:buChar char="•"/>
            </a:pPr>
            <a:r>
              <a:rPr lang="en-US" sz="1200" dirty="0">
                <a:solidFill>
                  <a:schemeClr val="bg2"/>
                </a:solidFill>
              </a:rPr>
              <a:t>Content Refinement </a:t>
            </a:r>
          </a:p>
          <a:p>
            <a:pPr marL="234950" indent="-109538">
              <a:buClr>
                <a:schemeClr val="bg2"/>
              </a:buClr>
              <a:buFont typeface="Arial" panose="020B0604020202020204" pitchFamily="34" charset="0"/>
              <a:buChar char="•"/>
            </a:pPr>
            <a:r>
              <a:rPr lang="en-US" sz="1200" dirty="0">
                <a:solidFill>
                  <a:schemeClr val="bg2"/>
                </a:solidFill>
              </a:rPr>
              <a:t>Measurements / Metrics</a:t>
            </a:r>
          </a:p>
        </p:txBody>
      </p:sp>
      <p:sp>
        <p:nvSpPr>
          <p:cNvPr id="21" name="Rectangle 20">
            <a:extLst>
              <a:ext uri="{FF2B5EF4-FFF2-40B4-BE49-F238E27FC236}">
                <a16:creationId xmlns:a16="http://schemas.microsoft.com/office/drawing/2014/main" id="{5BAD3E18-8869-3C4C-B033-7260A5142174}"/>
              </a:ext>
            </a:extLst>
          </p:cNvPr>
          <p:cNvSpPr/>
          <p:nvPr/>
        </p:nvSpPr>
        <p:spPr>
          <a:xfrm>
            <a:off x="3555997" y="3817619"/>
            <a:ext cx="2345267" cy="132588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34950" indent="-109538">
              <a:buClr>
                <a:schemeClr val="bg2"/>
              </a:buClr>
              <a:buFont typeface="Arial" panose="020B0604020202020204" pitchFamily="34" charset="0"/>
              <a:buChar char="•"/>
            </a:pPr>
            <a:r>
              <a:rPr lang="en-US" sz="1200" dirty="0">
                <a:solidFill>
                  <a:schemeClr val="bg2"/>
                </a:solidFill>
              </a:rPr>
              <a:t>Market Expansion Analysis</a:t>
            </a:r>
          </a:p>
          <a:p>
            <a:pPr marL="234950" indent="-109538">
              <a:buClr>
                <a:schemeClr val="bg2"/>
              </a:buClr>
              <a:buFont typeface="Arial" panose="020B0604020202020204" pitchFamily="34" charset="0"/>
              <a:buChar char="•"/>
            </a:pPr>
            <a:r>
              <a:rPr lang="en-US" sz="1200" dirty="0">
                <a:solidFill>
                  <a:schemeClr val="bg2"/>
                </a:solidFill>
              </a:rPr>
              <a:t>Pipeline Build Analysis</a:t>
            </a:r>
          </a:p>
          <a:p>
            <a:pPr marL="234950" indent="-109538">
              <a:buClr>
                <a:schemeClr val="bg2"/>
              </a:buClr>
              <a:buFont typeface="Arial" panose="020B0604020202020204" pitchFamily="34" charset="0"/>
              <a:buChar char="•"/>
            </a:pPr>
            <a:r>
              <a:rPr lang="en-US" sz="1200" dirty="0">
                <a:solidFill>
                  <a:schemeClr val="bg2"/>
                </a:solidFill>
              </a:rPr>
              <a:t>Measurements / Metrics</a:t>
            </a:r>
          </a:p>
          <a:p>
            <a:pPr marL="234950" indent="-109538">
              <a:buClr>
                <a:schemeClr val="bg2"/>
              </a:buClr>
              <a:buFont typeface="Arial" panose="020B0604020202020204" pitchFamily="34" charset="0"/>
              <a:buChar char="•"/>
            </a:pPr>
            <a:r>
              <a:rPr lang="en-US" sz="1200" dirty="0">
                <a:solidFill>
                  <a:schemeClr val="bg2"/>
                </a:solidFill>
              </a:rPr>
              <a:t>Run-Rate Analysis</a:t>
            </a:r>
          </a:p>
        </p:txBody>
      </p:sp>
    </p:spTree>
    <p:extLst>
      <p:ext uri="{BB962C8B-B14F-4D97-AF65-F5344CB8AC3E}">
        <p14:creationId xmlns:p14="http://schemas.microsoft.com/office/powerpoint/2010/main" val="19157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p:tgtEl>
                                          <p:spTgt spid="4"/>
                                        </p:tgtEl>
                                        <p:attrNameLst>
                                          <p:attrName>ppt_x</p:attrName>
                                        </p:attrNameLst>
                                      </p:cBhvr>
                                      <p:tavLst>
                                        <p:tav tm="0">
                                          <p:val>
                                            <p:strVal val="#ppt_x-#ppt_w*1.125000"/>
                                          </p:val>
                                        </p:tav>
                                        <p:tav tm="100000">
                                          <p:val>
                                            <p:strVal val="#ppt_x"/>
                                          </p:val>
                                        </p:tav>
                                      </p:tavLst>
                                    </p:anim>
                                    <p:animEffect transition="in" filter="wipe(righ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p:tgtEl>
                                          <p:spTgt spid="13"/>
                                        </p:tgtEl>
                                        <p:attrNameLst>
                                          <p:attrName>ppt_x</p:attrName>
                                        </p:attrNameLst>
                                      </p:cBhvr>
                                      <p:tavLst>
                                        <p:tav tm="0">
                                          <p:val>
                                            <p:strVal val="#ppt_x+#ppt_w*1.125000"/>
                                          </p:val>
                                        </p:tav>
                                        <p:tav tm="100000">
                                          <p:val>
                                            <p:strVal val="#ppt_x"/>
                                          </p:val>
                                        </p:tav>
                                      </p:tavLst>
                                    </p:anim>
                                    <p:animEffect transition="in" filter="wipe(left)">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p:tgtEl>
                                          <p:spTgt spid="11"/>
                                        </p:tgtEl>
                                        <p:attrNameLst>
                                          <p:attrName>ppt_x</p:attrName>
                                        </p:attrNameLst>
                                      </p:cBhvr>
                                      <p:tavLst>
                                        <p:tav tm="0">
                                          <p:val>
                                            <p:strVal val="#ppt_x-#ppt_w*1.125000"/>
                                          </p:val>
                                        </p:tav>
                                        <p:tav tm="100000">
                                          <p:val>
                                            <p:strVal val="#ppt_x"/>
                                          </p:val>
                                        </p:tav>
                                      </p:tavLst>
                                    </p:anim>
                                    <p:animEffect transition="in" filter="wipe(righ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p:tgtEl>
                                          <p:spTgt spid="12"/>
                                        </p:tgtEl>
                                        <p:attrNameLst>
                                          <p:attrName>ppt_x</p:attrName>
                                        </p:attrNameLst>
                                      </p:cBhvr>
                                      <p:tavLst>
                                        <p:tav tm="0">
                                          <p:val>
                                            <p:strVal val="#ppt_x-#ppt_w*1.125000"/>
                                          </p:val>
                                        </p:tav>
                                        <p:tav tm="100000">
                                          <p:val>
                                            <p:strVal val="#ppt_x"/>
                                          </p:val>
                                        </p:tav>
                                      </p:tavLst>
                                    </p:anim>
                                    <p:animEffect transition="in" filter="wipe(right)">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P spid="2" grpId="0" animBg="1"/>
      <p:bldP spid="5" grpId="0" animBg="1"/>
      <p:bldP spid="6" grpId="0" animBg="1"/>
      <p:bldP spid="13" grpId="0" animBg="1"/>
      <p:bldP spid="14" grpId="0" animBg="1"/>
      <p:bldP spid="15" grpId="0" animBg="1"/>
      <p:bldP spid="10" grpId="0"/>
      <p:bldP spid="17" grpId="0"/>
      <p:bldP spid="18"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524101-930B-EF42-8CB4-B635CB46AE39}"/>
              </a:ext>
            </a:extLst>
          </p:cNvPr>
          <p:cNvSpPr>
            <a:spLocks noGrp="1"/>
          </p:cNvSpPr>
          <p:nvPr>
            <p:ph type="title"/>
          </p:nvPr>
        </p:nvSpPr>
        <p:spPr>
          <a:xfrm>
            <a:off x="226078" y="357800"/>
            <a:ext cx="2808000" cy="1332366"/>
          </a:xfrm>
        </p:spPr>
        <p:txBody>
          <a:bodyPr>
            <a:normAutofit/>
          </a:bodyPr>
          <a:lstStyle/>
          <a:p>
            <a:r>
              <a:rPr lang="en-US" dirty="0"/>
              <a:t>So How Do PMMs Fit Support Other Groups?</a:t>
            </a:r>
          </a:p>
        </p:txBody>
      </p:sp>
      <p:grpSp>
        <p:nvGrpSpPr>
          <p:cNvPr id="21" name="Group 20">
            <a:extLst>
              <a:ext uri="{FF2B5EF4-FFF2-40B4-BE49-F238E27FC236}">
                <a16:creationId xmlns:a16="http://schemas.microsoft.com/office/drawing/2014/main" id="{98AB6F67-3763-4741-A725-02BD5D69AEF1}"/>
              </a:ext>
            </a:extLst>
          </p:cNvPr>
          <p:cNvGrpSpPr/>
          <p:nvPr/>
        </p:nvGrpSpPr>
        <p:grpSpPr>
          <a:xfrm>
            <a:off x="3301735" y="203911"/>
            <a:ext cx="5842265" cy="984885"/>
            <a:chOff x="3301735" y="203911"/>
            <a:chExt cx="5842265" cy="984885"/>
          </a:xfrm>
        </p:grpSpPr>
        <p:sp>
          <p:nvSpPr>
            <p:cNvPr id="5" name="TextBox 4">
              <a:extLst>
                <a:ext uri="{FF2B5EF4-FFF2-40B4-BE49-F238E27FC236}">
                  <a16:creationId xmlns:a16="http://schemas.microsoft.com/office/drawing/2014/main" id="{322D6638-2E62-FE42-B332-4D64F8EF6F7D}"/>
                </a:ext>
              </a:extLst>
            </p:cNvPr>
            <p:cNvSpPr txBox="1"/>
            <p:nvPr/>
          </p:nvSpPr>
          <p:spPr>
            <a:xfrm>
              <a:off x="3301735" y="203911"/>
              <a:ext cx="2270173" cy="338554"/>
            </a:xfrm>
            <a:prstGeom prst="rect">
              <a:avLst/>
            </a:prstGeom>
            <a:noFill/>
          </p:spPr>
          <p:txBody>
            <a:bodyPr wrap="none" rtlCol="0">
              <a:spAutoFit/>
            </a:bodyPr>
            <a:lstStyle/>
            <a:p>
              <a:r>
                <a:rPr lang="en-US" sz="1600" b="1" dirty="0"/>
                <a:t>Product Management</a:t>
              </a:r>
            </a:p>
          </p:txBody>
        </p:sp>
        <p:sp>
          <p:nvSpPr>
            <p:cNvPr id="6" name="TextBox 5">
              <a:extLst>
                <a:ext uri="{FF2B5EF4-FFF2-40B4-BE49-F238E27FC236}">
                  <a16:creationId xmlns:a16="http://schemas.microsoft.com/office/drawing/2014/main" id="{2B017871-2093-9944-85A0-C182EF58F93B}"/>
                </a:ext>
              </a:extLst>
            </p:cNvPr>
            <p:cNvSpPr txBox="1"/>
            <p:nvPr/>
          </p:nvSpPr>
          <p:spPr>
            <a:xfrm>
              <a:off x="3540864" y="542465"/>
              <a:ext cx="5051383" cy="307777"/>
            </a:xfrm>
            <a:prstGeom prst="rect">
              <a:avLst/>
            </a:prstGeom>
            <a:noFill/>
          </p:spPr>
          <p:txBody>
            <a:bodyPr wrap="none" rtlCol="0">
              <a:spAutoFit/>
            </a:bodyPr>
            <a:lstStyle/>
            <a:p>
              <a:pPr marL="173038" indent="-173038">
                <a:buFont typeface="Arial" panose="020B0604020202020204" pitchFamily="34" charset="0"/>
                <a:buChar char="•"/>
              </a:pPr>
              <a:r>
                <a:rPr lang="en-US" dirty="0"/>
                <a:t>PM’s Help Create the Product; PMM’s Make it Marketable</a:t>
              </a:r>
            </a:p>
          </p:txBody>
        </p:sp>
        <p:sp>
          <p:nvSpPr>
            <p:cNvPr id="7" name="TextBox 6">
              <a:extLst>
                <a:ext uri="{FF2B5EF4-FFF2-40B4-BE49-F238E27FC236}">
                  <a16:creationId xmlns:a16="http://schemas.microsoft.com/office/drawing/2014/main" id="{98B1CF19-C684-5C4B-8EC0-E0D3094E20C6}"/>
                </a:ext>
              </a:extLst>
            </p:cNvPr>
            <p:cNvSpPr txBox="1"/>
            <p:nvPr/>
          </p:nvSpPr>
          <p:spPr>
            <a:xfrm>
              <a:off x="3540863" y="881019"/>
              <a:ext cx="5603137" cy="307777"/>
            </a:xfrm>
            <a:prstGeom prst="rect">
              <a:avLst/>
            </a:prstGeom>
            <a:noFill/>
          </p:spPr>
          <p:txBody>
            <a:bodyPr wrap="none" rtlCol="0">
              <a:spAutoFit/>
            </a:bodyPr>
            <a:lstStyle/>
            <a:p>
              <a:pPr marL="173038" indent="-173038">
                <a:buFont typeface="Arial" panose="020B0604020202020204" pitchFamily="34" charset="0"/>
                <a:buChar char="•"/>
              </a:pPr>
              <a:r>
                <a:rPr lang="en-US" dirty="0"/>
                <a:t>PM’s and PMM’s Brainstorm Feature-Centric Marketing Strategies </a:t>
              </a:r>
            </a:p>
          </p:txBody>
        </p:sp>
      </p:grpSp>
      <p:grpSp>
        <p:nvGrpSpPr>
          <p:cNvPr id="20" name="Group 19">
            <a:extLst>
              <a:ext uri="{FF2B5EF4-FFF2-40B4-BE49-F238E27FC236}">
                <a16:creationId xmlns:a16="http://schemas.microsoft.com/office/drawing/2014/main" id="{5E755ECE-6C82-0440-9C8B-B1B65828D560}"/>
              </a:ext>
            </a:extLst>
          </p:cNvPr>
          <p:cNvGrpSpPr/>
          <p:nvPr/>
        </p:nvGrpSpPr>
        <p:grpSpPr>
          <a:xfrm>
            <a:off x="3301735" y="1351612"/>
            <a:ext cx="5690725" cy="961576"/>
            <a:chOff x="3301735" y="1319376"/>
            <a:chExt cx="5690725" cy="961576"/>
          </a:xfrm>
        </p:grpSpPr>
        <p:sp>
          <p:nvSpPr>
            <p:cNvPr id="8" name="TextBox 7">
              <a:extLst>
                <a:ext uri="{FF2B5EF4-FFF2-40B4-BE49-F238E27FC236}">
                  <a16:creationId xmlns:a16="http://schemas.microsoft.com/office/drawing/2014/main" id="{EF492377-9334-7D4E-B498-8ACAA4E9544B}"/>
                </a:ext>
              </a:extLst>
            </p:cNvPr>
            <p:cNvSpPr txBox="1"/>
            <p:nvPr/>
          </p:nvSpPr>
          <p:spPr>
            <a:xfrm>
              <a:off x="3301735" y="1319376"/>
              <a:ext cx="2133918" cy="338554"/>
            </a:xfrm>
            <a:prstGeom prst="rect">
              <a:avLst/>
            </a:prstGeom>
            <a:noFill/>
          </p:spPr>
          <p:txBody>
            <a:bodyPr wrap="none" rtlCol="0">
              <a:spAutoFit/>
            </a:bodyPr>
            <a:lstStyle/>
            <a:p>
              <a:r>
                <a:rPr lang="en-US" sz="1600" b="1" dirty="0"/>
                <a:t>Demand Generation</a:t>
              </a:r>
            </a:p>
          </p:txBody>
        </p:sp>
        <p:sp>
          <p:nvSpPr>
            <p:cNvPr id="9" name="TextBox 8">
              <a:extLst>
                <a:ext uri="{FF2B5EF4-FFF2-40B4-BE49-F238E27FC236}">
                  <a16:creationId xmlns:a16="http://schemas.microsoft.com/office/drawing/2014/main" id="{BCC2674B-78D0-A540-AC43-6C8CEF8C5B29}"/>
                </a:ext>
              </a:extLst>
            </p:cNvPr>
            <p:cNvSpPr txBox="1"/>
            <p:nvPr/>
          </p:nvSpPr>
          <p:spPr>
            <a:xfrm>
              <a:off x="3554434" y="1634621"/>
              <a:ext cx="4787208" cy="307777"/>
            </a:xfrm>
            <a:prstGeom prst="rect">
              <a:avLst/>
            </a:prstGeom>
            <a:noFill/>
          </p:spPr>
          <p:txBody>
            <a:bodyPr wrap="none" rtlCol="0">
              <a:spAutoFit/>
            </a:bodyPr>
            <a:lstStyle/>
            <a:p>
              <a:pPr marL="173038" indent="-173038">
                <a:buFont typeface="Arial" panose="020B0604020202020204" pitchFamily="34" charset="0"/>
                <a:buChar char="•"/>
              </a:pPr>
              <a:r>
                <a:rPr lang="en-US" dirty="0"/>
                <a:t>DG’s Researches the Platforms and Personas to Target</a:t>
              </a:r>
            </a:p>
          </p:txBody>
        </p:sp>
        <p:sp>
          <p:nvSpPr>
            <p:cNvPr id="10" name="TextBox 9">
              <a:extLst>
                <a:ext uri="{FF2B5EF4-FFF2-40B4-BE49-F238E27FC236}">
                  <a16:creationId xmlns:a16="http://schemas.microsoft.com/office/drawing/2014/main" id="{D9A382C4-FBDF-AC44-AD8A-014A406FB3C5}"/>
                </a:ext>
              </a:extLst>
            </p:cNvPr>
            <p:cNvSpPr txBox="1"/>
            <p:nvPr/>
          </p:nvSpPr>
          <p:spPr>
            <a:xfrm>
              <a:off x="3554433" y="1973175"/>
              <a:ext cx="5438027" cy="307777"/>
            </a:xfrm>
            <a:prstGeom prst="rect">
              <a:avLst/>
            </a:prstGeom>
            <a:noFill/>
          </p:spPr>
          <p:txBody>
            <a:bodyPr wrap="none" rtlCol="0">
              <a:spAutoFit/>
            </a:bodyPr>
            <a:lstStyle/>
            <a:p>
              <a:pPr marL="173038" indent="-173038">
                <a:buFont typeface="Arial" panose="020B0604020202020204" pitchFamily="34" charset="0"/>
                <a:buChar char="•"/>
              </a:pPr>
              <a:r>
                <a:rPr lang="en-US" dirty="0"/>
                <a:t>PMM’s Work with DG’s to Ensure the Right Comms are in Place</a:t>
              </a:r>
            </a:p>
          </p:txBody>
        </p:sp>
      </p:grpSp>
      <p:grpSp>
        <p:nvGrpSpPr>
          <p:cNvPr id="19" name="Group 18">
            <a:extLst>
              <a:ext uri="{FF2B5EF4-FFF2-40B4-BE49-F238E27FC236}">
                <a16:creationId xmlns:a16="http://schemas.microsoft.com/office/drawing/2014/main" id="{BDDD3D2B-2983-6D48-9A56-F83593EB485E}"/>
              </a:ext>
            </a:extLst>
          </p:cNvPr>
          <p:cNvGrpSpPr/>
          <p:nvPr/>
        </p:nvGrpSpPr>
        <p:grpSpPr>
          <a:xfrm>
            <a:off x="3288288" y="2476004"/>
            <a:ext cx="4991816" cy="961576"/>
            <a:chOff x="3288288" y="2393415"/>
            <a:chExt cx="4991816" cy="961576"/>
          </a:xfrm>
        </p:grpSpPr>
        <p:sp>
          <p:nvSpPr>
            <p:cNvPr id="11" name="TextBox 10">
              <a:extLst>
                <a:ext uri="{FF2B5EF4-FFF2-40B4-BE49-F238E27FC236}">
                  <a16:creationId xmlns:a16="http://schemas.microsoft.com/office/drawing/2014/main" id="{9472F5B3-E5FC-1442-BA5F-48F7B0A54425}"/>
                </a:ext>
              </a:extLst>
            </p:cNvPr>
            <p:cNvSpPr txBox="1"/>
            <p:nvPr/>
          </p:nvSpPr>
          <p:spPr>
            <a:xfrm>
              <a:off x="3288288" y="2393415"/>
              <a:ext cx="1986441" cy="338554"/>
            </a:xfrm>
            <a:prstGeom prst="rect">
              <a:avLst/>
            </a:prstGeom>
            <a:noFill/>
          </p:spPr>
          <p:txBody>
            <a:bodyPr wrap="none" rtlCol="0">
              <a:spAutoFit/>
            </a:bodyPr>
            <a:lstStyle/>
            <a:p>
              <a:r>
                <a:rPr lang="en-US" sz="1600" b="1" dirty="0"/>
                <a:t>Content Marketing</a:t>
              </a:r>
            </a:p>
          </p:txBody>
        </p:sp>
        <p:sp>
          <p:nvSpPr>
            <p:cNvPr id="12" name="TextBox 11">
              <a:extLst>
                <a:ext uri="{FF2B5EF4-FFF2-40B4-BE49-F238E27FC236}">
                  <a16:creationId xmlns:a16="http://schemas.microsoft.com/office/drawing/2014/main" id="{8A1119FB-8044-D343-9504-4195E88613E2}"/>
                </a:ext>
              </a:extLst>
            </p:cNvPr>
            <p:cNvSpPr txBox="1"/>
            <p:nvPr/>
          </p:nvSpPr>
          <p:spPr>
            <a:xfrm>
              <a:off x="3540987" y="2708660"/>
              <a:ext cx="3453510" cy="307777"/>
            </a:xfrm>
            <a:prstGeom prst="rect">
              <a:avLst/>
            </a:prstGeom>
            <a:noFill/>
          </p:spPr>
          <p:txBody>
            <a:bodyPr wrap="none" rtlCol="0">
              <a:spAutoFit/>
            </a:bodyPr>
            <a:lstStyle/>
            <a:p>
              <a:pPr marL="173038" indent="-173038">
                <a:buFont typeface="Arial" panose="020B0604020202020204" pitchFamily="34" charset="0"/>
                <a:buChar char="•"/>
              </a:pPr>
              <a:r>
                <a:rPr lang="en-US" dirty="0"/>
                <a:t>CM’s Create Customer-Facing Content</a:t>
              </a:r>
            </a:p>
          </p:txBody>
        </p:sp>
        <p:sp>
          <p:nvSpPr>
            <p:cNvPr id="13" name="TextBox 12">
              <a:extLst>
                <a:ext uri="{FF2B5EF4-FFF2-40B4-BE49-F238E27FC236}">
                  <a16:creationId xmlns:a16="http://schemas.microsoft.com/office/drawing/2014/main" id="{64C5B642-1252-0644-ADDC-76D426E3FE30}"/>
                </a:ext>
              </a:extLst>
            </p:cNvPr>
            <p:cNvSpPr txBox="1"/>
            <p:nvPr/>
          </p:nvSpPr>
          <p:spPr>
            <a:xfrm>
              <a:off x="3540986" y="3047214"/>
              <a:ext cx="4739118" cy="307777"/>
            </a:xfrm>
            <a:prstGeom prst="rect">
              <a:avLst/>
            </a:prstGeom>
            <a:noFill/>
          </p:spPr>
          <p:txBody>
            <a:bodyPr wrap="none" rtlCol="0">
              <a:spAutoFit/>
            </a:bodyPr>
            <a:lstStyle/>
            <a:p>
              <a:pPr marL="173038" indent="-173038">
                <a:buFont typeface="Arial" panose="020B0604020202020204" pitchFamily="34" charset="0"/>
                <a:buChar char="•"/>
              </a:pPr>
              <a:r>
                <a:rPr lang="en-US" dirty="0"/>
                <a:t>PMM’s are the Subject Matter Experts (SMEs) for CM’s</a:t>
              </a:r>
            </a:p>
          </p:txBody>
        </p:sp>
      </p:grpSp>
      <p:grpSp>
        <p:nvGrpSpPr>
          <p:cNvPr id="18" name="Group 17">
            <a:extLst>
              <a:ext uri="{FF2B5EF4-FFF2-40B4-BE49-F238E27FC236}">
                <a16:creationId xmlns:a16="http://schemas.microsoft.com/office/drawing/2014/main" id="{B2D85957-CAFC-3A43-A49A-0B12ADD63FD3}"/>
              </a:ext>
            </a:extLst>
          </p:cNvPr>
          <p:cNvGrpSpPr/>
          <p:nvPr/>
        </p:nvGrpSpPr>
        <p:grpSpPr>
          <a:xfrm>
            <a:off x="3301735" y="3600395"/>
            <a:ext cx="5419818" cy="1302488"/>
            <a:chOff x="3301735" y="3600395"/>
            <a:chExt cx="5419818" cy="1302488"/>
          </a:xfrm>
        </p:grpSpPr>
        <p:sp>
          <p:nvSpPr>
            <p:cNvPr id="14" name="TextBox 13">
              <a:extLst>
                <a:ext uri="{FF2B5EF4-FFF2-40B4-BE49-F238E27FC236}">
                  <a16:creationId xmlns:a16="http://schemas.microsoft.com/office/drawing/2014/main" id="{CD8986F2-1C40-2346-A72F-CD9B2AC58362}"/>
                </a:ext>
              </a:extLst>
            </p:cNvPr>
            <p:cNvSpPr txBox="1"/>
            <p:nvPr/>
          </p:nvSpPr>
          <p:spPr>
            <a:xfrm>
              <a:off x="3301735" y="3600395"/>
              <a:ext cx="1939955" cy="338554"/>
            </a:xfrm>
            <a:prstGeom prst="rect">
              <a:avLst/>
            </a:prstGeom>
            <a:noFill/>
          </p:spPr>
          <p:txBody>
            <a:bodyPr wrap="none" rtlCol="0">
              <a:spAutoFit/>
            </a:bodyPr>
            <a:lstStyle/>
            <a:p>
              <a:r>
                <a:rPr lang="en-US" sz="1600" b="1" dirty="0"/>
                <a:t>Sales Enablement</a:t>
              </a:r>
            </a:p>
          </p:txBody>
        </p:sp>
        <p:sp>
          <p:nvSpPr>
            <p:cNvPr id="15" name="TextBox 14">
              <a:extLst>
                <a:ext uri="{FF2B5EF4-FFF2-40B4-BE49-F238E27FC236}">
                  <a16:creationId xmlns:a16="http://schemas.microsoft.com/office/drawing/2014/main" id="{282C4CBF-BBE3-424E-B365-337292DE56C0}"/>
                </a:ext>
              </a:extLst>
            </p:cNvPr>
            <p:cNvSpPr txBox="1"/>
            <p:nvPr/>
          </p:nvSpPr>
          <p:spPr>
            <a:xfrm>
              <a:off x="3554434" y="3915640"/>
              <a:ext cx="4997202" cy="307777"/>
            </a:xfrm>
            <a:prstGeom prst="rect">
              <a:avLst/>
            </a:prstGeom>
            <a:noFill/>
          </p:spPr>
          <p:txBody>
            <a:bodyPr wrap="none" rtlCol="0">
              <a:spAutoFit/>
            </a:bodyPr>
            <a:lstStyle/>
            <a:p>
              <a:pPr marL="173038" indent="-173038">
                <a:buFont typeface="Arial" panose="020B0604020202020204" pitchFamily="34" charset="0"/>
                <a:buChar char="•"/>
              </a:pPr>
              <a:r>
                <a:rPr lang="en-US" dirty="0"/>
                <a:t>Enablement Trains the Sales Team; PMM’s are the SMEs </a:t>
              </a:r>
            </a:p>
          </p:txBody>
        </p:sp>
        <p:sp>
          <p:nvSpPr>
            <p:cNvPr id="16" name="TextBox 15">
              <a:extLst>
                <a:ext uri="{FF2B5EF4-FFF2-40B4-BE49-F238E27FC236}">
                  <a16:creationId xmlns:a16="http://schemas.microsoft.com/office/drawing/2014/main" id="{E0CFBA40-997C-A94F-962D-A136D2F39640}"/>
                </a:ext>
              </a:extLst>
            </p:cNvPr>
            <p:cNvSpPr txBox="1"/>
            <p:nvPr/>
          </p:nvSpPr>
          <p:spPr>
            <a:xfrm>
              <a:off x="3554433" y="4254194"/>
              <a:ext cx="4868962" cy="307777"/>
            </a:xfrm>
            <a:prstGeom prst="rect">
              <a:avLst/>
            </a:prstGeom>
            <a:noFill/>
          </p:spPr>
          <p:txBody>
            <a:bodyPr wrap="none" rtlCol="0">
              <a:spAutoFit/>
            </a:bodyPr>
            <a:lstStyle/>
            <a:p>
              <a:pPr marL="173038" indent="-173038">
                <a:buFont typeface="Arial" panose="020B0604020202020204" pitchFamily="34" charset="0"/>
                <a:buChar char="•"/>
              </a:pPr>
              <a:r>
                <a:rPr lang="en-US" dirty="0"/>
                <a:t>PMM’s Research Competitors and Analyze Product Data</a:t>
              </a:r>
            </a:p>
          </p:txBody>
        </p:sp>
        <p:sp>
          <p:nvSpPr>
            <p:cNvPr id="17" name="TextBox 16">
              <a:extLst>
                <a:ext uri="{FF2B5EF4-FFF2-40B4-BE49-F238E27FC236}">
                  <a16:creationId xmlns:a16="http://schemas.microsoft.com/office/drawing/2014/main" id="{7AA95894-48A2-FD46-9264-3D09942AE8EF}"/>
                </a:ext>
              </a:extLst>
            </p:cNvPr>
            <p:cNvSpPr txBox="1"/>
            <p:nvPr/>
          </p:nvSpPr>
          <p:spPr>
            <a:xfrm>
              <a:off x="3554433" y="4595106"/>
              <a:ext cx="5167120" cy="307777"/>
            </a:xfrm>
            <a:prstGeom prst="rect">
              <a:avLst/>
            </a:prstGeom>
            <a:noFill/>
          </p:spPr>
          <p:txBody>
            <a:bodyPr wrap="none" rtlCol="0">
              <a:spAutoFit/>
            </a:bodyPr>
            <a:lstStyle/>
            <a:p>
              <a:pPr marL="173038" indent="-173038">
                <a:buFont typeface="Arial" panose="020B0604020202020204" pitchFamily="34" charset="0"/>
                <a:buChar char="•"/>
              </a:pPr>
              <a:r>
                <a:rPr lang="en-US" dirty="0"/>
                <a:t>PMM’s Identify Distinguishing Product Features and Benefits</a:t>
              </a:r>
            </a:p>
          </p:txBody>
        </p:sp>
      </p:grpSp>
    </p:spTree>
    <p:extLst>
      <p:ext uri="{BB962C8B-B14F-4D97-AF65-F5344CB8AC3E}">
        <p14:creationId xmlns:p14="http://schemas.microsoft.com/office/powerpoint/2010/main" val="3336681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2065350"/>
            <a:ext cx="8222100" cy="13752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What is The State of </a:t>
            </a:r>
            <a:r>
              <a:rPr lang="en" b="1" dirty="0">
                <a:solidFill>
                  <a:schemeClr val="accent6"/>
                </a:solidFill>
              </a:rPr>
              <a:t>Traditional Product Marketing</a:t>
            </a:r>
            <a:endParaRPr b="1" dirty="0">
              <a:solidFill>
                <a:schemeClr val="accent6"/>
              </a:solidFill>
            </a:endParaRPr>
          </a:p>
        </p:txBody>
      </p:sp>
    </p:spTree>
    <p:extLst>
      <p:ext uri="{BB962C8B-B14F-4D97-AF65-F5344CB8AC3E}">
        <p14:creationId xmlns:p14="http://schemas.microsoft.com/office/powerpoint/2010/main" val="1024022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31"/>
          <p:cNvPicPr preferRelativeResize="0"/>
          <p:nvPr/>
        </p:nvPicPr>
        <p:blipFill rotWithShape="1">
          <a:blip r:embed="rId3">
            <a:alphaModFix/>
          </a:blip>
          <a:srcRect b="24800"/>
          <a:stretch/>
        </p:blipFill>
        <p:spPr>
          <a:xfrm>
            <a:off x="4131700" y="978250"/>
            <a:ext cx="4142052" cy="2335950"/>
          </a:xfrm>
          <a:prstGeom prst="rect">
            <a:avLst/>
          </a:prstGeom>
          <a:noFill/>
          <a:ln>
            <a:noFill/>
          </a:ln>
        </p:spPr>
      </p:pic>
      <p:sp>
        <p:nvSpPr>
          <p:cNvPr id="279" name="Google Shape;279;p31"/>
          <p:cNvSpPr txBox="1">
            <a:spLocks noGrp="1"/>
          </p:cNvSpPr>
          <p:nvPr>
            <p:ph type="title"/>
          </p:nvPr>
        </p:nvSpPr>
        <p:spPr>
          <a:xfrm>
            <a:off x="226075" y="357800"/>
            <a:ext cx="2808000" cy="1430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Current State vs. Desired State of PMM</a:t>
            </a:r>
            <a:endParaRPr/>
          </a:p>
        </p:txBody>
      </p:sp>
      <p:sp>
        <p:nvSpPr>
          <p:cNvPr id="280" name="Google Shape;280;p31"/>
          <p:cNvSpPr txBox="1">
            <a:spLocks noGrp="1"/>
          </p:cNvSpPr>
          <p:nvPr>
            <p:ph type="body" idx="1"/>
          </p:nvPr>
        </p:nvSpPr>
        <p:spPr>
          <a:xfrm>
            <a:off x="226075" y="1912675"/>
            <a:ext cx="2808000" cy="2716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What have I observed so far, versus what am I hearing from around the company?</a:t>
            </a:r>
            <a:endParaRPr/>
          </a:p>
        </p:txBody>
      </p:sp>
      <p:pic>
        <p:nvPicPr>
          <p:cNvPr id="281" name="Google Shape;281;p31" descr="Open Chromebook laptop computer"/>
          <p:cNvPicPr preferRelativeResize="0"/>
          <p:nvPr/>
        </p:nvPicPr>
        <p:blipFill>
          <a:blip r:embed="rId4">
            <a:alphaModFix/>
          </a:blip>
          <a:stretch>
            <a:fillRect/>
          </a:stretch>
        </p:blipFill>
        <p:spPr>
          <a:xfrm>
            <a:off x="3452975" y="697325"/>
            <a:ext cx="5591976" cy="3316000"/>
          </a:xfrm>
          <a:prstGeom prst="rect">
            <a:avLst/>
          </a:prstGeom>
          <a:noFill/>
          <a:ln>
            <a:noFill/>
          </a:ln>
        </p:spPr>
      </p:pic>
      <p:grpSp>
        <p:nvGrpSpPr>
          <p:cNvPr id="282" name="Google Shape;282;p31"/>
          <p:cNvGrpSpPr/>
          <p:nvPr/>
        </p:nvGrpSpPr>
        <p:grpSpPr>
          <a:xfrm>
            <a:off x="7188601" y="1585375"/>
            <a:ext cx="1675825" cy="3291298"/>
            <a:chOff x="7188601" y="1585375"/>
            <a:chExt cx="1675825" cy="3291298"/>
          </a:xfrm>
        </p:grpSpPr>
        <p:pic>
          <p:nvPicPr>
            <p:cNvPr id="283" name="Google Shape;283;p31" descr="Portrait-oriented black smaptphone"/>
            <p:cNvPicPr preferRelativeResize="0"/>
            <p:nvPr/>
          </p:nvPicPr>
          <p:blipFill>
            <a:blip r:embed="rId5">
              <a:alphaModFix/>
            </a:blip>
            <a:stretch>
              <a:fillRect/>
            </a:stretch>
          </p:blipFill>
          <p:spPr>
            <a:xfrm>
              <a:off x="7188601" y="1585375"/>
              <a:ext cx="1675825" cy="3291298"/>
            </a:xfrm>
            <a:prstGeom prst="rect">
              <a:avLst/>
            </a:prstGeom>
            <a:noFill/>
            <a:ln>
              <a:noFill/>
            </a:ln>
          </p:spPr>
        </p:pic>
        <p:pic>
          <p:nvPicPr>
            <p:cNvPr id="284" name="Google Shape;284;p31"/>
            <p:cNvPicPr preferRelativeResize="0"/>
            <p:nvPr/>
          </p:nvPicPr>
          <p:blipFill>
            <a:blip r:embed="rId6">
              <a:alphaModFix/>
            </a:blip>
            <a:stretch>
              <a:fillRect/>
            </a:stretch>
          </p:blipFill>
          <p:spPr>
            <a:xfrm>
              <a:off x="7272133" y="1858750"/>
              <a:ext cx="1508760" cy="2688336"/>
            </a:xfrm>
            <a:prstGeom prst="rect">
              <a:avLst/>
            </a:prstGeom>
            <a:noFill/>
            <a:ln>
              <a:noFill/>
            </a:ln>
          </p:spPr>
        </p:pic>
      </p:grpSp>
      <p:pic>
        <p:nvPicPr>
          <p:cNvPr id="285" name="Google Shape;285;p31"/>
          <p:cNvPicPr preferRelativeResize="0"/>
          <p:nvPr/>
        </p:nvPicPr>
        <p:blipFill>
          <a:blip r:embed="rId7">
            <a:alphaModFix/>
          </a:blip>
          <a:stretch>
            <a:fillRect/>
          </a:stretch>
        </p:blipFill>
        <p:spPr>
          <a:xfrm>
            <a:off x="7324667" y="4102913"/>
            <a:ext cx="1403708" cy="228600"/>
          </a:xfrm>
          <a:prstGeom prst="rect">
            <a:avLst/>
          </a:prstGeom>
          <a:noFill/>
          <a:ln>
            <a:noFill/>
          </a:ln>
        </p:spPr>
      </p:pic>
      <p:pic>
        <p:nvPicPr>
          <p:cNvPr id="286" name="Google Shape;286;p31"/>
          <p:cNvPicPr preferRelativeResize="0"/>
          <p:nvPr/>
        </p:nvPicPr>
        <p:blipFill>
          <a:blip r:embed="rId8">
            <a:alphaModFix/>
          </a:blip>
          <a:stretch>
            <a:fillRect/>
          </a:stretch>
        </p:blipFill>
        <p:spPr>
          <a:xfrm>
            <a:off x="7324654" y="3835218"/>
            <a:ext cx="1403708" cy="228600"/>
          </a:xfrm>
          <a:prstGeom prst="rect">
            <a:avLst/>
          </a:prstGeom>
          <a:noFill/>
          <a:ln>
            <a:noFill/>
          </a:ln>
        </p:spPr>
      </p:pic>
      <p:pic>
        <p:nvPicPr>
          <p:cNvPr id="287" name="Google Shape;287;p31"/>
          <p:cNvPicPr preferRelativeResize="0"/>
          <p:nvPr/>
        </p:nvPicPr>
        <p:blipFill>
          <a:blip r:embed="rId9">
            <a:alphaModFix/>
          </a:blip>
          <a:stretch>
            <a:fillRect/>
          </a:stretch>
        </p:blipFill>
        <p:spPr>
          <a:xfrm>
            <a:off x="7324654" y="3567523"/>
            <a:ext cx="1403708" cy="228600"/>
          </a:xfrm>
          <a:prstGeom prst="rect">
            <a:avLst/>
          </a:prstGeom>
          <a:noFill/>
          <a:ln>
            <a:noFill/>
          </a:ln>
        </p:spPr>
      </p:pic>
      <p:pic>
        <p:nvPicPr>
          <p:cNvPr id="288" name="Google Shape;288;p31"/>
          <p:cNvPicPr preferRelativeResize="0"/>
          <p:nvPr/>
        </p:nvPicPr>
        <p:blipFill>
          <a:blip r:embed="rId10">
            <a:alphaModFix/>
          </a:blip>
          <a:stretch>
            <a:fillRect/>
          </a:stretch>
        </p:blipFill>
        <p:spPr>
          <a:xfrm>
            <a:off x="7324667" y="3302006"/>
            <a:ext cx="1403708" cy="226423"/>
          </a:xfrm>
          <a:prstGeom prst="rect">
            <a:avLst/>
          </a:prstGeom>
          <a:noFill/>
          <a:ln>
            <a:noFill/>
          </a:ln>
        </p:spPr>
      </p:pic>
      <p:pic>
        <p:nvPicPr>
          <p:cNvPr id="289" name="Google Shape;289;p31"/>
          <p:cNvPicPr preferRelativeResize="0"/>
          <p:nvPr/>
        </p:nvPicPr>
        <p:blipFill rotWithShape="1">
          <a:blip r:embed="rId11">
            <a:alphaModFix/>
          </a:blip>
          <a:srcRect t="139" b="129"/>
          <a:stretch/>
        </p:blipFill>
        <p:spPr>
          <a:xfrm>
            <a:off x="7324667" y="3036489"/>
            <a:ext cx="1403708" cy="226423"/>
          </a:xfrm>
          <a:prstGeom prst="rect">
            <a:avLst/>
          </a:prstGeom>
          <a:noFill/>
          <a:ln>
            <a:noFill/>
          </a:ln>
        </p:spPr>
      </p:pic>
      <p:pic>
        <p:nvPicPr>
          <p:cNvPr id="290" name="Google Shape;290;p31"/>
          <p:cNvPicPr preferRelativeResize="0"/>
          <p:nvPr/>
        </p:nvPicPr>
        <p:blipFill>
          <a:blip r:embed="rId12">
            <a:alphaModFix/>
          </a:blip>
          <a:stretch>
            <a:fillRect/>
          </a:stretch>
        </p:blipFill>
        <p:spPr>
          <a:xfrm>
            <a:off x="7324667" y="2770971"/>
            <a:ext cx="1403708" cy="226423"/>
          </a:xfrm>
          <a:prstGeom prst="rect">
            <a:avLst/>
          </a:prstGeom>
          <a:noFill/>
          <a:ln>
            <a:noFill/>
          </a:ln>
        </p:spPr>
      </p:pic>
      <p:pic>
        <p:nvPicPr>
          <p:cNvPr id="291" name="Google Shape;291;p31"/>
          <p:cNvPicPr preferRelativeResize="0"/>
          <p:nvPr/>
        </p:nvPicPr>
        <p:blipFill>
          <a:blip r:embed="rId13">
            <a:alphaModFix/>
          </a:blip>
          <a:stretch>
            <a:fillRect/>
          </a:stretch>
        </p:blipFill>
        <p:spPr>
          <a:xfrm>
            <a:off x="7324667" y="2507631"/>
            <a:ext cx="1403708" cy="224246"/>
          </a:xfrm>
          <a:prstGeom prst="rect">
            <a:avLst/>
          </a:prstGeom>
          <a:noFill/>
          <a:ln>
            <a:noFill/>
          </a:ln>
        </p:spPr>
      </p:pic>
      <p:pic>
        <p:nvPicPr>
          <p:cNvPr id="292" name="Google Shape;292;p31"/>
          <p:cNvPicPr preferRelativeResize="0"/>
          <p:nvPr/>
        </p:nvPicPr>
        <p:blipFill>
          <a:blip r:embed="rId14">
            <a:alphaModFix/>
          </a:blip>
          <a:stretch>
            <a:fillRect/>
          </a:stretch>
        </p:blipFill>
        <p:spPr>
          <a:xfrm>
            <a:off x="7323563" y="2242114"/>
            <a:ext cx="1405891" cy="226423"/>
          </a:xfrm>
          <a:prstGeom prst="rect">
            <a:avLst/>
          </a:prstGeom>
          <a:noFill/>
          <a:ln>
            <a:noFill/>
          </a:ln>
        </p:spPr>
      </p:pic>
    </p:spTree>
    <p:extLst>
      <p:ext uri="{BB962C8B-B14F-4D97-AF65-F5344CB8AC3E}">
        <p14:creationId xmlns:p14="http://schemas.microsoft.com/office/powerpoint/2010/main" val="124379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1000"/>
                                        <p:tgtEl>
                                          <p:spTgt spid="28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92"/>
                                        </p:tgtEl>
                                        <p:attrNameLst>
                                          <p:attrName>style.visibility</p:attrName>
                                        </p:attrNameLst>
                                      </p:cBhvr>
                                      <p:to>
                                        <p:strVal val="visible"/>
                                      </p:to>
                                    </p:set>
                                    <p:animEffect transition="in" filter="fade">
                                      <p:cBhvr>
                                        <p:cTn id="11" dur="1000"/>
                                        <p:tgtEl>
                                          <p:spTgt spid="29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91"/>
                                        </p:tgtEl>
                                        <p:attrNameLst>
                                          <p:attrName>style.visibility</p:attrName>
                                        </p:attrNameLst>
                                      </p:cBhvr>
                                      <p:to>
                                        <p:strVal val="visible"/>
                                      </p:to>
                                    </p:set>
                                    <p:animEffect transition="in" filter="fade">
                                      <p:cBhvr>
                                        <p:cTn id="16" dur="1000"/>
                                        <p:tgtEl>
                                          <p:spTgt spid="29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90"/>
                                        </p:tgtEl>
                                        <p:attrNameLst>
                                          <p:attrName>style.visibility</p:attrName>
                                        </p:attrNameLst>
                                      </p:cBhvr>
                                      <p:to>
                                        <p:strVal val="visible"/>
                                      </p:to>
                                    </p:set>
                                    <p:animEffect transition="in" filter="fade">
                                      <p:cBhvr>
                                        <p:cTn id="21" dur="1000"/>
                                        <p:tgtEl>
                                          <p:spTgt spid="29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89"/>
                                        </p:tgtEl>
                                        <p:attrNameLst>
                                          <p:attrName>style.visibility</p:attrName>
                                        </p:attrNameLst>
                                      </p:cBhvr>
                                      <p:to>
                                        <p:strVal val="visible"/>
                                      </p:to>
                                    </p:set>
                                    <p:animEffect transition="in" filter="fade">
                                      <p:cBhvr>
                                        <p:cTn id="26" dur="1000"/>
                                        <p:tgtEl>
                                          <p:spTgt spid="28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88"/>
                                        </p:tgtEl>
                                        <p:attrNameLst>
                                          <p:attrName>style.visibility</p:attrName>
                                        </p:attrNameLst>
                                      </p:cBhvr>
                                      <p:to>
                                        <p:strVal val="visible"/>
                                      </p:to>
                                    </p:set>
                                    <p:animEffect transition="in" filter="fade">
                                      <p:cBhvr>
                                        <p:cTn id="31" dur="1000"/>
                                        <p:tgtEl>
                                          <p:spTgt spid="28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87"/>
                                        </p:tgtEl>
                                        <p:attrNameLst>
                                          <p:attrName>style.visibility</p:attrName>
                                        </p:attrNameLst>
                                      </p:cBhvr>
                                      <p:to>
                                        <p:strVal val="visible"/>
                                      </p:to>
                                    </p:set>
                                    <p:animEffect transition="in" filter="fade">
                                      <p:cBhvr>
                                        <p:cTn id="36" dur="1000"/>
                                        <p:tgtEl>
                                          <p:spTgt spid="28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86"/>
                                        </p:tgtEl>
                                        <p:attrNameLst>
                                          <p:attrName>style.visibility</p:attrName>
                                        </p:attrNameLst>
                                      </p:cBhvr>
                                      <p:to>
                                        <p:strVal val="visible"/>
                                      </p:to>
                                    </p:set>
                                    <p:animEffect transition="in" filter="fade">
                                      <p:cBhvr>
                                        <p:cTn id="41" dur="1000"/>
                                        <p:tgtEl>
                                          <p:spTgt spid="28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85"/>
                                        </p:tgtEl>
                                        <p:attrNameLst>
                                          <p:attrName>style.visibility</p:attrName>
                                        </p:attrNameLst>
                                      </p:cBhvr>
                                      <p:to>
                                        <p:strVal val="visible"/>
                                      </p:to>
                                    </p:set>
                                    <p:animEffect transition="in" filter="fade">
                                      <p:cBhvr>
                                        <p:cTn id="46"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xfrm>
            <a:off x="226075" y="357800"/>
            <a:ext cx="2808000" cy="1396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Where Does Product Marketing Fit</a:t>
            </a:r>
            <a:endParaRPr/>
          </a:p>
        </p:txBody>
      </p:sp>
      <p:sp>
        <p:nvSpPr>
          <p:cNvPr id="298" name="Google Shape;298;p32"/>
          <p:cNvSpPr txBox="1">
            <a:spLocks noGrp="1"/>
          </p:cNvSpPr>
          <p:nvPr>
            <p:ph type="body" idx="1"/>
          </p:nvPr>
        </p:nvSpPr>
        <p:spPr>
          <a:xfrm>
            <a:off x="226075" y="1844200"/>
            <a:ext cx="2808000" cy="2785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i="1"/>
              <a:t>Product Marketing Outside of IBM:</a:t>
            </a:r>
            <a:r>
              <a:rPr lang="en"/>
              <a:t> </a:t>
            </a:r>
            <a:r>
              <a:rPr lang="en" sz="1000"/>
              <a:t>Survey conducted by the Product Marketing Alliance in 2020</a:t>
            </a:r>
            <a:endParaRPr sz="1000"/>
          </a:p>
        </p:txBody>
      </p:sp>
      <p:pic>
        <p:nvPicPr>
          <p:cNvPr id="299" name="Google Shape;299;p32"/>
          <p:cNvPicPr preferRelativeResize="0"/>
          <p:nvPr/>
        </p:nvPicPr>
        <p:blipFill>
          <a:blip r:embed="rId3">
            <a:alphaModFix/>
          </a:blip>
          <a:stretch>
            <a:fillRect/>
          </a:stretch>
        </p:blipFill>
        <p:spPr>
          <a:xfrm>
            <a:off x="3385825" y="452500"/>
            <a:ext cx="5697925" cy="4238500"/>
          </a:xfrm>
          <a:prstGeom prst="rect">
            <a:avLst/>
          </a:prstGeom>
          <a:noFill/>
          <a:ln>
            <a:noFill/>
          </a:ln>
        </p:spPr>
      </p:pic>
    </p:spTree>
    <p:extLst>
      <p:ext uri="{BB962C8B-B14F-4D97-AF65-F5344CB8AC3E}">
        <p14:creationId xmlns:p14="http://schemas.microsoft.com/office/powerpoint/2010/main" val="1419640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3"/>
          <p:cNvSpPr txBox="1">
            <a:spLocks noGrp="1"/>
          </p:cNvSpPr>
          <p:nvPr>
            <p:ph type="title"/>
          </p:nvPr>
        </p:nvSpPr>
        <p:spPr>
          <a:xfrm>
            <a:off x="226075" y="190675"/>
            <a:ext cx="2808000" cy="164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What’s the Focus When PMM Reports to the CMO</a:t>
            </a:r>
            <a:endParaRPr/>
          </a:p>
        </p:txBody>
      </p:sp>
      <p:sp>
        <p:nvSpPr>
          <p:cNvPr id="305" name="Google Shape;305;p33"/>
          <p:cNvSpPr txBox="1">
            <a:spLocks noGrp="1"/>
          </p:cNvSpPr>
          <p:nvPr>
            <p:ph type="body" idx="1"/>
          </p:nvPr>
        </p:nvSpPr>
        <p:spPr>
          <a:xfrm>
            <a:off x="226075" y="2080625"/>
            <a:ext cx="2808000" cy="2548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Product Marketing reports into the CMO for company when it: </a:t>
            </a:r>
            <a:endParaRPr/>
          </a:p>
          <a:p>
            <a:pPr marL="285750" lvl="0" indent="-133350" algn="l" rtl="0">
              <a:spcBef>
                <a:spcPts val="1200"/>
              </a:spcBef>
              <a:spcAft>
                <a:spcPts val="0"/>
              </a:spcAft>
              <a:buSzPts val="1200"/>
              <a:buChar char="●"/>
            </a:pPr>
            <a:r>
              <a:rPr lang="en"/>
              <a:t>Wants to experience hypergrowth</a:t>
            </a:r>
            <a:endParaRPr/>
          </a:p>
          <a:p>
            <a:pPr marL="285750" lvl="0" indent="-133350" algn="l" rtl="0">
              <a:spcBef>
                <a:spcPts val="1000"/>
              </a:spcBef>
              <a:spcAft>
                <a:spcPts val="0"/>
              </a:spcAft>
              <a:buSzPts val="1200"/>
              <a:buChar char="●"/>
            </a:pPr>
            <a:r>
              <a:rPr lang="en"/>
              <a:t>Is experiencing hypergrowth</a:t>
            </a:r>
            <a:endParaRPr/>
          </a:p>
          <a:p>
            <a:pPr marL="0" lvl="0" indent="0" algn="l" rtl="0">
              <a:spcBef>
                <a:spcPts val="1200"/>
              </a:spcBef>
              <a:spcAft>
                <a:spcPts val="1200"/>
              </a:spcAft>
              <a:buNone/>
            </a:pPr>
            <a:r>
              <a:rPr lang="en"/>
              <a:t>This is because you need Product Marketing as close to the Sales process as possible.</a:t>
            </a:r>
            <a:endParaRPr/>
          </a:p>
        </p:txBody>
      </p:sp>
      <p:sp>
        <p:nvSpPr>
          <p:cNvPr id="306" name="Google Shape;306;p33"/>
          <p:cNvSpPr txBox="1"/>
          <p:nvPr/>
        </p:nvSpPr>
        <p:spPr>
          <a:xfrm>
            <a:off x="3355125" y="168747"/>
            <a:ext cx="5735100" cy="769411"/>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Roboto"/>
              <a:buAutoNum type="arabicPeriod"/>
            </a:pPr>
            <a:r>
              <a:rPr lang="en" b="1" dirty="0">
                <a:latin typeface="Roboto"/>
                <a:ea typeface="Roboto"/>
                <a:cs typeface="Roboto"/>
                <a:sym typeface="Roboto"/>
              </a:rPr>
              <a:t>Product Marketing’s Goals are Tied to Sales</a:t>
            </a:r>
            <a:endParaRPr b="1" dirty="0">
              <a:latin typeface="Roboto"/>
              <a:ea typeface="Roboto"/>
              <a:cs typeface="Roboto"/>
              <a:sym typeface="Roboto"/>
            </a:endParaRPr>
          </a:p>
          <a:p>
            <a:pPr marL="806450" lvl="1" indent="-176213" algn="l" rtl="0">
              <a:spcBef>
                <a:spcPts val="0"/>
              </a:spcBef>
              <a:spcAft>
                <a:spcPts val="0"/>
              </a:spcAft>
              <a:buSzPts val="1400"/>
              <a:buFont typeface="Roboto"/>
              <a:buChar char="○"/>
            </a:pPr>
            <a:r>
              <a:rPr lang="en" sz="1200" dirty="0">
                <a:latin typeface="Roboto"/>
                <a:ea typeface="Roboto"/>
                <a:cs typeface="Roboto"/>
                <a:sym typeface="Roboto"/>
              </a:rPr>
              <a:t>Know the Business 24x7: Pipeline, Conversions, Revenue Attainment, Product/Feature Adoption, Account Penetration</a:t>
            </a:r>
            <a:endParaRPr sz="1200" dirty="0">
              <a:latin typeface="Roboto"/>
              <a:ea typeface="Roboto"/>
              <a:cs typeface="Roboto"/>
              <a:sym typeface="Roboto"/>
            </a:endParaRPr>
          </a:p>
        </p:txBody>
      </p:sp>
      <p:sp>
        <p:nvSpPr>
          <p:cNvPr id="307" name="Google Shape;307;p33"/>
          <p:cNvSpPr txBox="1"/>
          <p:nvPr/>
        </p:nvSpPr>
        <p:spPr>
          <a:xfrm>
            <a:off x="3355125" y="1136837"/>
            <a:ext cx="5735100" cy="584745"/>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Roboto"/>
              <a:buAutoNum type="arabicPeriod" startAt="2"/>
            </a:pPr>
            <a:r>
              <a:rPr lang="en" b="1" dirty="0">
                <a:latin typeface="Roboto"/>
                <a:ea typeface="Roboto"/>
                <a:cs typeface="Roboto"/>
                <a:sym typeface="Roboto"/>
              </a:rPr>
              <a:t>Driving Force Hammering on the GTM Strategy Daily</a:t>
            </a:r>
            <a:endParaRPr b="1" dirty="0">
              <a:latin typeface="Roboto"/>
              <a:ea typeface="Roboto"/>
              <a:cs typeface="Roboto"/>
              <a:sym typeface="Roboto"/>
            </a:endParaRPr>
          </a:p>
          <a:p>
            <a:pPr marL="806450" lvl="1" indent="-176213" algn="l" rtl="0">
              <a:spcBef>
                <a:spcPts val="0"/>
              </a:spcBef>
              <a:spcAft>
                <a:spcPts val="0"/>
              </a:spcAft>
              <a:buSzPts val="1400"/>
              <a:buFont typeface="Roboto"/>
              <a:buChar char="○"/>
            </a:pPr>
            <a:r>
              <a:rPr lang="en" sz="1200" dirty="0">
                <a:latin typeface="Roboto"/>
                <a:ea typeface="Roboto"/>
                <a:cs typeface="Roboto"/>
                <a:sym typeface="Roboto"/>
              </a:rPr>
              <a:t>We are Responsible for GTM Success</a:t>
            </a:r>
            <a:endParaRPr sz="1200" dirty="0">
              <a:latin typeface="Roboto"/>
              <a:ea typeface="Roboto"/>
              <a:cs typeface="Roboto"/>
              <a:sym typeface="Roboto"/>
            </a:endParaRPr>
          </a:p>
        </p:txBody>
      </p:sp>
      <p:sp>
        <p:nvSpPr>
          <p:cNvPr id="308" name="Google Shape;308;p33"/>
          <p:cNvSpPr txBox="1"/>
          <p:nvPr/>
        </p:nvSpPr>
        <p:spPr>
          <a:xfrm>
            <a:off x="3355125" y="1920261"/>
            <a:ext cx="5735100" cy="984855"/>
          </a:xfrm>
          <a:prstGeom prst="rect">
            <a:avLst/>
          </a:prstGeom>
          <a:noFill/>
          <a:ln>
            <a:noFill/>
          </a:ln>
        </p:spPr>
        <p:txBody>
          <a:bodyPr spcFirstLastPara="1" wrap="square" lIns="91425" tIns="91425" rIns="91425" bIns="91425" anchor="t" anchorCtr="0">
            <a:spAutoFit/>
          </a:bodyPr>
          <a:lstStyle/>
          <a:p>
            <a:pPr marL="457200" lvl="0" indent="-342900" algn="l" rtl="0">
              <a:spcAft>
                <a:spcPts val="0"/>
              </a:spcAft>
              <a:buSzPts val="1800"/>
              <a:buFont typeface="Roboto"/>
              <a:buAutoNum type="arabicPeriod" startAt="3"/>
            </a:pPr>
            <a:r>
              <a:rPr lang="en" b="1" dirty="0">
                <a:latin typeface="Roboto"/>
                <a:ea typeface="Roboto"/>
                <a:cs typeface="Roboto"/>
                <a:sym typeface="Roboto"/>
              </a:rPr>
              <a:t>We are in the Trenches with Sales </a:t>
            </a:r>
            <a:endParaRPr b="1" dirty="0">
              <a:latin typeface="Roboto"/>
              <a:ea typeface="Roboto"/>
              <a:cs typeface="Roboto"/>
              <a:sym typeface="Roboto"/>
            </a:endParaRPr>
          </a:p>
          <a:p>
            <a:pPr marL="806450" lvl="1" indent="-201613" algn="l" rtl="0">
              <a:spcBef>
                <a:spcPts val="0"/>
              </a:spcBef>
              <a:spcAft>
                <a:spcPts val="0"/>
              </a:spcAft>
              <a:buSzPts val="1400"/>
              <a:buFont typeface="Roboto"/>
              <a:buChar char="○"/>
            </a:pPr>
            <a:r>
              <a:rPr lang="en" sz="1200" dirty="0">
                <a:latin typeface="Roboto"/>
                <a:ea typeface="Roboto"/>
                <a:cs typeface="Roboto"/>
                <a:sym typeface="Roboto"/>
              </a:rPr>
              <a:t>We Focus on What Message Works Best</a:t>
            </a:r>
            <a:endParaRPr sz="1200" dirty="0">
              <a:latin typeface="Roboto"/>
              <a:ea typeface="Roboto"/>
              <a:cs typeface="Roboto"/>
              <a:sym typeface="Roboto"/>
            </a:endParaRPr>
          </a:p>
          <a:p>
            <a:pPr marL="806450" lvl="1" indent="-201613" algn="l" rtl="0">
              <a:spcBef>
                <a:spcPts val="0"/>
              </a:spcBef>
              <a:spcAft>
                <a:spcPts val="0"/>
              </a:spcAft>
              <a:buSzPts val="1400"/>
              <a:buFont typeface="Roboto"/>
              <a:buChar char="○"/>
            </a:pPr>
            <a:r>
              <a:rPr lang="en" sz="1200" dirty="0">
                <a:latin typeface="Roboto"/>
                <a:ea typeface="Roboto"/>
                <a:cs typeface="Roboto"/>
                <a:sym typeface="Roboto"/>
              </a:rPr>
              <a:t>We Know What They Need to be Successful</a:t>
            </a:r>
            <a:endParaRPr sz="1200" dirty="0">
              <a:latin typeface="Roboto"/>
              <a:ea typeface="Roboto"/>
              <a:cs typeface="Roboto"/>
              <a:sym typeface="Roboto"/>
            </a:endParaRPr>
          </a:p>
          <a:p>
            <a:pPr marL="806450" lvl="1" indent="-201613" algn="l" rtl="0">
              <a:spcBef>
                <a:spcPts val="0"/>
              </a:spcBef>
              <a:spcAft>
                <a:spcPts val="0"/>
              </a:spcAft>
              <a:buSzPts val="1400"/>
              <a:buFont typeface="Roboto"/>
              <a:buChar char="○"/>
            </a:pPr>
            <a:r>
              <a:rPr lang="en" sz="1200" dirty="0">
                <a:latin typeface="Roboto"/>
                <a:ea typeface="Roboto"/>
                <a:cs typeface="Roboto"/>
                <a:sym typeface="Roboto"/>
              </a:rPr>
              <a:t>We Know Where They are Struggling and How to Mitigate it</a:t>
            </a:r>
            <a:endParaRPr sz="1200" dirty="0">
              <a:latin typeface="Roboto"/>
              <a:ea typeface="Roboto"/>
              <a:cs typeface="Roboto"/>
              <a:sym typeface="Roboto"/>
            </a:endParaRPr>
          </a:p>
        </p:txBody>
      </p:sp>
      <p:sp>
        <p:nvSpPr>
          <p:cNvPr id="309" name="Google Shape;309;p33"/>
          <p:cNvSpPr txBox="1"/>
          <p:nvPr/>
        </p:nvSpPr>
        <p:spPr>
          <a:xfrm>
            <a:off x="3355125" y="3103795"/>
            <a:ext cx="5735100" cy="615523"/>
          </a:xfrm>
          <a:prstGeom prst="rect">
            <a:avLst/>
          </a:prstGeom>
          <a:noFill/>
          <a:ln>
            <a:noFill/>
          </a:ln>
        </p:spPr>
        <p:txBody>
          <a:bodyPr spcFirstLastPara="1" wrap="square" lIns="91425" tIns="91425" rIns="91425" bIns="91425" anchor="t" anchorCtr="0">
            <a:spAutoFit/>
          </a:bodyPr>
          <a:lstStyle/>
          <a:p>
            <a:pPr marL="457200" lvl="0" indent="-342900" algn="l" rtl="0">
              <a:spcAft>
                <a:spcPts val="0"/>
              </a:spcAft>
              <a:buSzPts val="1800"/>
              <a:buFont typeface="Roboto"/>
              <a:buAutoNum type="arabicPeriod" startAt="4"/>
            </a:pPr>
            <a:r>
              <a:rPr lang="en" b="1" dirty="0">
                <a:latin typeface="Roboto"/>
                <a:ea typeface="Roboto"/>
                <a:cs typeface="Roboto"/>
                <a:sym typeface="Roboto"/>
              </a:rPr>
              <a:t>We are Promoting IBM and our Products to Analysts, Journalists, Influencers and Partners</a:t>
            </a:r>
            <a:endParaRPr dirty="0">
              <a:latin typeface="Roboto"/>
              <a:ea typeface="Roboto"/>
              <a:cs typeface="Roboto"/>
              <a:sym typeface="Roboto"/>
            </a:endParaRPr>
          </a:p>
        </p:txBody>
      </p:sp>
      <p:sp>
        <p:nvSpPr>
          <p:cNvPr id="310" name="Google Shape;310;p33"/>
          <p:cNvSpPr txBox="1"/>
          <p:nvPr/>
        </p:nvSpPr>
        <p:spPr>
          <a:xfrm>
            <a:off x="3355125" y="3917997"/>
            <a:ext cx="5735100" cy="400079"/>
          </a:xfrm>
          <a:prstGeom prst="rect">
            <a:avLst/>
          </a:prstGeom>
          <a:noFill/>
          <a:ln>
            <a:noFill/>
          </a:ln>
        </p:spPr>
        <p:txBody>
          <a:bodyPr spcFirstLastPara="1" wrap="square" lIns="91425" tIns="91425" rIns="91425" bIns="91425" anchor="t" anchorCtr="0">
            <a:spAutoFit/>
          </a:bodyPr>
          <a:lstStyle/>
          <a:p>
            <a:pPr marL="457200" lvl="0" indent="-342900" algn="l" rtl="0">
              <a:spcAft>
                <a:spcPts val="0"/>
              </a:spcAft>
              <a:buSzPts val="1800"/>
              <a:buFont typeface="Roboto"/>
              <a:buAutoNum type="arabicPeriod" startAt="5"/>
            </a:pPr>
            <a:r>
              <a:rPr lang="en" b="1" dirty="0">
                <a:latin typeface="Roboto"/>
                <a:ea typeface="Roboto"/>
                <a:cs typeface="Roboto"/>
                <a:sym typeface="Roboto"/>
              </a:rPr>
              <a:t>We know EVERYTHING About Our Competition</a:t>
            </a:r>
            <a:endParaRPr dirty="0">
              <a:latin typeface="Roboto"/>
              <a:ea typeface="Roboto"/>
              <a:cs typeface="Roboto"/>
              <a:sym typeface="Roboto"/>
            </a:endParaRPr>
          </a:p>
        </p:txBody>
      </p:sp>
      <p:sp>
        <p:nvSpPr>
          <p:cNvPr id="311" name="Google Shape;311;p33"/>
          <p:cNvSpPr txBox="1"/>
          <p:nvPr/>
        </p:nvSpPr>
        <p:spPr>
          <a:xfrm>
            <a:off x="3355125" y="4516754"/>
            <a:ext cx="5788800" cy="400079"/>
          </a:xfrm>
          <a:prstGeom prst="rect">
            <a:avLst/>
          </a:prstGeom>
          <a:noFill/>
          <a:ln>
            <a:noFill/>
          </a:ln>
        </p:spPr>
        <p:txBody>
          <a:bodyPr spcFirstLastPara="1" wrap="square" lIns="91425" tIns="91425" rIns="91425" bIns="91425" anchor="t" anchorCtr="0">
            <a:spAutoFit/>
          </a:bodyPr>
          <a:lstStyle/>
          <a:p>
            <a:pPr marL="457200" lvl="0" indent="-342900" algn="l" rtl="0">
              <a:spcAft>
                <a:spcPts val="0"/>
              </a:spcAft>
              <a:buSzPts val="1800"/>
              <a:buFont typeface="Roboto"/>
              <a:buAutoNum type="arabicPeriod" startAt="6"/>
            </a:pPr>
            <a:r>
              <a:rPr lang="en" b="1" dirty="0">
                <a:latin typeface="Roboto"/>
                <a:ea typeface="Roboto"/>
                <a:cs typeface="Roboto"/>
                <a:sym typeface="Roboto"/>
              </a:rPr>
              <a:t>We are the Subject Matter Expert for our Products </a:t>
            </a:r>
            <a:endParaRPr dirty="0">
              <a:latin typeface="Roboto"/>
              <a:ea typeface="Roboto"/>
              <a:cs typeface="Roboto"/>
              <a:sym typeface="Roboto"/>
            </a:endParaRPr>
          </a:p>
        </p:txBody>
      </p:sp>
    </p:spTree>
    <p:extLst>
      <p:ext uri="{BB962C8B-B14F-4D97-AF65-F5344CB8AC3E}">
        <p14:creationId xmlns:p14="http://schemas.microsoft.com/office/powerpoint/2010/main" val="357494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
                                        </p:tgtEl>
                                        <p:attrNameLst>
                                          <p:attrName>style.visibility</p:attrName>
                                        </p:attrNameLst>
                                      </p:cBhvr>
                                      <p:to>
                                        <p:strVal val="visible"/>
                                      </p:to>
                                    </p:set>
                                    <p:animEffect transition="in" filter="fade">
                                      <p:cBhvr>
                                        <p:cTn id="7" dur="1000"/>
                                        <p:tgtEl>
                                          <p:spTgt spid="3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8"/>
                                        </p:tgtEl>
                                        <p:attrNameLst>
                                          <p:attrName>style.visibility</p:attrName>
                                        </p:attrNameLst>
                                      </p:cBhvr>
                                      <p:to>
                                        <p:strVal val="visible"/>
                                      </p:to>
                                    </p:set>
                                    <p:animEffect transition="in" filter="fade">
                                      <p:cBhvr>
                                        <p:cTn id="12" dur="1000"/>
                                        <p:tgtEl>
                                          <p:spTgt spid="3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9"/>
                                        </p:tgtEl>
                                        <p:attrNameLst>
                                          <p:attrName>style.visibility</p:attrName>
                                        </p:attrNameLst>
                                      </p:cBhvr>
                                      <p:to>
                                        <p:strVal val="visible"/>
                                      </p:to>
                                    </p:set>
                                    <p:animEffect transition="in" filter="fade">
                                      <p:cBhvr>
                                        <p:cTn id="17" dur="1000"/>
                                        <p:tgtEl>
                                          <p:spTgt spid="30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0"/>
                                        </p:tgtEl>
                                        <p:attrNameLst>
                                          <p:attrName>style.visibility</p:attrName>
                                        </p:attrNameLst>
                                      </p:cBhvr>
                                      <p:to>
                                        <p:strVal val="visible"/>
                                      </p:to>
                                    </p:set>
                                    <p:animEffect transition="in" filter="fade">
                                      <p:cBhvr>
                                        <p:cTn id="22" dur="1000"/>
                                        <p:tgtEl>
                                          <p:spTgt spid="3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1"/>
                                        </p:tgtEl>
                                        <p:attrNameLst>
                                          <p:attrName>style.visibility</p:attrName>
                                        </p:attrNameLst>
                                      </p:cBhvr>
                                      <p:to>
                                        <p:strVal val="visible"/>
                                      </p:to>
                                    </p:set>
                                    <p:animEffect transition="in" filter="fade">
                                      <p:cBhvr>
                                        <p:cTn id="27" dur="10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4"/>
          <p:cNvSpPr txBox="1">
            <a:spLocks noGrp="1"/>
          </p:cNvSpPr>
          <p:nvPr>
            <p:ph type="title"/>
          </p:nvPr>
        </p:nvSpPr>
        <p:spPr>
          <a:xfrm>
            <a:off x="226075" y="357800"/>
            <a:ext cx="2808000" cy="1369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What Does </a:t>
            </a:r>
            <a:r>
              <a:rPr lang="en" b="1">
                <a:solidFill>
                  <a:schemeClr val="accent6"/>
                </a:solidFill>
              </a:rPr>
              <a:t>GREAT </a:t>
            </a:r>
            <a:r>
              <a:rPr lang="en"/>
              <a:t>Product Marketing Look Like?</a:t>
            </a:r>
            <a:endParaRPr/>
          </a:p>
        </p:txBody>
      </p:sp>
      <p:sp>
        <p:nvSpPr>
          <p:cNvPr id="317" name="Google Shape;317;p34"/>
          <p:cNvSpPr txBox="1">
            <a:spLocks noGrp="1"/>
          </p:cNvSpPr>
          <p:nvPr>
            <p:ph type="body" idx="1"/>
          </p:nvPr>
        </p:nvSpPr>
        <p:spPr>
          <a:xfrm>
            <a:off x="226075" y="1865650"/>
            <a:ext cx="2808000" cy="27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Sadly… we are not there today for one reason or another - </a:t>
            </a:r>
            <a:r>
              <a:rPr lang="en" i="1"/>
              <a:t>the reasons are irrelevant</a:t>
            </a:r>
            <a:r>
              <a:rPr lang="en"/>
              <a:t>. </a:t>
            </a:r>
            <a:endParaRPr/>
          </a:p>
          <a:p>
            <a:pPr marL="0" lvl="0" indent="0" algn="l" rtl="0">
              <a:spcBef>
                <a:spcPts val="1200"/>
              </a:spcBef>
              <a:spcAft>
                <a:spcPts val="1200"/>
              </a:spcAft>
              <a:buNone/>
            </a:pPr>
            <a:r>
              <a:rPr lang="en"/>
              <a:t>What is important is that we will be great </a:t>
            </a:r>
            <a:r>
              <a:rPr lang="en" b="1">
                <a:solidFill>
                  <a:schemeClr val="accent6"/>
                </a:solidFill>
              </a:rPr>
              <a:t>STARTING </a:t>
            </a:r>
            <a:r>
              <a:rPr lang="en"/>
              <a:t>today.</a:t>
            </a:r>
            <a:endParaRPr/>
          </a:p>
        </p:txBody>
      </p:sp>
      <p:pic>
        <p:nvPicPr>
          <p:cNvPr id="318" name="Google Shape;318;p34"/>
          <p:cNvPicPr preferRelativeResize="0"/>
          <p:nvPr/>
        </p:nvPicPr>
        <p:blipFill>
          <a:blip r:embed="rId3">
            <a:alphaModFix/>
          </a:blip>
          <a:stretch>
            <a:fillRect/>
          </a:stretch>
        </p:blipFill>
        <p:spPr>
          <a:xfrm>
            <a:off x="3711825" y="275370"/>
            <a:ext cx="685801" cy="676004"/>
          </a:xfrm>
          <a:prstGeom prst="rect">
            <a:avLst/>
          </a:prstGeom>
          <a:noFill/>
          <a:ln>
            <a:noFill/>
          </a:ln>
        </p:spPr>
      </p:pic>
      <p:pic>
        <p:nvPicPr>
          <p:cNvPr id="319" name="Google Shape;319;p34"/>
          <p:cNvPicPr preferRelativeResize="0"/>
          <p:nvPr/>
        </p:nvPicPr>
        <p:blipFill rotWithShape="1">
          <a:blip r:embed="rId4">
            <a:alphaModFix/>
          </a:blip>
          <a:srcRect/>
          <a:stretch/>
        </p:blipFill>
        <p:spPr>
          <a:xfrm>
            <a:off x="3711825" y="1236154"/>
            <a:ext cx="685801" cy="676004"/>
          </a:xfrm>
          <a:prstGeom prst="rect">
            <a:avLst/>
          </a:prstGeom>
          <a:noFill/>
          <a:ln>
            <a:noFill/>
          </a:ln>
        </p:spPr>
      </p:pic>
      <p:pic>
        <p:nvPicPr>
          <p:cNvPr id="320" name="Google Shape;320;p34"/>
          <p:cNvPicPr preferRelativeResize="0"/>
          <p:nvPr/>
        </p:nvPicPr>
        <p:blipFill rotWithShape="1">
          <a:blip r:embed="rId5">
            <a:alphaModFix/>
          </a:blip>
          <a:srcRect/>
          <a:stretch/>
        </p:blipFill>
        <p:spPr>
          <a:xfrm>
            <a:off x="3711825" y="2196939"/>
            <a:ext cx="685801" cy="676004"/>
          </a:xfrm>
          <a:prstGeom prst="rect">
            <a:avLst/>
          </a:prstGeom>
          <a:noFill/>
          <a:ln>
            <a:noFill/>
          </a:ln>
        </p:spPr>
      </p:pic>
      <p:pic>
        <p:nvPicPr>
          <p:cNvPr id="321" name="Google Shape;321;p34"/>
          <p:cNvPicPr preferRelativeResize="0"/>
          <p:nvPr/>
        </p:nvPicPr>
        <p:blipFill rotWithShape="1">
          <a:blip r:embed="rId6">
            <a:alphaModFix/>
          </a:blip>
          <a:srcRect/>
          <a:stretch/>
        </p:blipFill>
        <p:spPr>
          <a:xfrm>
            <a:off x="3711825" y="3157723"/>
            <a:ext cx="685801" cy="676004"/>
          </a:xfrm>
          <a:prstGeom prst="rect">
            <a:avLst/>
          </a:prstGeom>
          <a:noFill/>
          <a:ln>
            <a:noFill/>
          </a:ln>
        </p:spPr>
      </p:pic>
      <p:pic>
        <p:nvPicPr>
          <p:cNvPr id="322" name="Google Shape;322;p34"/>
          <p:cNvPicPr preferRelativeResize="0"/>
          <p:nvPr/>
        </p:nvPicPr>
        <p:blipFill rotWithShape="1">
          <a:blip r:embed="rId7">
            <a:alphaModFix/>
          </a:blip>
          <a:srcRect/>
          <a:stretch/>
        </p:blipFill>
        <p:spPr>
          <a:xfrm>
            <a:off x="3711825" y="4118507"/>
            <a:ext cx="685801" cy="676004"/>
          </a:xfrm>
          <a:prstGeom prst="rect">
            <a:avLst/>
          </a:prstGeom>
          <a:noFill/>
          <a:ln>
            <a:noFill/>
          </a:ln>
        </p:spPr>
      </p:pic>
      <p:sp>
        <p:nvSpPr>
          <p:cNvPr id="323" name="Google Shape;323;p34"/>
          <p:cNvSpPr txBox="1">
            <a:spLocks noGrp="1"/>
          </p:cNvSpPr>
          <p:nvPr>
            <p:ph type="body" idx="1"/>
          </p:nvPr>
        </p:nvSpPr>
        <p:spPr>
          <a:xfrm>
            <a:off x="4515525" y="346225"/>
            <a:ext cx="4364700" cy="5343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1200"/>
              </a:spcAft>
              <a:buNone/>
            </a:pPr>
            <a:r>
              <a:rPr lang="en" dirty="0">
                <a:solidFill>
                  <a:schemeClr val="dk2"/>
                </a:solidFill>
              </a:rPr>
              <a:t>Puts the </a:t>
            </a:r>
            <a:r>
              <a:rPr lang="en" b="1" dirty="0">
                <a:solidFill>
                  <a:schemeClr val="dk2"/>
                </a:solidFill>
              </a:rPr>
              <a:t>CUSTOMER </a:t>
            </a:r>
            <a:r>
              <a:rPr lang="en" dirty="0">
                <a:solidFill>
                  <a:schemeClr val="dk2"/>
                </a:solidFill>
              </a:rPr>
              <a:t>at the </a:t>
            </a:r>
            <a:r>
              <a:rPr lang="en" b="1" dirty="0">
                <a:solidFill>
                  <a:schemeClr val="dk2"/>
                </a:solidFill>
              </a:rPr>
              <a:t>CENTER </a:t>
            </a:r>
            <a:r>
              <a:rPr lang="en" dirty="0">
                <a:solidFill>
                  <a:schemeClr val="dk2"/>
                </a:solidFill>
              </a:rPr>
              <a:t>of everything they do.</a:t>
            </a:r>
            <a:endParaRPr dirty="0">
              <a:solidFill>
                <a:schemeClr val="dk2"/>
              </a:solidFill>
            </a:endParaRPr>
          </a:p>
        </p:txBody>
      </p:sp>
      <p:sp>
        <p:nvSpPr>
          <p:cNvPr id="324" name="Google Shape;324;p34"/>
          <p:cNvSpPr txBox="1">
            <a:spLocks noGrp="1"/>
          </p:cNvSpPr>
          <p:nvPr>
            <p:ph type="body" idx="1"/>
          </p:nvPr>
        </p:nvSpPr>
        <p:spPr>
          <a:xfrm>
            <a:off x="4515525" y="1307000"/>
            <a:ext cx="4364700" cy="5343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1200"/>
              </a:spcAft>
              <a:buNone/>
            </a:pPr>
            <a:r>
              <a:rPr lang="en" b="1">
                <a:solidFill>
                  <a:schemeClr val="dk2"/>
                </a:solidFill>
              </a:rPr>
              <a:t>NAILS </a:t>
            </a:r>
            <a:r>
              <a:rPr lang="en">
                <a:solidFill>
                  <a:schemeClr val="dk2"/>
                </a:solidFill>
              </a:rPr>
              <a:t>the </a:t>
            </a:r>
            <a:r>
              <a:rPr lang="en" b="1">
                <a:solidFill>
                  <a:schemeClr val="dk2"/>
                </a:solidFill>
              </a:rPr>
              <a:t>MESSAGING </a:t>
            </a:r>
            <a:r>
              <a:rPr lang="en">
                <a:solidFill>
                  <a:schemeClr val="dk2"/>
                </a:solidFill>
              </a:rPr>
              <a:t>-- completely, every time.</a:t>
            </a:r>
            <a:endParaRPr>
              <a:solidFill>
                <a:schemeClr val="dk2"/>
              </a:solidFill>
            </a:endParaRPr>
          </a:p>
        </p:txBody>
      </p:sp>
      <p:sp>
        <p:nvSpPr>
          <p:cNvPr id="325" name="Google Shape;325;p34"/>
          <p:cNvSpPr txBox="1">
            <a:spLocks noGrp="1"/>
          </p:cNvSpPr>
          <p:nvPr>
            <p:ph type="body" idx="1"/>
          </p:nvPr>
        </p:nvSpPr>
        <p:spPr>
          <a:xfrm>
            <a:off x="4515525" y="2304600"/>
            <a:ext cx="4364700" cy="5343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1200"/>
              </a:spcAft>
              <a:buNone/>
            </a:pPr>
            <a:r>
              <a:rPr lang="en">
                <a:solidFill>
                  <a:schemeClr val="dk2"/>
                </a:solidFill>
              </a:rPr>
              <a:t>Is </a:t>
            </a:r>
            <a:r>
              <a:rPr lang="en" b="1">
                <a:solidFill>
                  <a:schemeClr val="dk2"/>
                </a:solidFill>
              </a:rPr>
              <a:t>TIMELY</a:t>
            </a:r>
            <a:endParaRPr>
              <a:solidFill>
                <a:schemeClr val="dk2"/>
              </a:solidFill>
            </a:endParaRPr>
          </a:p>
        </p:txBody>
      </p:sp>
      <p:sp>
        <p:nvSpPr>
          <p:cNvPr id="326" name="Google Shape;326;p34"/>
          <p:cNvSpPr txBox="1">
            <a:spLocks noGrp="1"/>
          </p:cNvSpPr>
          <p:nvPr>
            <p:ph type="body" idx="1"/>
          </p:nvPr>
        </p:nvSpPr>
        <p:spPr>
          <a:xfrm>
            <a:off x="4515525" y="3228575"/>
            <a:ext cx="4364700" cy="5343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1200"/>
              </a:spcAft>
              <a:buNone/>
            </a:pPr>
            <a:r>
              <a:rPr lang="en">
                <a:solidFill>
                  <a:schemeClr val="dk2"/>
                </a:solidFill>
              </a:rPr>
              <a:t>Focus on </a:t>
            </a:r>
            <a:r>
              <a:rPr lang="en" b="1">
                <a:solidFill>
                  <a:schemeClr val="dk2"/>
                </a:solidFill>
              </a:rPr>
              <a:t>BOLD </a:t>
            </a:r>
            <a:r>
              <a:rPr lang="en">
                <a:solidFill>
                  <a:schemeClr val="dk2"/>
                </a:solidFill>
              </a:rPr>
              <a:t>and </a:t>
            </a:r>
            <a:r>
              <a:rPr lang="en" b="1">
                <a:solidFill>
                  <a:schemeClr val="dk2"/>
                </a:solidFill>
              </a:rPr>
              <a:t>CREATIVE </a:t>
            </a:r>
            <a:r>
              <a:rPr lang="en">
                <a:solidFill>
                  <a:schemeClr val="dk2"/>
                </a:solidFill>
              </a:rPr>
              <a:t>Solutions</a:t>
            </a:r>
            <a:endParaRPr>
              <a:solidFill>
                <a:schemeClr val="dk2"/>
              </a:solidFill>
            </a:endParaRPr>
          </a:p>
        </p:txBody>
      </p:sp>
      <p:sp>
        <p:nvSpPr>
          <p:cNvPr id="327" name="Google Shape;327;p34"/>
          <p:cNvSpPr txBox="1">
            <a:spLocks noGrp="1"/>
          </p:cNvSpPr>
          <p:nvPr>
            <p:ph type="body" idx="1"/>
          </p:nvPr>
        </p:nvSpPr>
        <p:spPr>
          <a:xfrm>
            <a:off x="4515525" y="4189350"/>
            <a:ext cx="4364700" cy="534300"/>
          </a:xfrm>
          <a:prstGeom prst="rect">
            <a:avLst/>
          </a:prstGeom>
        </p:spPr>
        <p:txBody>
          <a:bodyPr spcFirstLastPara="1" wrap="square" lIns="91425" tIns="91425" rIns="91425" bIns="91425" anchor="ctr" anchorCtr="0">
            <a:normAutofit lnSpcReduction="10000"/>
          </a:bodyPr>
          <a:lstStyle/>
          <a:p>
            <a:pPr marL="0" lvl="0" indent="0" algn="l" rtl="0">
              <a:spcBef>
                <a:spcPts val="0"/>
              </a:spcBef>
              <a:spcAft>
                <a:spcPts val="1200"/>
              </a:spcAft>
              <a:buNone/>
            </a:pPr>
            <a:r>
              <a:rPr lang="en" b="1">
                <a:solidFill>
                  <a:schemeClr val="dk2"/>
                </a:solidFill>
              </a:rPr>
              <a:t>MEASURES </a:t>
            </a:r>
            <a:r>
              <a:rPr lang="en">
                <a:solidFill>
                  <a:schemeClr val="dk2"/>
                </a:solidFill>
              </a:rPr>
              <a:t>and </a:t>
            </a:r>
            <a:r>
              <a:rPr lang="en" b="1">
                <a:solidFill>
                  <a:schemeClr val="dk2"/>
                </a:solidFill>
              </a:rPr>
              <a:t>TRACKS </a:t>
            </a:r>
            <a:r>
              <a:rPr lang="en">
                <a:solidFill>
                  <a:schemeClr val="dk2"/>
                </a:solidFill>
              </a:rPr>
              <a:t>for Business Success</a:t>
            </a:r>
            <a:endParaRPr>
              <a:solidFill>
                <a:schemeClr val="dk2"/>
              </a:solidFill>
            </a:endParaRPr>
          </a:p>
        </p:txBody>
      </p:sp>
    </p:spTree>
    <p:extLst>
      <p:ext uri="{BB962C8B-B14F-4D97-AF65-F5344CB8AC3E}">
        <p14:creationId xmlns:p14="http://schemas.microsoft.com/office/powerpoint/2010/main" val="388676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animEffect transition="in" filter="fade">
                                      <p:cBhvr>
                                        <p:cTn id="7" dur="1000"/>
                                        <p:tgtEl>
                                          <p:spTgt spid="319"/>
                                        </p:tgtEl>
                                      </p:cBhvr>
                                    </p:animEffect>
                                  </p:childTnLst>
                                </p:cTn>
                              </p:par>
                              <p:par>
                                <p:cTn id="8" presetID="10" presetClass="entr" presetSubtype="0" fill="hold" nodeType="withEffect">
                                  <p:stCondLst>
                                    <p:cond delay="0"/>
                                  </p:stCondLst>
                                  <p:childTnLst>
                                    <p:set>
                                      <p:cBhvr>
                                        <p:cTn id="9" dur="1" fill="hold">
                                          <p:stCondLst>
                                            <p:cond delay="0"/>
                                          </p:stCondLst>
                                        </p:cTn>
                                        <p:tgtEl>
                                          <p:spTgt spid="324"/>
                                        </p:tgtEl>
                                        <p:attrNameLst>
                                          <p:attrName>style.visibility</p:attrName>
                                        </p:attrNameLst>
                                      </p:cBhvr>
                                      <p:to>
                                        <p:strVal val="visible"/>
                                      </p:to>
                                    </p:set>
                                    <p:animEffect transition="in" filter="fade">
                                      <p:cBhvr>
                                        <p:cTn id="10" dur="1000"/>
                                        <p:tgtEl>
                                          <p:spTgt spid="3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0"/>
                                        </p:tgtEl>
                                        <p:attrNameLst>
                                          <p:attrName>style.visibility</p:attrName>
                                        </p:attrNameLst>
                                      </p:cBhvr>
                                      <p:to>
                                        <p:strVal val="visible"/>
                                      </p:to>
                                    </p:set>
                                    <p:animEffect transition="in" filter="fade">
                                      <p:cBhvr>
                                        <p:cTn id="15" dur="1000"/>
                                        <p:tgtEl>
                                          <p:spTgt spid="320"/>
                                        </p:tgtEl>
                                      </p:cBhvr>
                                    </p:animEffect>
                                  </p:childTnLst>
                                </p:cTn>
                              </p:par>
                              <p:par>
                                <p:cTn id="16" presetID="10" presetClass="entr" presetSubtype="0" fill="hold" nodeType="withEffect">
                                  <p:stCondLst>
                                    <p:cond delay="0"/>
                                  </p:stCondLst>
                                  <p:childTnLst>
                                    <p:set>
                                      <p:cBhvr>
                                        <p:cTn id="17" dur="1" fill="hold">
                                          <p:stCondLst>
                                            <p:cond delay="0"/>
                                          </p:stCondLst>
                                        </p:cTn>
                                        <p:tgtEl>
                                          <p:spTgt spid="325"/>
                                        </p:tgtEl>
                                        <p:attrNameLst>
                                          <p:attrName>style.visibility</p:attrName>
                                        </p:attrNameLst>
                                      </p:cBhvr>
                                      <p:to>
                                        <p:strVal val="visible"/>
                                      </p:to>
                                    </p:set>
                                    <p:animEffect transition="in" filter="fade">
                                      <p:cBhvr>
                                        <p:cTn id="18" dur="1000"/>
                                        <p:tgtEl>
                                          <p:spTgt spid="3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1"/>
                                        </p:tgtEl>
                                        <p:attrNameLst>
                                          <p:attrName>style.visibility</p:attrName>
                                        </p:attrNameLst>
                                      </p:cBhvr>
                                      <p:to>
                                        <p:strVal val="visible"/>
                                      </p:to>
                                    </p:set>
                                    <p:animEffect transition="in" filter="fade">
                                      <p:cBhvr>
                                        <p:cTn id="23" dur="1000"/>
                                        <p:tgtEl>
                                          <p:spTgt spid="321"/>
                                        </p:tgtEl>
                                      </p:cBhvr>
                                    </p:animEffect>
                                  </p:childTnLst>
                                </p:cTn>
                              </p:par>
                              <p:par>
                                <p:cTn id="24" presetID="10" presetClass="entr" presetSubtype="0" fill="hold" nodeType="withEffect">
                                  <p:stCondLst>
                                    <p:cond delay="0"/>
                                  </p:stCondLst>
                                  <p:childTnLst>
                                    <p:set>
                                      <p:cBhvr>
                                        <p:cTn id="25" dur="1" fill="hold">
                                          <p:stCondLst>
                                            <p:cond delay="0"/>
                                          </p:stCondLst>
                                        </p:cTn>
                                        <p:tgtEl>
                                          <p:spTgt spid="326"/>
                                        </p:tgtEl>
                                        <p:attrNameLst>
                                          <p:attrName>style.visibility</p:attrName>
                                        </p:attrNameLst>
                                      </p:cBhvr>
                                      <p:to>
                                        <p:strVal val="visible"/>
                                      </p:to>
                                    </p:set>
                                    <p:animEffect transition="in" filter="fade">
                                      <p:cBhvr>
                                        <p:cTn id="26" dur="1000"/>
                                        <p:tgtEl>
                                          <p:spTgt spid="3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22"/>
                                        </p:tgtEl>
                                        <p:attrNameLst>
                                          <p:attrName>style.visibility</p:attrName>
                                        </p:attrNameLst>
                                      </p:cBhvr>
                                      <p:to>
                                        <p:strVal val="visible"/>
                                      </p:to>
                                    </p:set>
                                    <p:animEffect transition="in" filter="fade">
                                      <p:cBhvr>
                                        <p:cTn id="31" dur="1000"/>
                                        <p:tgtEl>
                                          <p:spTgt spid="322"/>
                                        </p:tgtEl>
                                      </p:cBhvr>
                                    </p:animEffect>
                                  </p:childTnLst>
                                </p:cTn>
                              </p:par>
                              <p:par>
                                <p:cTn id="32" presetID="10" presetClass="entr" presetSubtype="0" fill="hold" nodeType="withEffect">
                                  <p:stCondLst>
                                    <p:cond delay="0"/>
                                  </p:stCondLst>
                                  <p:childTnLst>
                                    <p:set>
                                      <p:cBhvr>
                                        <p:cTn id="33" dur="1" fill="hold">
                                          <p:stCondLst>
                                            <p:cond delay="0"/>
                                          </p:stCondLst>
                                        </p:cTn>
                                        <p:tgtEl>
                                          <p:spTgt spid="327"/>
                                        </p:tgtEl>
                                        <p:attrNameLst>
                                          <p:attrName>style.visibility</p:attrName>
                                        </p:attrNameLst>
                                      </p:cBhvr>
                                      <p:to>
                                        <p:strVal val="visible"/>
                                      </p:to>
                                    </p:set>
                                    <p:animEffect transition="in" filter="fade">
                                      <p:cBhvr>
                                        <p:cTn id="34" dur="10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cxnSp>
        <p:nvCxnSpPr>
          <p:cNvPr id="332" name="Google Shape;332;p35"/>
          <p:cNvCxnSpPr>
            <a:stCxn id="333" idx="1"/>
          </p:cNvCxnSpPr>
          <p:nvPr/>
        </p:nvCxnSpPr>
        <p:spPr>
          <a:xfrm flipH="1">
            <a:off x="3974196" y="1299726"/>
            <a:ext cx="511500" cy="645900"/>
          </a:xfrm>
          <a:prstGeom prst="bentConnector2">
            <a:avLst/>
          </a:prstGeom>
          <a:noFill/>
          <a:ln w="12700" cap="flat" cmpd="sng">
            <a:solidFill>
              <a:srgbClr val="B93A00"/>
            </a:solidFill>
            <a:prstDash val="solid"/>
            <a:miter lim="800000"/>
            <a:headEnd type="none" w="sm" len="sm"/>
            <a:tailEnd type="none" w="sm" len="sm"/>
          </a:ln>
        </p:spPr>
      </p:cxnSp>
      <p:cxnSp>
        <p:nvCxnSpPr>
          <p:cNvPr id="334" name="Google Shape;334;p35"/>
          <p:cNvCxnSpPr>
            <a:stCxn id="335" idx="1"/>
          </p:cNvCxnSpPr>
          <p:nvPr/>
        </p:nvCxnSpPr>
        <p:spPr>
          <a:xfrm rot="10800000">
            <a:off x="3974196" y="2436583"/>
            <a:ext cx="511500" cy="848700"/>
          </a:xfrm>
          <a:prstGeom prst="bentConnector2">
            <a:avLst/>
          </a:prstGeom>
          <a:noFill/>
          <a:ln w="12700" cap="flat" cmpd="sng">
            <a:solidFill>
              <a:srgbClr val="B93A00"/>
            </a:solidFill>
            <a:prstDash val="solid"/>
            <a:miter lim="800000"/>
            <a:headEnd type="none" w="sm" len="sm"/>
            <a:tailEnd type="none" w="sm" len="sm"/>
          </a:ln>
        </p:spPr>
      </p:cxnSp>
      <p:sp>
        <p:nvSpPr>
          <p:cNvPr id="336" name="Google Shape;336;p35"/>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How Does Great Product Marketing Flow</a:t>
            </a:r>
            <a:endParaRPr/>
          </a:p>
        </p:txBody>
      </p:sp>
      <p:sp>
        <p:nvSpPr>
          <p:cNvPr id="337" name="Google Shape;337;p35"/>
          <p:cNvSpPr/>
          <p:nvPr/>
        </p:nvSpPr>
        <p:spPr>
          <a:xfrm>
            <a:off x="203781" y="1493405"/>
            <a:ext cx="1039800" cy="297900"/>
          </a:xfrm>
          <a:prstGeom prst="roundRect">
            <a:avLst>
              <a:gd name="adj" fmla="val 16667"/>
            </a:avLst>
          </a:prstGeom>
          <a:solidFill>
            <a:srgbClr val="6FA8DC"/>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Market</a:t>
            </a:r>
            <a:endParaRPr/>
          </a:p>
        </p:txBody>
      </p:sp>
      <p:sp>
        <p:nvSpPr>
          <p:cNvPr id="338" name="Google Shape;338;p35"/>
          <p:cNvSpPr/>
          <p:nvPr/>
        </p:nvSpPr>
        <p:spPr>
          <a:xfrm>
            <a:off x="203780" y="2150521"/>
            <a:ext cx="1039800" cy="297900"/>
          </a:xfrm>
          <a:prstGeom prst="roundRect">
            <a:avLst>
              <a:gd name="adj" fmla="val 16667"/>
            </a:avLst>
          </a:prstGeom>
          <a:solidFill>
            <a:srgbClr val="6FA8DC"/>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Customers</a:t>
            </a:r>
            <a:endParaRPr/>
          </a:p>
        </p:txBody>
      </p:sp>
      <p:sp>
        <p:nvSpPr>
          <p:cNvPr id="339" name="Google Shape;339;p35"/>
          <p:cNvSpPr/>
          <p:nvPr/>
        </p:nvSpPr>
        <p:spPr>
          <a:xfrm>
            <a:off x="203779" y="2793703"/>
            <a:ext cx="1039800" cy="297900"/>
          </a:xfrm>
          <a:prstGeom prst="roundRect">
            <a:avLst>
              <a:gd name="adj" fmla="val 16667"/>
            </a:avLst>
          </a:prstGeom>
          <a:solidFill>
            <a:srgbClr val="6FA8DC"/>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Competitive</a:t>
            </a:r>
            <a:endParaRPr/>
          </a:p>
        </p:txBody>
      </p:sp>
      <p:sp>
        <p:nvSpPr>
          <p:cNvPr id="340" name="Google Shape;340;p35"/>
          <p:cNvSpPr/>
          <p:nvPr/>
        </p:nvSpPr>
        <p:spPr>
          <a:xfrm>
            <a:off x="1761744" y="1876200"/>
            <a:ext cx="1164300" cy="846600"/>
          </a:xfrm>
          <a:prstGeom prst="roundRect">
            <a:avLst>
              <a:gd name="adj" fmla="val 7408"/>
            </a:avLst>
          </a:prstGeom>
          <a:solidFill>
            <a:srgbClr val="3D85C6"/>
          </a:solid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MARKET</a:t>
            </a:r>
            <a:endParaRPr/>
          </a:p>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INSIGHTS</a:t>
            </a:r>
            <a:endParaRPr sz="1200" b="0" i="0" u="none" strike="noStrike" cap="none">
              <a:solidFill>
                <a:schemeClr val="lt1"/>
              </a:solidFill>
              <a:latin typeface="Proxima Nova"/>
              <a:ea typeface="Proxima Nova"/>
              <a:cs typeface="Proxima Nova"/>
              <a:sym typeface="Proxima Nova"/>
            </a:endParaRPr>
          </a:p>
        </p:txBody>
      </p:sp>
      <p:sp>
        <p:nvSpPr>
          <p:cNvPr id="341" name="Google Shape;341;p35"/>
          <p:cNvSpPr/>
          <p:nvPr/>
        </p:nvSpPr>
        <p:spPr>
          <a:xfrm>
            <a:off x="3444241" y="1876200"/>
            <a:ext cx="1854000" cy="846600"/>
          </a:xfrm>
          <a:prstGeom prst="roundRect">
            <a:avLst>
              <a:gd name="adj" fmla="val 7408"/>
            </a:avLst>
          </a:prstGeom>
          <a:solidFill>
            <a:srgbClr val="CC0000"/>
          </a:solidFill>
          <a:ln w="12700" cap="flat" cmpd="sng">
            <a:solidFill>
              <a:srgbClr val="B93A00"/>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PRODUCT MARKETING</a:t>
            </a:r>
            <a:endParaRPr/>
          </a:p>
        </p:txBody>
      </p:sp>
      <p:sp>
        <p:nvSpPr>
          <p:cNvPr id="333" name="Google Shape;333;p35"/>
          <p:cNvSpPr/>
          <p:nvPr/>
        </p:nvSpPr>
        <p:spPr>
          <a:xfrm>
            <a:off x="4485696" y="1150776"/>
            <a:ext cx="1625100" cy="297900"/>
          </a:xfrm>
          <a:prstGeom prst="roundRect">
            <a:avLst>
              <a:gd name="adj" fmla="val 16667"/>
            </a:avLst>
          </a:prstGeom>
          <a:solidFill>
            <a:srgbClr val="CC0000"/>
          </a:solidFill>
          <a:ln w="12700" cap="flat" cmpd="sng">
            <a:solidFill>
              <a:srgbClr val="B93A00"/>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BU Leadership</a:t>
            </a:r>
            <a:endParaRPr/>
          </a:p>
        </p:txBody>
      </p:sp>
      <p:sp>
        <p:nvSpPr>
          <p:cNvPr id="335" name="Google Shape;335;p35"/>
          <p:cNvSpPr/>
          <p:nvPr/>
        </p:nvSpPr>
        <p:spPr>
          <a:xfrm>
            <a:off x="4485696" y="3136333"/>
            <a:ext cx="1625100" cy="297900"/>
          </a:xfrm>
          <a:prstGeom prst="roundRect">
            <a:avLst>
              <a:gd name="adj" fmla="val 16667"/>
            </a:avLst>
          </a:prstGeom>
          <a:solidFill>
            <a:srgbClr val="CC0000"/>
          </a:solidFill>
          <a:ln w="12700" cap="flat" cmpd="sng">
            <a:solidFill>
              <a:srgbClr val="B93A00"/>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Product Management</a:t>
            </a:r>
            <a:endParaRPr/>
          </a:p>
        </p:txBody>
      </p:sp>
      <p:sp>
        <p:nvSpPr>
          <p:cNvPr id="342" name="Google Shape;342;p35"/>
          <p:cNvSpPr/>
          <p:nvPr/>
        </p:nvSpPr>
        <p:spPr>
          <a:xfrm>
            <a:off x="6869932" y="2519381"/>
            <a:ext cx="1854000" cy="846600"/>
          </a:xfrm>
          <a:prstGeom prst="roundRect">
            <a:avLst>
              <a:gd name="adj" fmla="val 7408"/>
            </a:avLst>
          </a:prstGeom>
          <a:solidFill>
            <a:srgbClr val="6AA84F"/>
          </a:solidFill>
          <a:ln w="12700" cap="flat" cmpd="sng">
            <a:solidFill>
              <a:srgbClr val="3D8772"/>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dirty="0">
                <a:solidFill>
                  <a:schemeClr val="lt1"/>
                </a:solidFill>
                <a:latin typeface="Proxima Nova"/>
                <a:ea typeface="Proxima Nova"/>
                <a:cs typeface="Proxima Nova"/>
                <a:sym typeface="Proxima Nova"/>
              </a:rPr>
              <a:t>CORP</a:t>
            </a:r>
            <a:r>
              <a:rPr lang="en" sz="1200" b="0" i="0" u="none" strike="noStrike" cap="none" dirty="0">
                <a:solidFill>
                  <a:schemeClr val="lt1"/>
                </a:solidFill>
                <a:latin typeface="Proxima Nova"/>
                <a:ea typeface="Proxima Nova"/>
                <a:cs typeface="Proxima Nova"/>
                <a:sym typeface="Proxima Nova"/>
              </a:rPr>
              <a:t> MARKETING / SALES / C</a:t>
            </a:r>
            <a:r>
              <a:rPr lang="en" sz="1200" dirty="0">
                <a:solidFill>
                  <a:schemeClr val="lt1"/>
                </a:solidFill>
                <a:latin typeface="Proxima Nova"/>
                <a:ea typeface="Proxima Nova"/>
                <a:cs typeface="Proxima Nova"/>
                <a:sym typeface="Proxima Nova"/>
              </a:rPr>
              <a:t>HANNEL</a:t>
            </a:r>
            <a:endParaRPr dirty="0"/>
          </a:p>
          <a:p>
            <a:pPr marL="0" marR="0" lvl="0" indent="0" algn="ctr" rtl="0">
              <a:lnSpc>
                <a:spcPct val="100000"/>
              </a:lnSpc>
              <a:spcBef>
                <a:spcPts val="0"/>
              </a:spcBef>
              <a:spcAft>
                <a:spcPts val="0"/>
              </a:spcAft>
              <a:buClr>
                <a:schemeClr val="dk1"/>
              </a:buClr>
              <a:buSzPts val="1200"/>
              <a:buFont typeface="Proxima Nova"/>
              <a:buNone/>
            </a:pPr>
            <a:endParaRPr sz="1200" b="0" i="0" u="none" strike="noStrike" cap="none" dirty="0">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chemeClr val="lt1"/>
              </a:buClr>
              <a:buSzPts val="900"/>
              <a:buFont typeface="Proxima Nova"/>
              <a:buNone/>
            </a:pPr>
            <a:r>
              <a:rPr lang="en" sz="900" b="0" i="1" u="none" strike="noStrike" cap="none" dirty="0">
                <a:solidFill>
                  <a:schemeClr val="lt1"/>
                </a:solidFill>
                <a:latin typeface="Proxima Nova"/>
                <a:ea typeface="Proxima Nova"/>
                <a:cs typeface="Proxima Nova"/>
                <a:sym typeface="Proxima Nova"/>
              </a:rPr>
              <a:t>(</a:t>
            </a:r>
            <a:r>
              <a:rPr lang="en" sz="900" i="1" dirty="0">
                <a:solidFill>
                  <a:schemeClr val="lt1"/>
                </a:solidFill>
                <a:latin typeface="Proxima Nova"/>
                <a:ea typeface="Proxima Nova"/>
                <a:cs typeface="Proxima Nova"/>
                <a:sym typeface="Proxima Nova"/>
              </a:rPr>
              <a:t>Segments and, Verticals</a:t>
            </a:r>
            <a:r>
              <a:rPr lang="en" sz="900" b="0" i="1" u="none" strike="noStrike" cap="none" dirty="0">
                <a:solidFill>
                  <a:schemeClr val="lt1"/>
                </a:solidFill>
                <a:latin typeface="Proxima Nova"/>
                <a:ea typeface="Proxima Nova"/>
                <a:cs typeface="Proxima Nova"/>
                <a:sym typeface="Proxima Nova"/>
              </a:rPr>
              <a:t>)</a:t>
            </a:r>
            <a:endParaRPr dirty="0"/>
          </a:p>
        </p:txBody>
      </p:sp>
      <p:sp>
        <p:nvSpPr>
          <p:cNvPr id="343" name="Google Shape;343;p35"/>
          <p:cNvSpPr/>
          <p:nvPr/>
        </p:nvSpPr>
        <p:spPr>
          <a:xfrm>
            <a:off x="6869932" y="1212233"/>
            <a:ext cx="1854000" cy="846600"/>
          </a:xfrm>
          <a:prstGeom prst="roundRect">
            <a:avLst>
              <a:gd name="adj" fmla="val 7408"/>
            </a:avLst>
          </a:prstGeom>
          <a:solidFill>
            <a:srgbClr val="696A6D"/>
          </a:solidFill>
          <a:ln w="12700" cap="flat" cmpd="sng">
            <a:solidFill>
              <a:srgbClr val="11111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200"/>
              <a:buFont typeface="Proxima Nova"/>
              <a:buNone/>
            </a:pPr>
            <a:r>
              <a:rPr lang="en" sz="1200" b="0" i="0" u="none" strike="noStrike" cap="none">
                <a:solidFill>
                  <a:schemeClr val="lt1"/>
                </a:solidFill>
                <a:latin typeface="Proxima Nova"/>
                <a:ea typeface="Proxima Nova"/>
                <a:cs typeface="Proxima Nova"/>
                <a:sym typeface="Proxima Nova"/>
              </a:rPr>
              <a:t>AR / PR</a:t>
            </a:r>
            <a:endParaRPr/>
          </a:p>
          <a:p>
            <a:pPr marL="0" marR="0" lvl="0" indent="0" algn="ctr" rtl="0">
              <a:lnSpc>
                <a:spcPct val="100000"/>
              </a:lnSpc>
              <a:spcBef>
                <a:spcPts val="0"/>
              </a:spcBef>
              <a:spcAft>
                <a:spcPts val="0"/>
              </a:spcAft>
              <a:buClr>
                <a:schemeClr val="dk1"/>
              </a:buClr>
              <a:buSzPts val="1200"/>
              <a:buFont typeface="Proxima Nova"/>
              <a:buNone/>
            </a:pPr>
            <a:endParaRPr sz="1200" b="0" i="0" u="none" strike="noStrike" cap="none">
              <a:solidFill>
                <a:schemeClr val="lt1"/>
              </a:solidFill>
              <a:latin typeface="Proxima Nova"/>
              <a:ea typeface="Proxima Nova"/>
              <a:cs typeface="Proxima Nova"/>
              <a:sym typeface="Proxima Nova"/>
            </a:endParaRPr>
          </a:p>
          <a:p>
            <a:pPr marL="0" marR="0" lvl="0" indent="0" algn="ctr" rtl="0">
              <a:lnSpc>
                <a:spcPct val="100000"/>
              </a:lnSpc>
              <a:spcBef>
                <a:spcPts val="0"/>
              </a:spcBef>
              <a:spcAft>
                <a:spcPts val="0"/>
              </a:spcAft>
              <a:buClr>
                <a:schemeClr val="lt1"/>
              </a:buClr>
              <a:buSzPts val="900"/>
              <a:buFont typeface="Proxima Nova"/>
              <a:buNone/>
            </a:pPr>
            <a:r>
              <a:rPr lang="en" sz="900" b="0" i="1" u="none" strike="noStrike" cap="none">
                <a:solidFill>
                  <a:schemeClr val="lt1"/>
                </a:solidFill>
                <a:latin typeface="Proxima Nova"/>
                <a:ea typeface="Proxima Nova"/>
                <a:cs typeface="Proxima Nova"/>
                <a:sym typeface="Proxima Nova"/>
              </a:rPr>
              <a:t>(Influencer Relations)</a:t>
            </a:r>
            <a:endParaRPr/>
          </a:p>
        </p:txBody>
      </p:sp>
      <p:cxnSp>
        <p:nvCxnSpPr>
          <p:cNvPr id="344" name="Google Shape;344;p35"/>
          <p:cNvCxnSpPr/>
          <p:nvPr/>
        </p:nvCxnSpPr>
        <p:spPr>
          <a:xfrm>
            <a:off x="3161212" y="1018903"/>
            <a:ext cx="0" cy="3615900"/>
          </a:xfrm>
          <a:prstGeom prst="straightConnector1">
            <a:avLst/>
          </a:prstGeom>
          <a:noFill/>
          <a:ln w="12700" cap="flat" cmpd="sng">
            <a:solidFill>
              <a:schemeClr val="accent5"/>
            </a:solidFill>
            <a:prstDash val="solid"/>
            <a:miter lim="800000"/>
            <a:headEnd type="none" w="sm" len="sm"/>
            <a:tailEnd type="none" w="sm" len="sm"/>
          </a:ln>
        </p:spPr>
      </p:cxnSp>
      <p:cxnSp>
        <p:nvCxnSpPr>
          <p:cNvPr id="345" name="Google Shape;345;p35"/>
          <p:cNvCxnSpPr/>
          <p:nvPr/>
        </p:nvCxnSpPr>
        <p:spPr>
          <a:xfrm>
            <a:off x="6171765" y="1018903"/>
            <a:ext cx="0" cy="3615900"/>
          </a:xfrm>
          <a:prstGeom prst="straightConnector1">
            <a:avLst/>
          </a:prstGeom>
          <a:noFill/>
          <a:ln w="12700" cap="flat" cmpd="sng">
            <a:solidFill>
              <a:schemeClr val="accent5"/>
            </a:solidFill>
            <a:prstDash val="solid"/>
            <a:miter lim="800000"/>
            <a:headEnd type="none" w="sm" len="sm"/>
            <a:tailEnd type="none" w="sm" len="sm"/>
          </a:ln>
        </p:spPr>
      </p:cxnSp>
      <p:sp>
        <p:nvSpPr>
          <p:cNvPr id="346" name="Google Shape;346;p35"/>
          <p:cNvSpPr txBox="1"/>
          <p:nvPr/>
        </p:nvSpPr>
        <p:spPr>
          <a:xfrm>
            <a:off x="323959" y="3786489"/>
            <a:ext cx="2664900" cy="848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1400" b="1" i="0" u="none" strike="noStrike" cap="none" dirty="0">
                <a:solidFill>
                  <a:schemeClr val="dk1"/>
                </a:solidFill>
                <a:latin typeface="Proxima Nova"/>
                <a:ea typeface="Proxima Nova"/>
                <a:cs typeface="Proxima Nova"/>
                <a:sym typeface="Proxima Nova"/>
              </a:rPr>
              <a:t>CUSTOMER INTIMACY</a:t>
            </a:r>
            <a:endParaRPr dirty="0"/>
          </a:p>
          <a:p>
            <a:pPr marL="0" marR="0" lvl="0" indent="0" algn="ctr" rtl="0">
              <a:spcBef>
                <a:spcPts val="0"/>
              </a:spcBef>
              <a:spcAft>
                <a:spcPts val="0"/>
              </a:spcAft>
              <a:buNone/>
            </a:pPr>
            <a:endParaRPr sz="1400" b="0" i="0" u="none" strike="noStrike" cap="none" dirty="0">
              <a:solidFill>
                <a:schemeClr val="dk1"/>
              </a:solidFill>
              <a:latin typeface="Proxima Nova"/>
              <a:ea typeface="Proxima Nova"/>
              <a:cs typeface="Proxima Nova"/>
              <a:sym typeface="Proxima Nova"/>
            </a:endParaRPr>
          </a:p>
          <a:p>
            <a:pPr marL="0" marR="0" lvl="0" indent="0" algn="ctr" rtl="0">
              <a:spcBef>
                <a:spcPts val="0"/>
              </a:spcBef>
              <a:spcAft>
                <a:spcPts val="0"/>
              </a:spcAft>
              <a:buNone/>
            </a:pPr>
            <a:r>
              <a:rPr lang="en" sz="1200" b="0" i="0" u="none" strike="noStrike" cap="none" dirty="0">
                <a:solidFill>
                  <a:schemeClr val="dk1"/>
                </a:solidFill>
                <a:latin typeface="Proxima Nova"/>
                <a:ea typeface="Proxima Nova"/>
                <a:cs typeface="Proxima Nova"/>
                <a:sym typeface="Proxima Nova"/>
              </a:rPr>
              <a:t>Deep understanding of market, competitors, use-cases and customers</a:t>
            </a:r>
            <a:endParaRPr dirty="0"/>
          </a:p>
        </p:txBody>
      </p:sp>
      <p:sp>
        <p:nvSpPr>
          <p:cNvPr id="347" name="Google Shape;347;p35"/>
          <p:cNvSpPr txBox="1"/>
          <p:nvPr/>
        </p:nvSpPr>
        <p:spPr>
          <a:xfrm>
            <a:off x="3161212" y="3786489"/>
            <a:ext cx="3010500" cy="848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1400" b="1" i="0" u="none" strike="noStrike" cap="none" dirty="0">
                <a:solidFill>
                  <a:schemeClr val="dk1"/>
                </a:solidFill>
                <a:latin typeface="Proxima Nova"/>
                <a:ea typeface="Proxima Nova"/>
                <a:cs typeface="Proxima Nova"/>
                <a:sym typeface="Proxima Nova"/>
              </a:rPr>
              <a:t>PRODUCTS CUSTOMERS WANT</a:t>
            </a:r>
            <a:endParaRPr dirty="0"/>
          </a:p>
          <a:p>
            <a:pPr marL="0" marR="0" lvl="0" indent="0" algn="ctr" rtl="0">
              <a:spcBef>
                <a:spcPts val="0"/>
              </a:spcBef>
              <a:spcAft>
                <a:spcPts val="0"/>
              </a:spcAft>
              <a:buNone/>
            </a:pPr>
            <a:endParaRPr sz="1400" b="0" i="0" u="none" strike="noStrike" cap="none" dirty="0">
              <a:solidFill>
                <a:schemeClr val="dk1"/>
              </a:solidFill>
              <a:latin typeface="Proxima Nova"/>
              <a:ea typeface="Proxima Nova"/>
              <a:cs typeface="Proxima Nova"/>
              <a:sym typeface="Proxima Nova"/>
            </a:endParaRPr>
          </a:p>
          <a:p>
            <a:pPr marL="0" marR="0" lvl="0" indent="0" algn="ctr" rtl="0">
              <a:spcBef>
                <a:spcPts val="0"/>
              </a:spcBef>
              <a:spcAft>
                <a:spcPts val="0"/>
              </a:spcAft>
              <a:buNone/>
            </a:pPr>
            <a:r>
              <a:rPr lang="en" sz="1200" b="0" i="0" u="none" strike="noStrike" cap="none" dirty="0">
                <a:solidFill>
                  <a:schemeClr val="dk1"/>
                </a:solidFill>
                <a:latin typeface="Proxima Nova"/>
                <a:ea typeface="Proxima Nova"/>
                <a:cs typeface="Proxima Nova"/>
                <a:sym typeface="Proxima Nova"/>
              </a:rPr>
              <a:t>Market requirements that guide whole </a:t>
            </a:r>
            <a:endParaRPr dirty="0"/>
          </a:p>
          <a:p>
            <a:pPr marL="0" marR="0" lvl="0" indent="0" algn="ctr" rtl="0">
              <a:spcBef>
                <a:spcPts val="0"/>
              </a:spcBef>
              <a:spcAft>
                <a:spcPts val="0"/>
              </a:spcAft>
              <a:buNone/>
            </a:pPr>
            <a:r>
              <a:rPr lang="en" sz="1200" b="0" i="0" u="none" strike="noStrike" cap="none" dirty="0">
                <a:solidFill>
                  <a:schemeClr val="dk1"/>
                </a:solidFill>
                <a:latin typeface="Proxima Nova"/>
                <a:ea typeface="Proxima Nova"/>
                <a:cs typeface="Proxima Nova"/>
                <a:sym typeface="Proxima Nova"/>
              </a:rPr>
              <a:t>product / solution development</a:t>
            </a:r>
            <a:endParaRPr dirty="0"/>
          </a:p>
        </p:txBody>
      </p:sp>
      <p:sp>
        <p:nvSpPr>
          <p:cNvPr id="348" name="Google Shape;348;p35"/>
          <p:cNvSpPr txBox="1"/>
          <p:nvPr/>
        </p:nvSpPr>
        <p:spPr>
          <a:xfrm>
            <a:off x="6171763" y="3786489"/>
            <a:ext cx="2909400" cy="848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 sz="1400" b="1" i="0" u="none" strike="noStrike" cap="none" dirty="0">
                <a:solidFill>
                  <a:schemeClr val="dk1"/>
                </a:solidFill>
                <a:latin typeface="Proxima Nova"/>
                <a:ea typeface="Proxima Nova"/>
                <a:cs typeface="Proxima Nova"/>
                <a:sym typeface="Proxima Nova"/>
              </a:rPr>
              <a:t>PRODUCTS STRATEGY / GTM</a:t>
            </a:r>
            <a:endParaRPr dirty="0"/>
          </a:p>
          <a:p>
            <a:pPr marL="0" marR="0" lvl="0" indent="0" algn="ctr" rtl="0">
              <a:spcBef>
                <a:spcPts val="0"/>
              </a:spcBef>
              <a:spcAft>
                <a:spcPts val="0"/>
              </a:spcAft>
              <a:buNone/>
            </a:pPr>
            <a:endParaRPr sz="1400" b="0" i="0" u="none" strike="noStrike" cap="none" dirty="0">
              <a:solidFill>
                <a:schemeClr val="dk1"/>
              </a:solidFill>
              <a:latin typeface="Proxima Nova"/>
              <a:ea typeface="Proxima Nova"/>
              <a:cs typeface="Proxima Nova"/>
              <a:sym typeface="Proxima Nova"/>
            </a:endParaRPr>
          </a:p>
          <a:p>
            <a:pPr marL="0" marR="0" lvl="0" indent="0" algn="ctr" rtl="0">
              <a:spcBef>
                <a:spcPts val="0"/>
              </a:spcBef>
              <a:spcAft>
                <a:spcPts val="0"/>
              </a:spcAft>
              <a:buNone/>
            </a:pPr>
            <a:r>
              <a:rPr lang="en" sz="1200" b="0" i="0" u="none" strike="noStrike" cap="none" dirty="0">
                <a:solidFill>
                  <a:schemeClr val="dk1"/>
                </a:solidFill>
                <a:latin typeface="Proxima Nova"/>
                <a:ea typeface="Proxima Nova"/>
                <a:cs typeface="Proxima Nova"/>
                <a:sym typeface="Proxima Nova"/>
              </a:rPr>
              <a:t>Guide marketing and sales with market strategy, focus, positioning, and insights</a:t>
            </a:r>
            <a:endParaRPr dirty="0"/>
          </a:p>
        </p:txBody>
      </p:sp>
      <p:cxnSp>
        <p:nvCxnSpPr>
          <p:cNvPr id="349" name="Google Shape;349;p35"/>
          <p:cNvCxnSpPr>
            <a:stCxn id="337" idx="3"/>
            <a:endCxn id="340" idx="1"/>
          </p:cNvCxnSpPr>
          <p:nvPr/>
        </p:nvCxnSpPr>
        <p:spPr>
          <a:xfrm>
            <a:off x="1243581" y="1642355"/>
            <a:ext cx="518100" cy="657000"/>
          </a:xfrm>
          <a:prstGeom prst="straightConnector1">
            <a:avLst/>
          </a:prstGeom>
          <a:solidFill>
            <a:srgbClr val="FFFFFF"/>
          </a:solidFill>
          <a:ln w="12700" cap="flat" cmpd="sng">
            <a:solidFill>
              <a:srgbClr val="000000"/>
            </a:solidFill>
            <a:prstDash val="solid"/>
            <a:round/>
            <a:headEnd type="none" w="sm" len="sm"/>
            <a:tailEnd type="none" w="sm" len="sm"/>
          </a:ln>
        </p:spPr>
      </p:cxnSp>
      <p:cxnSp>
        <p:nvCxnSpPr>
          <p:cNvPr id="350" name="Google Shape;350;p35"/>
          <p:cNvCxnSpPr>
            <a:stCxn id="338" idx="3"/>
            <a:endCxn id="340" idx="1"/>
          </p:cNvCxnSpPr>
          <p:nvPr/>
        </p:nvCxnSpPr>
        <p:spPr>
          <a:xfrm>
            <a:off x="1243580" y="2299471"/>
            <a:ext cx="518100" cy="0"/>
          </a:xfrm>
          <a:prstGeom prst="straightConnector1">
            <a:avLst/>
          </a:prstGeom>
          <a:solidFill>
            <a:srgbClr val="FFFFFF"/>
          </a:solidFill>
          <a:ln w="12700" cap="flat" cmpd="sng">
            <a:solidFill>
              <a:srgbClr val="000000"/>
            </a:solidFill>
            <a:prstDash val="solid"/>
            <a:round/>
            <a:headEnd type="none" w="sm" len="sm"/>
            <a:tailEnd type="none" w="sm" len="sm"/>
          </a:ln>
        </p:spPr>
      </p:cxnSp>
      <p:cxnSp>
        <p:nvCxnSpPr>
          <p:cNvPr id="351" name="Google Shape;351;p35"/>
          <p:cNvCxnSpPr>
            <a:stCxn id="339" idx="3"/>
            <a:endCxn id="340" idx="1"/>
          </p:cNvCxnSpPr>
          <p:nvPr/>
        </p:nvCxnSpPr>
        <p:spPr>
          <a:xfrm rot="10800000" flipH="1">
            <a:off x="1243579" y="2299453"/>
            <a:ext cx="518100" cy="643200"/>
          </a:xfrm>
          <a:prstGeom prst="straightConnector1">
            <a:avLst/>
          </a:prstGeom>
          <a:solidFill>
            <a:srgbClr val="FFFFFF"/>
          </a:solidFill>
          <a:ln w="12700" cap="flat" cmpd="sng">
            <a:solidFill>
              <a:srgbClr val="000000"/>
            </a:solidFill>
            <a:prstDash val="solid"/>
            <a:round/>
            <a:headEnd type="none" w="sm" len="sm"/>
            <a:tailEnd type="none" w="sm" len="sm"/>
          </a:ln>
        </p:spPr>
      </p:cxnSp>
      <p:sp>
        <p:nvSpPr>
          <p:cNvPr id="352" name="Google Shape;352;p35"/>
          <p:cNvSpPr/>
          <p:nvPr/>
        </p:nvSpPr>
        <p:spPr>
          <a:xfrm>
            <a:off x="2988782" y="2162277"/>
            <a:ext cx="407700" cy="274200"/>
          </a:xfrm>
          <a:prstGeom prst="rightArrow">
            <a:avLst>
              <a:gd name="adj1" fmla="val 50000"/>
              <a:gd name="adj2"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400"/>
              <a:buFont typeface="Proxima Nova"/>
              <a:buNone/>
            </a:pPr>
            <a:endParaRPr sz="1400" b="0" i="0" u="none" strike="noStrike" cap="none">
              <a:solidFill>
                <a:srgbClr val="222222"/>
              </a:solidFill>
              <a:latin typeface="Proxima Nova"/>
              <a:ea typeface="Proxima Nova"/>
              <a:cs typeface="Proxima Nova"/>
              <a:sym typeface="Proxima Nova"/>
            </a:endParaRPr>
          </a:p>
        </p:txBody>
      </p:sp>
      <p:sp>
        <p:nvSpPr>
          <p:cNvPr id="353" name="Google Shape;353;p35"/>
          <p:cNvSpPr txBox="1"/>
          <p:nvPr/>
        </p:nvSpPr>
        <p:spPr>
          <a:xfrm>
            <a:off x="3974154" y="2834632"/>
            <a:ext cx="1278900" cy="21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b="1" i="0" u="none" strike="noStrike" cap="none">
                <a:solidFill>
                  <a:schemeClr val="dk1"/>
                </a:solidFill>
                <a:latin typeface="Proxima Nova"/>
                <a:ea typeface="Proxima Nova"/>
                <a:cs typeface="Proxima Nova"/>
                <a:sym typeface="Proxima Nova"/>
              </a:rPr>
              <a:t>REQUIREMENTS</a:t>
            </a:r>
            <a:endParaRPr sz="900" b="0" i="0" u="none" strike="noStrike" cap="none">
              <a:solidFill>
                <a:schemeClr val="dk1"/>
              </a:solidFill>
              <a:latin typeface="Proxima Nova"/>
              <a:ea typeface="Proxima Nova"/>
              <a:cs typeface="Proxima Nova"/>
              <a:sym typeface="Proxima Nova"/>
            </a:endParaRPr>
          </a:p>
        </p:txBody>
      </p:sp>
      <p:sp>
        <p:nvSpPr>
          <p:cNvPr id="354" name="Google Shape;354;p35"/>
          <p:cNvSpPr txBox="1"/>
          <p:nvPr/>
        </p:nvSpPr>
        <p:spPr>
          <a:xfrm>
            <a:off x="3974153" y="1534337"/>
            <a:ext cx="1430100" cy="21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b="1" i="0" u="none" strike="noStrike" cap="none">
                <a:solidFill>
                  <a:schemeClr val="dk1"/>
                </a:solidFill>
                <a:latin typeface="Proxima Nova"/>
                <a:ea typeface="Proxima Nova"/>
                <a:cs typeface="Proxima Nova"/>
                <a:sym typeface="Proxima Nova"/>
              </a:rPr>
              <a:t>GAPS / PRIORITIES</a:t>
            </a:r>
            <a:endParaRPr sz="900" b="0" i="0" u="none" strike="noStrike" cap="none">
              <a:solidFill>
                <a:schemeClr val="dk1"/>
              </a:solidFill>
              <a:latin typeface="Proxima Nova"/>
              <a:ea typeface="Proxima Nova"/>
              <a:cs typeface="Proxima Nova"/>
              <a:sym typeface="Proxima Nova"/>
            </a:endParaRPr>
          </a:p>
        </p:txBody>
      </p:sp>
      <p:cxnSp>
        <p:nvCxnSpPr>
          <p:cNvPr id="355" name="Google Shape;355;p35"/>
          <p:cNvCxnSpPr>
            <a:stCxn id="341" idx="3"/>
            <a:endCxn id="343" idx="1"/>
          </p:cNvCxnSpPr>
          <p:nvPr/>
        </p:nvCxnSpPr>
        <p:spPr>
          <a:xfrm rot="10800000" flipH="1">
            <a:off x="5298241" y="1635600"/>
            <a:ext cx="1571700" cy="663900"/>
          </a:xfrm>
          <a:prstGeom prst="straightConnector1">
            <a:avLst/>
          </a:prstGeom>
          <a:solidFill>
            <a:srgbClr val="FFFFFF"/>
          </a:solidFill>
          <a:ln w="12700" cap="flat" cmpd="sng">
            <a:solidFill>
              <a:srgbClr val="000000"/>
            </a:solidFill>
            <a:prstDash val="solid"/>
            <a:round/>
            <a:headEnd type="none" w="sm" len="sm"/>
            <a:tailEnd type="none" w="sm" len="sm"/>
          </a:ln>
        </p:spPr>
      </p:cxnSp>
      <p:cxnSp>
        <p:nvCxnSpPr>
          <p:cNvPr id="356" name="Google Shape;356;p35"/>
          <p:cNvCxnSpPr>
            <a:stCxn id="341" idx="3"/>
            <a:endCxn id="342" idx="1"/>
          </p:cNvCxnSpPr>
          <p:nvPr/>
        </p:nvCxnSpPr>
        <p:spPr>
          <a:xfrm>
            <a:off x="5298241" y="2299500"/>
            <a:ext cx="1571700" cy="643200"/>
          </a:xfrm>
          <a:prstGeom prst="straightConnector1">
            <a:avLst/>
          </a:prstGeom>
          <a:solidFill>
            <a:srgbClr val="FFFFFF"/>
          </a:solidFill>
          <a:ln w="12700" cap="flat" cmpd="sng">
            <a:solidFill>
              <a:srgbClr val="000000"/>
            </a:solidFill>
            <a:prstDash val="solid"/>
            <a:round/>
            <a:headEnd type="none" w="sm" len="sm"/>
            <a:tailEnd type="none" w="sm" len="sm"/>
          </a:ln>
        </p:spPr>
      </p:cxnSp>
      <p:sp>
        <p:nvSpPr>
          <p:cNvPr id="357" name="Google Shape;357;p35"/>
          <p:cNvSpPr txBox="1"/>
          <p:nvPr/>
        </p:nvSpPr>
        <p:spPr>
          <a:xfrm rot="-1374624">
            <a:off x="5326032" y="1744450"/>
            <a:ext cx="1542804" cy="174626"/>
          </a:xfrm>
          <a:prstGeom prst="rect">
            <a:avLst/>
          </a:prstGeom>
          <a:solidFill>
            <a:schemeClr val="accent4"/>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b="1" i="0" u="none" strike="noStrike" cap="none" dirty="0">
                <a:solidFill>
                  <a:schemeClr val="dk1"/>
                </a:solidFill>
                <a:latin typeface="Proxima Nova"/>
                <a:ea typeface="Proxima Nova"/>
                <a:cs typeface="Proxima Nova"/>
                <a:sym typeface="Proxima Nova"/>
              </a:rPr>
              <a:t>Market Position</a:t>
            </a:r>
            <a:endParaRPr sz="900" b="0" i="0" u="none" strike="noStrike" cap="none" dirty="0">
              <a:solidFill>
                <a:schemeClr val="dk1"/>
              </a:solidFill>
              <a:latin typeface="Proxima Nova"/>
              <a:ea typeface="Proxima Nova"/>
              <a:cs typeface="Proxima Nova"/>
              <a:sym typeface="Proxima Nova"/>
            </a:endParaRPr>
          </a:p>
        </p:txBody>
      </p:sp>
      <p:sp>
        <p:nvSpPr>
          <p:cNvPr id="358" name="Google Shape;358;p35"/>
          <p:cNvSpPr txBox="1"/>
          <p:nvPr/>
        </p:nvSpPr>
        <p:spPr>
          <a:xfrm rot="1374406" flipH="1">
            <a:off x="5502072" y="2449436"/>
            <a:ext cx="1345725" cy="174626"/>
          </a:xfrm>
          <a:prstGeom prst="rect">
            <a:avLst/>
          </a:prstGeom>
          <a:solidFill>
            <a:schemeClr val="accent4"/>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1000" b="1" i="0" u="none" strike="noStrike" cap="none" dirty="0">
                <a:solidFill>
                  <a:schemeClr val="dk1"/>
                </a:solidFill>
                <a:latin typeface="Proxima Nova"/>
                <a:ea typeface="Proxima Nova"/>
                <a:cs typeface="Proxima Nova"/>
                <a:sym typeface="Proxima Nova"/>
              </a:rPr>
              <a:t>GTM Exec.</a:t>
            </a:r>
            <a:endParaRPr sz="900" b="0" i="0" u="none" strike="noStrike" cap="none" dirty="0">
              <a:solidFill>
                <a:schemeClr val="dk1"/>
              </a:solidFill>
              <a:latin typeface="Proxima Nova"/>
              <a:ea typeface="Proxima Nova"/>
              <a:cs typeface="Proxima Nova"/>
              <a:sym typeface="Proxima Nova"/>
            </a:endParaRPr>
          </a:p>
        </p:txBody>
      </p:sp>
    </p:spTree>
    <p:extLst>
      <p:ext uri="{BB962C8B-B14F-4D97-AF65-F5344CB8AC3E}">
        <p14:creationId xmlns:p14="http://schemas.microsoft.com/office/powerpoint/2010/main" val="502294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500"/>
                                        <p:tgtEl>
                                          <p:spTgt spid="34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37"/>
                                        </p:tgtEl>
                                        <p:attrNameLst>
                                          <p:attrName>style.visibility</p:attrName>
                                        </p:attrNameLst>
                                      </p:cBhvr>
                                      <p:to>
                                        <p:strVal val="visible"/>
                                      </p:to>
                                    </p:set>
                                    <p:animEffect transition="in" filter="fade">
                                      <p:cBhvr>
                                        <p:cTn id="11" dur="500"/>
                                        <p:tgtEl>
                                          <p:spTgt spid="33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49"/>
                                        </p:tgtEl>
                                        <p:attrNameLst>
                                          <p:attrName>style.visibility</p:attrName>
                                        </p:attrNameLst>
                                      </p:cBhvr>
                                      <p:to>
                                        <p:strVal val="visible"/>
                                      </p:to>
                                    </p:set>
                                    <p:animEffect transition="in" filter="wipe(left)">
                                      <p:cBhvr>
                                        <p:cTn id="15" dur="500"/>
                                        <p:tgtEl>
                                          <p:spTgt spid="34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38"/>
                                        </p:tgtEl>
                                        <p:attrNameLst>
                                          <p:attrName>style.visibility</p:attrName>
                                        </p:attrNameLst>
                                      </p:cBhvr>
                                      <p:to>
                                        <p:strVal val="visible"/>
                                      </p:to>
                                    </p:set>
                                    <p:animEffect transition="in" filter="fade">
                                      <p:cBhvr>
                                        <p:cTn id="19" dur="500"/>
                                        <p:tgtEl>
                                          <p:spTgt spid="33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50"/>
                                        </p:tgtEl>
                                        <p:attrNameLst>
                                          <p:attrName>style.visibility</p:attrName>
                                        </p:attrNameLst>
                                      </p:cBhvr>
                                      <p:to>
                                        <p:strVal val="visible"/>
                                      </p:to>
                                    </p:set>
                                    <p:animEffect transition="in" filter="wipe(left)">
                                      <p:cBhvr>
                                        <p:cTn id="23" dur="500"/>
                                        <p:tgtEl>
                                          <p:spTgt spid="35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39"/>
                                        </p:tgtEl>
                                        <p:attrNameLst>
                                          <p:attrName>style.visibility</p:attrName>
                                        </p:attrNameLst>
                                      </p:cBhvr>
                                      <p:to>
                                        <p:strVal val="visible"/>
                                      </p:to>
                                    </p:set>
                                    <p:animEffect transition="in" filter="fade">
                                      <p:cBhvr>
                                        <p:cTn id="27" dur="500"/>
                                        <p:tgtEl>
                                          <p:spTgt spid="339"/>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51"/>
                                        </p:tgtEl>
                                        <p:attrNameLst>
                                          <p:attrName>style.visibility</p:attrName>
                                        </p:attrNameLst>
                                      </p:cBhvr>
                                      <p:to>
                                        <p:strVal val="visible"/>
                                      </p:to>
                                    </p:set>
                                    <p:animEffect transition="in" filter="wipe(left)">
                                      <p:cBhvr>
                                        <p:cTn id="31" dur="500"/>
                                        <p:tgtEl>
                                          <p:spTgt spid="351"/>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40"/>
                                        </p:tgtEl>
                                        <p:attrNameLst>
                                          <p:attrName>style.visibility</p:attrName>
                                        </p:attrNameLst>
                                      </p:cBhvr>
                                      <p:to>
                                        <p:strVal val="visible"/>
                                      </p:to>
                                    </p:set>
                                    <p:animEffect transition="in" filter="fade">
                                      <p:cBhvr>
                                        <p:cTn id="35" dur="500"/>
                                        <p:tgtEl>
                                          <p:spTgt spid="34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44"/>
                                        </p:tgtEl>
                                        <p:attrNameLst>
                                          <p:attrName>style.visibility</p:attrName>
                                        </p:attrNameLst>
                                      </p:cBhvr>
                                      <p:to>
                                        <p:strVal val="visible"/>
                                      </p:to>
                                    </p:set>
                                    <p:animEffect transition="in" filter="wipe(down)">
                                      <p:cBhvr>
                                        <p:cTn id="40" dur="500"/>
                                        <p:tgtEl>
                                          <p:spTgt spid="344"/>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347"/>
                                        </p:tgtEl>
                                        <p:attrNameLst>
                                          <p:attrName>style.visibility</p:attrName>
                                        </p:attrNameLst>
                                      </p:cBhvr>
                                      <p:to>
                                        <p:strVal val="visible"/>
                                      </p:to>
                                    </p:set>
                                    <p:animEffect transition="in" filter="fade">
                                      <p:cBhvr>
                                        <p:cTn id="44" dur="500"/>
                                        <p:tgtEl>
                                          <p:spTgt spid="347"/>
                                        </p:tgtEl>
                                      </p:cBhvr>
                                    </p:animEffect>
                                  </p:childTnLst>
                                </p:cTn>
                              </p:par>
                            </p:childTnLst>
                          </p:cTn>
                        </p:par>
                        <p:par>
                          <p:cTn id="45" fill="hold">
                            <p:stCondLst>
                              <p:cond delay="1000"/>
                            </p:stCondLst>
                            <p:childTnLst>
                              <p:par>
                                <p:cTn id="46" presetID="10" presetClass="entr" presetSubtype="0" fill="hold" grpId="0" nodeType="afterEffect">
                                  <p:stCondLst>
                                    <p:cond delay="0"/>
                                  </p:stCondLst>
                                  <p:childTnLst>
                                    <p:set>
                                      <p:cBhvr>
                                        <p:cTn id="47" dur="1" fill="hold">
                                          <p:stCondLst>
                                            <p:cond delay="0"/>
                                          </p:stCondLst>
                                        </p:cTn>
                                        <p:tgtEl>
                                          <p:spTgt spid="352"/>
                                        </p:tgtEl>
                                        <p:attrNameLst>
                                          <p:attrName>style.visibility</p:attrName>
                                        </p:attrNameLst>
                                      </p:cBhvr>
                                      <p:to>
                                        <p:strVal val="visible"/>
                                      </p:to>
                                    </p:set>
                                    <p:animEffect transition="in" filter="fade">
                                      <p:cBhvr>
                                        <p:cTn id="48" dur="500"/>
                                        <p:tgtEl>
                                          <p:spTgt spid="35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41"/>
                                        </p:tgtEl>
                                        <p:attrNameLst>
                                          <p:attrName>style.visibility</p:attrName>
                                        </p:attrNameLst>
                                      </p:cBhvr>
                                      <p:to>
                                        <p:strVal val="visible"/>
                                      </p:to>
                                    </p:set>
                                    <p:animEffect transition="in" filter="fade">
                                      <p:cBhvr>
                                        <p:cTn id="51" dur="500"/>
                                        <p:tgtEl>
                                          <p:spTgt spid="341"/>
                                        </p:tgtEl>
                                      </p:cBhvr>
                                    </p:animEffect>
                                  </p:childTnLst>
                                </p:cTn>
                              </p:par>
                            </p:childTnLst>
                          </p:cTn>
                        </p:par>
                        <p:par>
                          <p:cTn id="52" fill="hold">
                            <p:stCondLst>
                              <p:cond delay="1500"/>
                            </p:stCondLst>
                            <p:childTnLst>
                              <p:par>
                                <p:cTn id="53" presetID="22" presetClass="entr" presetSubtype="4" fill="hold" nodeType="afterEffect">
                                  <p:stCondLst>
                                    <p:cond delay="0"/>
                                  </p:stCondLst>
                                  <p:childTnLst>
                                    <p:set>
                                      <p:cBhvr>
                                        <p:cTn id="54" dur="1" fill="hold">
                                          <p:stCondLst>
                                            <p:cond delay="0"/>
                                          </p:stCondLst>
                                        </p:cTn>
                                        <p:tgtEl>
                                          <p:spTgt spid="332"/>
                                        </p:tgtEl>
                                        <p:attrNameLst>
                                          <p:attrName>style.visibility</p:attrName>
                                        </p:attrNameLst>
                                      </p:cBhvr>
                                      <p:to>
                                        <p:strVal val="visible"/>
                                      </p:to>
                                    </p:set>
                                    <p:animEffect transition="in" filter="wipe(down)">
                                      <p:cBhvr>
                                        <p:cTn id="55" dur="500"/>
                                        <p:tgtEl>
                                          <p:spTgt spid="3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3"/>
                                        </p:tgtEl>
                                        <p:attrNameLst>
                                          <p:attrName>style.visibility</p:attrName>
                                        </p:attrNameLst>
                                      </p:cBhvr>
                                      <p:to>
                                        <p:strVal val="visible"/>
                                      </p:to>
                                    </p:set>
                                    <p:animEffect transition="in" filter="fade">
                                      <p:cBhvr>
                                        <p:cTn id="58" dur="500"/>
                                        <p:tgtEl>
                                          <p:spTgt spid="333"/>
                                        </p:tgtEl>
                                      </p:cBhvr>
                                    </p:animEffect>
                                  </p:childTnLst>
                                </p:cTn>
                              </p:par>
                            </p:childTnLst>
                          </p:cTn>
                        </p:par>
                        <p:par>
                          <p:cTn id="59" fill="hold">
                            <p:stCondLst>
                              <p:cond delay="2000"/>
                            </p:stCondLst>
                            <p:childTnLst>
                              <p:par>
                                <p:cTn id="60" presetID="10" presetClass="entr" presetSubtype="0" fill="hold" grpId="0" nodeType="afterEffect">
                                  <p:stCondLst>
                                    <p:cond delay="0"/>
                                  </p:stCondLst>
                                  <p:childTnLst>
                                    <p:set>
                                      <p:cBhvr>
                                        <p:cTn id="61" dur="1" fill="hold">
                                          <p:stCondLst>
                                            <p:cond delay="0"/>
                                          </p:stCondLst>
                                        </p:cTn>
                                        <p:tgtEl>
                                          <p:spTgt spid="354"/>
                                        </p:tgtEl>
                                        <p:attrNameLst>
                                          <p:attrName>style.visibility</p:attrName>
                                        </p:attrNameLst>
                                      </p:cBhvr>
                                      <p:to>
                                        <p:strVal val="visible"/>
                                      </p:to>
                                    </p:set>
                                    <p:animEffect transition="in" filter="fade">
                                      <p:cBhvr>
                                        <p:cTn id="62" dur="500"/>
                                        <p:tgtEl>
                                          <p:spTgt spid="354"/>
                                        </p:tgtEl>
                                      </p:cBhvr>
                                    </p:animEffect>
                                  </p:childTnLst>
                                </p:cTn>
                              </p:par>
                            </p:childTnLst>
                          </p:cTn>
                        </p:par>
                        <p:par>
                          <p:cTn id="63" fill="hold">
                            <p:stCondLst>
                              <p:cond delay="2500"/>
                            </p:stCondLst>
                            <p:childTnLst>
                              <p:par>
                                <p:cTn id="64" presetID="22" presetClass="entr" presetSubtype="1" fill="hold" nodeType="afterEffect">
                                  <p:stCondLst>
                                    <p:cond delay="0"/>
                                  </p:stCondLst>
                                  <p:childTnLst>
                                    <p:set>
                                      <p:cBhvr>
                                        <p:cTn id="65" dur="1" fill="hold">
                                          <p:stCondLst>
                                            <p:cond delay="0"/>
                                          </p:stCondLst>
                                        </p:cTn>
                                        <p:tgtEl>
                                          <p:spTgt spid="334"/>
                                        </p:tgtEl>
                                        <p:attrNameLst>
                                          <p:attrName>style.visibility</p:attrName>
                                        </p:attrNameLst>
                                      </p:cBhvr>
                                      <p:to>
                                        <p:strVal val="visible"/>
                                      </p:to>
                                    </p:set>
                                    <p:animEffect transition="in" filter="wipe(up)">
                                      <p:cBhvr>
                                        <p:cTn id="66" dur="500"/>
                                        <p:tgtEl>
                                          <p:spTgt spid="3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35"/>
                                        </p:tgtEl>
                                        <p:attrNameLst>
                                          <p:attrName>style.visibility</p:attrName>
                                        </p:attrNameLst>
                                      </p:cBhvr>
                                      <p:to>
                                        <p:strVal val="visible"/>
                                      </p:to>
                                    </p:set>
                                    <p:animEffect transition="in" filter="fade">
                                      <p:cBhvr>
                                        <p:cTn id="69" dur="500"/>
                                        <p:tgtEl>
                                          <p:spTgt spid="335"/>
                                        </p:tgtEl>
                                      </p:cBhvr>
                                    </p:animEffect>
                                  </p:childTnLst>
                                </p:cTn>
                              </p:par>
                            </p:childTnLst>
                          </p:cTn>
                        </p:par>
                        <p:par>
                          <p:cTn id="70" fill="hold">
                            <p:stCondLst>
                              <p:cond delay="3000"/>
                            </p:stCondLst>
                            <p:childTnLst>
                              <p:par>
                                <p:cTn id="71" presetID="10" presetClass="entr" presetSubtype="0" fill="hold" grpId="0" nodeType="afterEffect">
                                  <p:stCondLst>
                                    <p:cond delay="0"/>
                                  </p:stCondLst>
                                  <p:childTnLst>
                                    <p:set>
                                      <p:cBhvr>
                                        <p:cTn id="72" dur="1" fill="hold">
                                          <p:stCondLst>
                                            <p:cond delay="0"/>
                                          </p:stCondLst>
                                        </p:cTn>
                                        <p:tgtEl>
                                          <p:spTgt spid="353"/>
                                        </p:tgtEl>
                                        <p:attrNameLst>
                                          <p:attrName>style.visibility</p:attrName>
                                        </p:attrNameLst>
                                      </p:cBhvr>
                                      <p:to>
                                        <p:strVal val="visible"/>
                                      </p:to>
                                    </p:set>
                                    <p:animEffect transition="in" filter="fade">
                                      <p:cBhvr>
                                        <p:cTn id="73" dur="500"/>
                                        <p:tgtEl>
                                          <p:spTgt spid="35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345"/>
                                        </p:tgtEl>
                                        <p:attrNameLst>
                                          <p:attrName>style.visibility</p:attrName>
                                        </p:attrNameLst>
                                      </p:cBhvr>
                                      <p:to>
                                        <p:strVal val="visible"/>
                                      </p:to>
                                    </p:set>
                                    <p:animEffect transition="in" filter="wipe(down)">
                                      <p:cBhvr>
                                        <p:cTn id="78" dur="500"/>
                                        <p:tgtEl>
                                          <p:spTgt spid="345"/>
                                        </p:tgtEl>
                                      </p:cBhvr>
                                    </p:animEffect>
                                  </p:childTnLst>
                                </p:cTn>
                              </p:par>
                            </p:childTnLst>
                          </p:cTn>
                        </p:par>
                        <p:par>
                          <p:cTn id="79" fill="hold">
                            <p:stCondLst>
                              <p:cond delay="500"/>
                            </p:stCondLst>
                            <p:childTnLst>
                              <p:par>
                                <p:cTn id="80" presetID="10" presetClass="entr" presetSubtype="0" fill="hold" grpId="0" nodeType="afterEffect">
                                  <p:stCondLst>
                                    <p:cond delay="0"/>
                                  </p:stCondLst>
                                  <p:childTnLst>
                                    <p:set>
                                      <p:cBhvr>
                                        <p:cTn id="81" dur="1" fill="hold">
                                          <p:stCondLst>
                                            <p:cond delay="0"/>
                                          </p:stCondLst>
                                        </p:cTn>
                                        <p:tgtEl>
                                          <p:spTgt spid="348"/>
                                        </p:tgtEl>
                                        <p:attrNameLst>
                                          <p:attrName>style.visibility</p:attrName>
                                        </p:attrNameLst>
                                      </p:cBhvr>
                                      <p:to>
                                        <p:strVal val="visible"/>
                                      </p:to>
                                    </p:set>
                                    <p:animEffect transition="in" filter="fade">
                                      <p:cBhvr>
                                        <p:cTn id="82" dur="500"/>
                                        <p:tgtEl>
                                          <p:spTgt spid="348"/>
                                        </p:tgtEl>
                                      </p:cBhvr>
                                    </p:animEffect>
                                  </p:childTnLst>
                                </p:cTn>
                              </p:par>
                            </p:childTnLst>
                          </p:cTn>
                        </p:par>
                        <p:par>
                          <p:cTn id="83" fill="hold">
                            <p:stCondLst>
                              <p:cond delay="1000"/>
                            </p:stCondLst>
                            <p:childTnLst>
                              <p:par>
                                <p:cTn id="84" presetID="22" presetClass="entr" presetSubtype="4" fill="hold" nodeType="afterEffect">
                                  <p:stCondLst>
                                    <p:cond delay="0"/>
                                  </p:stCondLst>
                                  <p:childTnLst>
                                    <p:set>
                                      <p:cBhvr>
                                        <p:cTn id="85" dur="1" fill="hold">
                                          <p:stCondLst>
                                            <p:cond delay="0"/>
                                          </p:stCondLst>
                                        </p:cTn>
                                        <p:tgtEl>
                                          <p:spTgt spid="355"/>
                                        </p:tgtEl>
                                        <p:attrNameLst>
                                          <p:attrName>style.visibility</p:attrName>
                                        </p:attrNameLst>
                                      </p:cBhvr>
                                      <p:to>
                                        <p:strVal val="visible"/>
                                      </p:to>
                                    </p:set>
                                    <p:animEffect transition="in" filter="wipe(down)">
                                      <p:cBhvr>
                                        <p:cTn id="86" dur="500"/>
                                        <p:tgtEl>
                                          <p:spTgt spid="35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57"/>
                                        </p:tgtEl>
                                        <p:attrNameLst>
                                          <p:attrName>style.visibility</p:attrName>
                                        </p:attrNameLst>
                                      </p:cBhvr>
                                      <p:to>
                                        <p:strVal val="visible"/>
                                      </p:to>
                                    </p:set>
                                    <p:animEffect transition="in" filter="fade">
                                      <p:cBhvr>
                                        <p:cTn id="89" dur="500"/>
                                        <p:tgtEl>
                                          <p:spTgt spid="357"/>
                                        </p:tgtEl>
                                      </p:cBhvr>
                                    </p:animEffect>
                                  </p:childTnLst>
                                </p:cTn>
                              </p:par>
                            </p:childTnLst>
                          </p:cTn>
                        </p:par>
                        <p:par>
                          <p:cTn id="90" fill="hold">
                            <p:stCondLst>
                              <p:cond delay="1500"/>
                            </p:stCondLst>
                            <p:childTnLst>
                              <p:par>
                                <p:cTn id="91" presetID="10" presetClass="entr" presetSubtype="0" fill="hold" grpId="0" nodeType="afterEffect">
                                  <p:stCondLst>
                                    <p:cond delay="0"/>
                                  </p:stCondLst>
                                  <p:childTnLst>
                                    <p:set>
                                      <p:cBhvr>
                                        <p:cTn id="92" dur="1" fill="hold">
                                          <p:stCondLst>
                                            <p:cond delay="0"/>
                                          </p:stCondLst>
                                        </p:cTn>
                                        <p:tgtEl>
                                          <p:spTgt spid="343"/>
                                        </p:tgtEl>
                                        <p:attrNameLst>
                                          <p:attrName>style.visibility</p:attrName>
                                        </p:attrNameLst>
                                      </p:cBhvr>
                                      <p:to>
                                        <p:strVal val="visible"/>
                                      </p:to>
                                    </p:set>
                                    <p:animEffect transition="in" filter="fade">
                                      <p:cBhvr>
                                        <p:cTn id="93" dur="500"/>
                                        <p:tgtEl>
                                          <p:spTgt spid="343"/>
                                        </p:tgtEl>
                                      </p:cBhvr>
                                    </p:animEffect>
                                  </p:childTnLst>
                                </p:cTn>
                              </p:par>
                            </p:childTnLst>
                          </p:cTn>
                        </p:par>
                        <p:par>
                          <p:cTn id="94" fill="hold">
                            <p:stCondLst>
                              <p:cond delay="2000"/>
                            </p:stCondLst>
                            <p:childTnLst>
                              <p:par>
                                <p:cTn id="95" presetID="22" presetClass="entr" presetSubtype="1" fill="hold" nodeType="afterEffect">
                                  <p:stCondLst>
                                    <p:cond delay="0"/>
                                  </p:stCondLst>
                                  <p:childTnLst>
                                    <p:set>
                                      <p:cBhvr>
                                        <p:cTn id="96" dur="1" fill="hold">
                                          <p:stCondLst>
                                            <p:cond delay="0"/>
                                          </p:stCondLst>
                                        </p:cTn>
                                        <p:tgtEl>
                                          <p:spTgt spid="356"/>
                                        </p:tgtEl>
                                        <p:attrNameLst>
                                          <p:attrName>style.visibility</p:attrName>
                                        </p:attrNameLst>
                                      </p:cBhvr>
                                      <p:to>
                                        <p:strVal val="visible"/>
                                      </p:to>
                                    </p:set>
                                    <p:animEffect transition="in" filter="wipe(up)">
                                      <p:cBhvr>
                                        <p:cTn id="97" dur="500"/>
                                        <p:tgtEl>
                                          <p:spTgt spid="35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8"/>
                                        </p:tgtEl>
                                        <p:attrNameLst>
                                          <p:attrName>style.visibility</p:attrName>
                                        </p:attrNameLst>
                                      </p:cBhvr>
                                      <p:to>
                                        <p:strVal val="visible"/>
                                      </p:to>
                                    </p:set>
                                    <p:animEffect transition="in" filter="fade">
                                      <p:cBhvr>
                                        <p:cTn id="100" dur="500"/>
                                        <p:tgtEl>
                                          <p:spTgt spid="358"/>
                                        </p:tgtEl>
                                      </p:cBhvr>
                                    </p:animEffect>
                                  </p:childTnLst>
                                </p:cTn>
                              </p:par>
                            </p:childTnLst>
                          </p:cTn>
                        </p:par>
                        <p:par>
                          <p:cTn id="101" fill="hold">
                            <p:stCondLst>
                              <p:cond delay="2500"/>
                            </p:stCondLst>
                            <p:childTnLst>
                              <p:par>
                                <p:cTn id="102" presetID="10" presetClass="entr" presetSubtype="0" fill="hold" grpId="0" nodeType="afterEffect">
                                  <p:stCondLst>
                                    <p:cond delay="0"/>
                                  </p:stCondLst>
                                  <p:childTnLst>
                                    <p:set>
                                      <p:cBhvr>
                                        <p:cTn id="103" dur="1" fill="hold">
                                          <p:stCondLst>
                                            <p:cond delay="0"/>
                                          </p:stCondLst>
                                        </p:cTn>
                                        <p:tgtEl>
                                          <p:spTgt spid="342"/>
                                        </p:tgtEl>
                                        <p:attrNameLst>
                                          <p:attrName>style.visibility</p:attrName>
                                        </p:attrNameLst>
                                      </p:cBhvr>
                                      <p:to>
                                        <p:strVal val="visible"/>
                                      </p:to>
                                    </p:set>
                                    <p:animEffect transition="in" filter="fade">
                                      <p:cBhvr>
                                        <p:cTn id="104"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 grpId="0" animBg="1"/>
      <p:bldP spid="338" grpId="0" animBg="1"/>
      <p:bldP spid="339" grpId="0" animBg="1"/>
      <p:bldP spid="340" grpId="0" animBg="1"/>
      <p:bldP spid="341" grpId="0" animBg="1"/>
      <p:bldP spid="333" grpId="0" animBg="1"/>
      <p:bldP spid="335" grpId="0" animBg="1"/>
      <p:bldP spid="342" grpId="0" animBg="1"/>
      <p:bldP spid="343" grpId="0" animBg="1"/>
      <p:bldP spid="346" grpId="0"/>
      <p:bldP spid="347" grpId="0"/>
      <p:bldP spid="348" grpId="0"/>
      <p:bldP spid="352" grpId="0" animBg="1"/>
      <p:bldP spid="353" grpId="0"/>
      <p:bldP spid="354" grpId="0"/>
      <p:bldP spid="357" grpId="0" animBg="1"/>
      <p:bldP spid="35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8"/>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Questions</a:t>
            </a:r>
            <a:endParaRPr/>
          </a:p>
        </p:txBody>
      </p:sp>
      <p:sp>
        <p:nvSpPr>
          <p:cNvPr id="257" name="Google Shape;257;p28"/>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t>I know you must have some.</a:t>
            </a:r>
            <a:r>
              <a:rPr lang="en" sz="1400" b="1"/>
              <a:t> </a:t>
            </a:r>
            <a:r>
              <a:rPr lang="en" sz="1400"/>
              <a:t>If you don’t, I get to ask you something</a:t>
            </a:r>
            <a:endParaRPr sz="1400"/>
          </a:p>
        </p:txBody>
      </p:sp>
      <p:pic>
        <p:nvPicPr>
          <p:cNvPr id="258" name="Google Shape;258;p28"/>
          <p:cNvPicPr preferRelativeResize="0"/>
          <p:nvPr/>
        </p:nvPicPr>
        <p:blipFill rotWithShape="1">
          <a:blip r:embed="rId3">
            <a:alphaModFix/>
          </a:blip>
          <a:srcRect l="11942" r="11942"/>
          <a:stretch/>
        </p:blipFill>
        <p:spPr>
          <a:xfrm>
            <a:off x="3274676" y="0"/>
            <a:ext cx="5869325" cy="514350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2065350"/>
            <a:ext cx="8222100" cy="1375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What are My </a:t>
            </a:r>
            <a:r>
              <a:rPr lang="en" b="1" dirty="0">
                <a:solidFill>
                  <a:schemeClr val="accent6"/>
                </a:solidFill>
              </a:rPr>
              <a:t>Expectations of You</a:t>
            </a:r>
            <a:endParaRPr b="1" dirty="0">
              <a:solidFill>
                <a:schemeClr val="accent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226075" y="357800"/>
            <a:ext cx="2808000" cy="1369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What I Expect From You</a:t>
            </a:r>
            <a:endParaRPr/>
          </a:p>
        </p:txBody>
      </p:sp>
      <p:sp>
        <p:nvSpPr>
          <p:cNvPr id="237" name="Google Shape;237;p26"/>
          <p:cNvSpPr txBox="1">
            <a:spLocks noGrp="1"/>
          </p:cNvSpPr>
          <p:nvPr>
            <p:ph type="body" idx="1"/>
          </p:nvPr>
        </p:nvSpPr>
        <p:spPr>
          <a:xfrm>
            <a:off x="226075" y="1865650"/>
            <a:ext cx="2808000" cy="2763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The collection of individual commitment and ownership leads to a higher functioning team.</a:t>
            </a:r>
            <a:endParaRPr/>
          </a:p>
        </p:txBody>
      </p:sp>
      <p:pic>
        <p:nvPicPr>
          <p:cNvPr id="238" name="Google Shape;238;p26"/>
          <p:cNvPicPr preferRelativeResize="0"/>
          <p:nvPr/>
        </p:nvPicPr>
        <p:blipFill>
          <a:blip r:embed="rId3">
            <a:alphaModFix/>
          </a:blip>
          <a:stretch>
            <a:fillRect/>
          </a:stretch>
        </p:blipFill>
        <p:spPr>
          <a:xfrm>
            <a:off x="3275150" y="166467"/>
            <a:ext cx="5943599" cy="525018"/>
          </a:xfrm>
          <a:prstGeom prst="rect">
            <a:avLst/>
          </a:prstGeom>
          <a:noFill/>
          <a:ln>
            <a:noFill/>
          </a:ln>
        </p:spPr>
      </p:pic>
      <p:pic>
        <p:nvPicPr>
          <p:cNvPr id="239" name="Google Shape;239;p26"/>
          <p:cNvPicPr preferRelativeResize="0"/>
          <p:nvPr/>
        </p:nvPicPr>
        <p:blipFill>
          <a:blip r:embed="rId4">
            <a:alphaModFix/>
          </a:blip>
          <a:stretch>
            <a:fillRect/>
          </a:stretch>
        </p:blipFill>
        <p:spPr>
          <a:xfrm>
            <a:off x="3275150" y="781306"/>
            <a:ext cx="5943599" cy="525018"/>
          </a:xfrm>
          <a:prstGeom prst="rect">
            <a:avLst/>
          </a:prstGeom>
          <a:noFill/>
          <a:ln>
            <a:noFill/>
          </a:ln>
        </p:spPr>
      </p:pic>
      <p:pic>
        <p:nvPicPr>
          <p:cNvPr id="240" name="Google Shape;240;p26"/>
          <p:cNvPicPr preferRelativeResize="0"/>
          <p:nvPr/>
        </p:nvPicPr>
        <p:blipFill>
          <a:blip r:embed="rId5">
            <a:alphaModFix/>
          </a:blip>
          <a:stretch>
            <a:fillRect/>
          </a:stretch>
        </p:blipFill>
        <p:spPr>
          <a:xfrm>
            <a:off x="3275150" y="1396145"/>
            <a:ext cx="5943599" cy="525018"/>
          </a:xfrm>
          <a:prstGeom prst="rect">
            <a:avLst/>
          </a:prstGeom>
          <a:noFill/>
          <a:ln>
            <a:noFill/>
          </a:ln>
        </p:spPr>
      </p:pic>
      <p:pic>
        <p:nvPicPr>
          <p:cNvPr id="241" name="Google Shape;241;p26"/>
          <p:cNvPicPr preferRelativeResize="0"/>
          <p:nvPr/>
        </p:nvPicPr>
        <p:blipFill>
          <a:blip r:embed="rId6">
            <a:alphaModFix/>
          </a:blip>
          <a:stretch>
            <a:fillRect/>
          </a:stretch>
        </p:blipFill>
        <p:spPr>
          <a:xfrm>
            <a:off x="3275150" y="2010985"/>
            <a:ext cx="5943599" cy="525018"/>
          </a:xfrm>
          <a:prstGeom prst="rect">
            <a:avLst/>
          </a:prstGeom>
          <a:noFill/>
          <a:ln>
            <a:noFill/>
          </a:ln>
        </p:spPr>
      </p:pic>
      <p:pic>
        <p:nvPicPr>
          <p:cNvPr id="242" name="Google Shape;242;p26"/>
          <p:cNvPicPr preferRelativeResize="0"/>
          <p:nvPr/>
        </p:nvPicPr>
        <p:blipFill>
          <a:blip r:embed="rId7">
            <a:alphaModFix/>
          </a:blip>
          <a:stretch>
            <a:fillRect/>
          </a:stretch>
        </p:blipFill>
        <p:spPr>
          <a:xfrm>
            <a:off x="3275150" y="2625824"/>
            <a:ext cx="5943599" cy="525018"/>
          </a:xfrm>
          <a:prstGeom prst="rect">
            <a:avLst/>
          </a:prstGeom>
          <a:noFill/>
          <a:ln>
            <a:noFill/>
          </a:ln>
        </p:spPr>
      </p:pic>
      <p:pic>
        <p:nvPicPr>
          <p:cNvPr id="243" name="Google Shape;243;p26"/>
          <p:cNvPicPr preferRelativeResize="0"/>
          <p:nvPr/>
        </p:nvPicPr>
        <p:blipFill>
          <a:blip r:embed="rId8">
            <a:alphaModFix/>
          </a:blip>
          <a:stretch>
            <a:fillRect/>
          </a:stretch>
        </p:blipFill>
        <p:spPr>
          <a:xfrm>
            <a:off x="3275150" y="3240663"/>
            <a:ext cx="5943599" cy="525018"/>
          </a:xfrm>
          <a:prstGeom prst="rect">
            <a:avLst/>
          </a:prstGeom>
          <a:noFill/>
          <a:ln>
            <a:noFill/>
          </a:ln>
        </p:spPr>
      </p:pic>
      <p:pic>
        <p:nvPicPr>
          <p:cNvPr id="244" name="Google Shape;244;p26"/>
          <p:cNvPicPr preferRelativeResize="0"/>
          <p:nvPr/>
        </p:nvPicPr>
        <p:blipFill>
          <a:blip r:embed="rId9">
            <a:alphaModFix/>
          </a:blip>
          <a:stretch>
            <a:fillRect/>
          </a:stretch>
        </p:blipFill>
        <p:spPr>
          <a:xfrm>
            <a:off x="3275150" y="3855502"/>
            <a:ext cx="5943599" cy="525018"/>
          </a:xfrm>
          <a:prstGeom prst="rect">
            <a:avLst/>
          </a:prstGeom>
          <a:noFill/>
          <a:ln>
            <a:noFill/>
          </a:ln>
        </p:spPr>
      </p:pic>
      <p:pic>
        <p:nvPicPr>
          <p:cNvPr id="245" name="Google Shape;245;p26"/>
          <p:cNvPicPr preferRelativeResize="0"/>
          <p:nvPr/>
        </p:nvPicPr>
        <p:blipFill>
          <a:blip r:embed="rId10">
            <a:alphaModFix/>
          </a:blip>
          <a:stretch>
            <a:fillRect/>
          </a:stretch>
        </p:blipFill>
        <p:spPr>
          <a:xfrm>
            <a:off x="3275150" y="4470342"/>
            <a:ext cx="5943599" cy="52501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1000"/>
                                        <p:tgtEl>
                                          <p:spTgt spid="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39"/>
                                        </p:tgtEl>
                                        <p:attrNameLst>
                                          <p:attrName>style.visibility</p:attrName>
                                        </p:attrNameLst>
                                      </p:cBhvr>
                                      <p:to>
                                        <p:strVal val="visible"/>
                                      </p:to>
                                    </p:set>
                                    <p:anim calcmode="lin" valueType="num">
                                      <p:cBhvr additive="base">
                                        <p:cTn id="12" dur="1000"/>
                                        <p:tgtEl>
                                          <p:spTgt spid="23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40"/>
                                        </p:tgtEl>
                                        <p:attrNameLst>
                                          <p:attrName>style.visibility</p:attrName>
                                        </p:attrNameLst>
                                      </p:cBhvr>
                                      <p:to>
                                        <p:strVal val="visible"/>
                                      </p:to>
                                    </p:set>
                                    <p:anim calcmode="lin" valueType="num">
                                      <p:cBhvr additive="base">
                                        <p:cTn id="17" dur="1000"/>
                                        <p:tgtEl>
                                          <p:spTgt spid="240"/>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41"/>
                                        </p:tgtEl>
                                        <p:attrNameLst>
                                          <p:attrName>style.visibility</p:attrName>
                                        </p:attrNameLst>
                                      </p:cBhvr>
                                      <p:to>
                                        <p:strVal val="visible"/>
                                      </p:to>
                                    </p:set>
                                    <p:anim calcmode="lin" valueType="num">
                                      <p:cBhvr additive="base">
                                        <p:cTn id="22" dur="1000"/>
                                        <p:tgtEl>
                                          <p:spTgt spid="241"/>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42"/>
                                        </p:tgtEl>
                                        <p:attrNameLst>
                                          <p:attrName>style.visibility</p:attrName>
                                        </p:attrNameLst>
                                      </p:cBhvr>
                                      <p:to>
                                        <p:strVal val="visible"/>
                                      </p:to>
                                    </p:set>
                                    <p:anim calcmode="lin" valueType="num">
                                      <p:cBhvr additive="base">
                                        <p:cTn id="27" dur="1000"/>
                                        <p:tgtEl>
                                          <p:spTgt spid="242"/>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243"/>
                                        </p:tgtEl>
                                        <p:attrNameLst>
                                          <p:attrName>style.visibility</p:attrName>
                                        </p:attrNameLst>
                                      </p:cBhvr>
                                      <p:to>
                                        <p:strVal val="visible"/>
                                      </p:to>
                                    </p:set>
                                    <p:anim calcmode="lin" valueType="num">
                                      <p:cBhvr additive="base">
                                        <p:cTn id="32" dur="1000"/>
                                        <p:tgtEl>
                                          <p:spTgt spid="243"/>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44"/>
                                        </p:tgtEl>
                                        <p:attrNameLst>
                                          <p:attrName>style.visibility</p:attrName>
                                        </p:attrNameLst>
                                      </p:cBhvr>
                                      <p:to>
                                        <p:strVal val="visible"/>
                                      </p:to>
                                    </p:set>
                                    <p:anim calcmode="lin" valueType="num">
                                      <p:cBhvr additive="base">
                                        <p:cTn id="37" dur="1000"/>
                                        <p:tgtEl>
                                          <p:spTgt spid="244"/>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245"/>
                                        </p:tgtEl>
                                        <p:attrNameLst>
                                          <p:attrName>style.visibility</p:attrName>
                                        </p:attrNameLst>
                                      </p:cBhvr>
                                      <p:to>
                                        <p:strVal val="visible"/>
                                      </p:to>
                                    </p:set>
                                    <p:anim calcmode="lin" valueType="num">
                                      <p:cBhvr additive="base">
                                        <p:cTn id="42" dur="1000"/>
                                        <p:tgtEl>
                                          <p:spTgt spid="24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7"/>
          <p:cNvSpPr txBox="1">
            <a:spLocks noGrp="1"/>
          </p:cNvSpPr>
          <p:nvPr>
            <p:ph type="title"/>
          </p:nvPr>
        </p:nvSpPr>
        <p:spPr>
          <a:xfrm>
            <a:off x="265500" y="951600"/>
            <a:ext cx="4045200" cy="3240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I Expect Out of Our Team</a:t>
            </a:r>
            <a:endParaRPr/>
          </a:p>
        </p:txBody>
      </p:sp>
      <p:sp>
        <p:nvSpPr>
          <p:cNvPr id="251" name="Google Shape;251;p27"/>
          <p:cNvSpPr txBox="1">
            <a:spLocks noGrp="1"/>
          </p:cNvSpPr>
          <p:nvPr>
            <p:ph type="body" idx="2"/>
          </p:nvPr>
        </p:nvSpPr>
        <p:spPr>
          <a:xfrm>
            <a:off x="4622025" y="92375"/>
            <a:ext cx="4464300" cy="49875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AutoNum type="arabicPeriod"/>
            </a:pPr>
            <a:r>
              <a:rPr lang="en"/>
              <a:t>We Must Be</a:t>
            </a:r>
            <a:r>
              <a:rPr lang="en" b="1"/>
              <a:t> </a:t>
            </a:r>
            <a:r>
              <a:rPr lang="en" b="1" i="1" u="sng">
                <a:solidFill>
                  <a:schemeClr val="accent6"/>
                </a:solidFill>
              </a:rPr>
              <a:t>Greater At All Levels</a:t>
            </a:r>
            <a:endParaRPr sz="1500" i="1" u="sng">
              <a:solidFill>
                <a:schemeClr val="accent6"/>
              </a:solidFill>
            </a:endParaRPr>
          </a:p>
          <a:p>
            <a:pPr marL="457200" lvl="0" indent="-342900" algn="l" rtl="0">
              <a:spcBef>
                <a:spcPts val="1000"/>
              </a:spcBef>
              <a:spcAft>
                <a:spcPts val="0"/>
              </a:spcAft>
              <a:buSzPts val="1800"/>
              <a:buAutoNum type="arabicPeriod"/>
            </a:pPr>
            <a:r>
              <a:rPr lang="en"/>
              <a:t>Be The</a:t>
            </a:r>
            <a:r>
              <a:rPr lang="en" b="1"/>
              <a:t> </a:t>
            </a:r>
            <a:r>
              <a:rPr lang="en" b="1" i="1" u="sng">
                <a:solidFill>
                  <a:schemeClr val="accent6"/>
                </a:solidFill>
              </a:rPr>
              <a:t>Most Admired Brand</a:t>
            </a:r>
            <a:r>
              <a:rPr lang="en" b="1"/>
              <a:t> </a:t>
            </a:r>
            <a:r>
              <a:rPr lang="en"/>
              <a:t>In Technology</a:t>
            </a:r>
            <a:endParaRPr sz="1500"/>
          </a:p>
          <a:p>
            <a:pPr marL="457200" lvl="0" indent="-342900" algn="l" rtl="0">
              <a:spcBef>
                <a:spcPts val="1000"/>
              </a:spcBef>
              <a:spcAft>
                <a:spcPts val="0"/>
              </a:spcAft>
              <a:buSzPts val="1800"/>
              <a:buAutoNum type="arabicPeriod"/>
            </a:pPr>
            <a:r>
              <a:rPr lang="en"/>
              <a:t>Set The Bar For</a:t>
            </a:r>
            <a:r>
              <a:rPr lang="en" b="1"/>
              <a:t> </a:t>
            </a:r>
            <a:r>
              <a:rPr lang="en" b="1" i="1" u="sng">
                <a:solidFill>
                  <a:schemeClr val="accent6"/>
                </a:solidFill>
              </a:rPr>
              <a:t>Product Marketing Excellence</a:t>
            </a:r>
            <a:r>
              <a:rPr lang="en" b="1"/>
              <a:t> </a:t>
            </a:r>
            <a:r>
              <a:rPr lang="en"/>
              <a:t>At IBM</a:t>
            </a:r>
            <a:endParaRPr sz="1500"/>
          </a:p>
          <a:p>
            <a:pPr marL="457200" lvl="0" indent="-342900" algn="l" rtl="0">
              <a:spcBef>
                <a:spcPts val="1000"/>
              </a:spcBef>
              <a:spcAft>
                <a:spcPts val="0"/>
              </a:spcAft>
              <a:buSzPts val="1800"/>
              <a:buAutoNum type="arabicPeriod"/>
            </a:pPr>
            <a:r>
              <a:rPr lang="en"/>
              <a:t>Make It</a:t>
            </a:r>
            <a:r>
              <a:rPr lang="en" b="1"/>
              <a:t> </a:t>
            </a:r>
            <a:r>
              <a:rPr lang="en" b="1" i="1" u="sng">
                <a:solidFill>
                  <a:schemeClr val="accent6"/>
                </a:solidFill>
              </a:rPr>
              <a:t>Easier</a:t>
            </a:r>
            <a:r>
              <a:rPr lang="en" b="1">
                <a:solidFill>
                  <a:schemeClr val="accent6"/>
                </a:solidFill>
              </a:rPr>
              <a:t> </a:t>
            </a:r>
            <a:r>
              <a:rPr lang="en"/>
              <a:t>For Our Sales Teams To</a:t>
            </a:r>
            <a:r>
              <a:rPr lang="en" b="1"/>
              <a:t> </a:t>
            </a:r>
            <a:r>
              <a:rPr lang="en" b="1" i="1" u="sng">
                <a:solidFill>
                  <a:schemeClr val="accent6"/>
                </a:solidFill>
              </a:rPr>
              <a:t>Crush The Quarter</a:t>
            </a:r>
            <a:endParaRPr sz="1500" i="1" u="sng">
              <a:solidFill>
                <a:schemeClr val="accent6"/>
              </a:solidFill>
            </a:endParaRPr>
          </a:p>
          <a:p>
            <a:pPr marL="457200" lvl="0" indent="-342900" algn="l" rtl="0">
              <a:spcBef>
                <a:spcPts val="1000"/>
              </a:spcBef>
              <a:spcAft>
                <a:spcPts val="1000"/>
              </a:spcAft>
              <a:buSzPts val="1800"/>
              <a:buAutoNum type="arabicPeriod"/>
            </a:pPr>
            <a:r>
              <a:rPr lang="en" b="1" i="1" u="sng">
                <a:solidFill>
                  <a:schemeClr val="accent6"/>
                </a:solidFill>
              </a:rPr>
              <a:t>Operate With Urgency, Purpose And Agility</a:t>
            </a:r>
            <a:r>
              <a:rPr lang="en"/>
              <a:t> - Like The Number 1 F1 Race Team On The Track</a:t>
            </a:r>
            <a:endParaRPr sz="15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2065350"/>
            <a:ext cx="8222100" cy="13752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How Do You Get There? </a:t>
            </a:r>
            <a:r>
              <a:rPr lang="en" b="1" dirty="0">
                <a:solidFill>
                  <a:schemeClr val="accent6"/>
                </a:solidFill>
              </a:rPr>
              <a:t>SAMPLE Team Goals</a:t>
            </a:r>
            <a:endParaRPr b="1" dirty="0">
              <a:solidFill>
                <a:schemeClr val="accent6"/>
              </a:solidFill>
            </a:endParaRPr>
          </a:p>
        </p:txBody>
      </p:sp>
    </p:spTree>
    <p:extLst>
      <p:ext uri="{BB962C8B-B14F-4D97-AF65-F5344CB8AC3E}">
        <p14:creationId xmlns:p14="http://schemas.microsoft.com/office/powerpoint/2010/main" val="274536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43"/>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SAMPLE: </a:t>
            </a:r>
            <a:r>
              <a:rPr lang="en" b="1" dirty="0"/>
              <a:t>2H Product Goals</a:t>
            </a:r>
            <a:r>
              <a:rPr lang="en" dirty="0"/>
              <a:t> - Focus on Awareness and Business Growth</a:t>
            </a:r>
            <a:endParaRPr dirty="0"/>
          </a:p>
        </p:txBody>
      </p:sp>
      <p:cxnSp>
        <p:nvCxnSpPr>
          <p:cNvPr id="748" name="Google Shape;748;p43"/>
          <p:cNvCxnSpPr/>
          <p:nvPr/>
        </p:nvCxnSpPr>
        <p:spPr>
          <a:xfrm>
            <a:off x="734710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49" name="Google Shape;749;p43"/>
          <p:cNvSpPr txBox="1">
            <a:spLocks noGrp="1"/>
          </p:cNvSpPr>
          <p:nvPr>
            <p:ph type="body" idx="4294967295"/>
          </p:nvPr>
        </p:nvSpPr>
        <p:spPr>
          <a:xfrm>
            <a:off x="7371575"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People Development</a:t>
            </a:r>
            <a:endParaRPr sz="2100" b="1">
              <a:solidFill>
                <a:schemeClr val="accent3"/>
              </a:solidFill>
            </a:endParaRPr>
          </a:p>
        </p:txBody>
      </p:sp>
      <p:cxnSp>
        <p:nvCxnSpPr>
          <p:cNvPr id="750" name="Google Shape;750;p43"/>
          <p:cNvCxnSpPr/>
          <p:nvPr/>
        </p:nvCxnSpPr>
        <p:spPr>
          <a:xfrm>
            <a:off x="5534888"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51" name="Google Shape;751;p43"/>
          <p:cNvSpPr txBox="1">
            <a:spLocks noGrp="1"/>
          </p:cNvSpPr>
          <p:nvPr>
            <p:ph type="body" idx="4294967295"/>
          </p:nvPr>
        </p:nvSpPr>
        <p:spPr>
          <a:xfrm>
            <a:off x="5559363"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Business Velocity and Efficiency</a:t>
            </a:r>
            <a:endParaRPr sz="2100" b="1">
              <a:solidFill>
                <a:schemeClr val="accent3"/>
              </a:solidFill>
            </a:endParaRPr>
          </a:p>
        </p:txBody>
      </p:sp>
      <p:cxnSp>
        <p:nvCxnSpPr>
          <p:cNvPr id="752" name="Google Shape;752;p43"/>
          <p:cNvCxnSpPr/>
          <p:nvPr/>
        </p:nvCxnSpPr>
        <p:spPr>
          <a:xfrm>
            <a:off x="3722675"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53" name="Google Shape;753;p43"/>
          <p:cNvSpPr txBox="1">
            <a:spLocks noGrp="1"/>
          </p:cNvSpPr>
          <p:nvPr>
            <p:ph type="body" idx="4294967295"/>
          </p:nvPr>
        </p:nvSpPr>
        <p:spPr>
          <a:xfrm>
            <a:off x="3747150"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The Business of [Cyber] Security</a:t>
            </a:r>
            <a:endParaRPr sz="2100" b="1">
              <a:solidFill>
                <a:schemeClr val="accent3"/>
              </a:solidFill>
            </a:endParaRPr>
          </a:p>
        </p:txBody>
      </p:sp>
      <p:cxnSp>
        <p:nvCxnSpPr>
          <p:cNvPr id="754" name="Google Shape;754;p43"/>
          <p:cNvCxnSpPr/>
          <p:nvPr/>
        </p:nvCxnSpPr>
        <p:spPr>
          <a:xfrm>
            <a:off x="1910463"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55" name="Google Shape;755;p43"/>
          <p:cNvSpPr txBox="1">
            <a:spLocks noGrp="1"/>
          </p:cNvSpPr>
          <p:nvPr>
            <p:ph type="body" idx="4294967295"/>
          </p:nvPr>
        </p:nvSpPr>
        <p:spPr>
          <a:xfrm>
            <a:off x="1934938" y="860500"/>
            <a:ext cx="1634700" cy="530400"/>
          </a:xfrm>
          <a:prstGeom prst="rect">
            <a:avLst/>
          </a:prstGeom>
        </p:spPr>
        <p:txBody>
          <a:bodyPr spcFirstLastPara="1" wrap="square" lIns="91425" tIns="91425" rIns="91425" bIns="91425" anchor="b" anchorCtr="0">
            <a:normAutofit fontScale="40000" lnSpcReduction="20000"/>
          </a:bodyPr>
          <a:lstStyle/>
          <a:p>
            <a:pPr marL="0" lvl="0" indent="0" algn="ctr" rtl="0">
              <a:lnSpc>
                <a:spcPct val="100000"/>
              </a:lnSpc>
              <a:spcBef>
                <a:spcPts val="0"/>
              </a:spcBef>
              <a:spcAft>
                <a:spcPts val="0"/>
              </a:spcAft>
              <a:buNone/>
            </a:pPr>
            <a:r>
              <a:rPr lang="en" sz="4000" b="1">
                <a:solidFill>
                  <a:schemeClr val="accent3"/>
                </a:solidFill>
              </a:rPr>
              <a:t>Beyond Block </a:t>
            </a:r>
            <a:endParaRPr sz="4000" b="1">
              <a:solidFill>
                <a:schemeClr val="accent3"/>
              </a:solidFill>
            </a:endParaRPr>
          </a:p>
          <a:p>
            <a:pPr marL="0" lvl="0" indent="0" algn="ctr" rtl="0">
              <a:lnSpc>
                <a:spcPct val="100000"/>
              </a:lnSpc>
              <a:spcBef>
                <a:spcPts val="0"/>
              </a:spcBef>
              <a:spcAft>
                <a:spcPts val="0"/>
              </a:spcAft>
              <a:buNone/>
            </a:pPr>
            <a:r>
              <a:rPr lang="en" sz="2750" b="1">
                <a:solidFill>
                  <a:schemeClr val="accent3"/>
                </a:solidFill>
              </a:rPr>
              <a:t>(File, Cloud and SDS)</a:t>
            </a:r>
            <a:endParaRPr sz="2750" b="1">
              <a:solidFill>
                <a:schemeClr val="accent3"/>
              </a:solidFill>
            </a:endParaRPr>
          </a:p>
        </p:txBody>
      </p:sp>
      <p:cxnSp>
        <p:nvCxnSpPr>
          <p:cNvPr id="756" name="Google Shape;756;p43"/>
          <p:cNvCxnSpPr/>
          <p:nvPr/>
        </p:nvCxnSpPr>
        <p:spPr>
          <a:xfrm>
            <a:off x="9825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57" name="Google Shape;757;p43"/>
          <p:cNvSpPr txBox="1">
            <a:spLocks noGrp="1"/>
          </p:cNvSpPr>
          <p:nvPr>
            <p:ph type="body" idx="4294967295"/>
          </p:nvPr>
        </p:nvSpPr>
        <p:spPr>
          <a:xfrm>
            <a:off x="122725" y="860500"/>
            <a:ext cx="1634700" cy="530400"/>
          </a:xfrm>
          <a:prstGeom prst="rect">
            <a:avLst/>
          </a:prstGeom>
        </p:spPr>
        <p:txBody>
          <a:bodyPr spcFirstLastPara="1" wrap="square" lIns="91425" tIns="91425" rIns="91425" bIns="91425" anchor="b" anchorCtr="0">
            <a:normAutofit fontScale="77500" lnSpcReduction="20000"/>
          </a:bodyPr>
          <a:lstStyle/>
          <a:p>
            <a:pPr marL="0" lvl="0" indent="0" algn="ctr" rtl="0">
              <a:lnSpc>
                <a:spcPct val="100000"/>
              </a:lnSpc>
              <a:spcBef>
                <a:spcPts val="0"/>
              </a:spcBef>
              <a:spcAft>
                <a:spcPts val="0"/>
              </a:spcAft>
              <a:buNone/>
            </a:pPr>
            <a:r>
              <a:rPr lang="en" sz="2100" b="1">
                <a:solidFill>
                  <a:schemeClr val="accent3"/>
                </a:solidFill>
              </a:rPr>
              <a:t>Own Block </a:t>
            </a:r>
            <a:endParaRPr sz="2100" b="1">
              <a:solidFill>
                <a:schemeClr val="accent3"/>
              </a:solidFill>
            </a:endParaRPr>
          </a:p>
          <a:p>
            <a:pPr marL="0" lvl="0" indent="0" algn="ctr" rtl="0">
              <a:lnSpc>
                <a:spcPct val="100000"/>
              </a:lnSpc>
              <a:spcBef>
                <a:spcPts val="0"/>
              </a:spcBef>
              <a:spcAft>
                <a:spcPts val="0"/>
              </a:spcAft>
              <a:buNone/>
            </a:pPr>
            <a:r>
              <a:rPr lang="en" sz="1607" b="1">
                <a:solidFill>
                  <a:schemeClr val="accent3"/>
                </a:solidFill>
              </a:rPr>
              <a:t>(Bias on Enterprise)</a:t>
            </a:r>
            <a:endParaRPr sz="1607" b="1">
              <a:solidFill>
                <a:schemeClr val="accent3"/>
              </a:solidFill>
            </a:endParaRPr>
          </a:p>
        </p:txBody>
      </p:sp>
      <p:sp>
        <p:nvSpPr>
          <p:cNvPr id="758" name="Google Shape;758;p43"/>
          <p:cNvSpPr txBox="1">
            <a:spLocks noGrp="1"/>
          </p:cNvSpPr>
          <p:nvPr>
            <p:ph type="body" idx="4294967295"/>
          </p:nvPr>
        </p:nvSpPr>
        <p:spPr>
          <a:xfrm>
            <a:off x="1902375" y="1502600"/>
            <a:ext cx="17388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Simplify and Differentiate</a:t>
            </a:r>
            <a:r>
              <a:rPr lang="en" sz="1000" dirty="0">
                <a:solidFill>
                  <a:schemeClr val="dk2"/>
                </a:solidFill>
              </a:rPr>
              <a:t> bold and unique “single product” led message for distributed file and object</a:t>
            </a:r>
            <a:endParaRPr sz="1000" dirty="0">
              <a:solidFill>
                <a:schemeClr val="dk2"/>
              </a:solidFill>
            </a:endParaRPr>
          </a:p>
        </p:txBody>
      </p:sp>
      <p:sp>
        <p:nvSpPr>
          <p:cNvPr id="759" name="Google Shape;759;p43"/>
          <p:cNvSpPr txBox="1">
            <a:spLocks noGrp="1"/>
          </p:cNvSpPr>
          <p:nvPr>
            <p:ph type="body" idx="4294967295"/>
          </p:nvPr>
        </p:nvSpPr>
        <p:spPr>
          <a:xfrm>
            <a:off x="7359400" y="15026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dirty="0">
                <a:solidFill>
                  <a:schemeClr val="dk2"/>
                </a:solidFill>
              </a:rPr>
              <a:t>Create a </a:t>
            </a:r>
            <a:r>
              <a:rPr lang="en" sz="1000" b="1" dirty="0">
                <a:solidFill>
                  <a:schemeClr val="dk2"/>
                </a:solidFill>
              </a:rPr>
              <a:t>World-Class Product Marketing </a:t>
            </a:r>
            <a:r>
              <a:rPr lang="en" sz="1000" dirty="0">
                <a:solidFill>
                  <a:schemeClr val="dk2"/>
                </a:solidFill>
              </a:rPr>
              <a:t>organization; mentor/learn from other PMMs.</a:t>
            </a:r>
            <a:endParaRPr sz="1000" dirty="0">
              <a:solidFill>
                <a:schemeClr val="dk2"/>
              </a:solidFill>
            </a:endParaRPr>
          </a:p>
        </p:txBody>
      </p:sp>
      <p:sp>
        <p:nvSpPr>
          <p:cNvPr id="760" name="Google Shape;760;p43"/>
          <p:cNvSpPr txBox="1">
            <a:spLocks noGrp="1"/>
          </p:cNvSpPr>
          <p:nvPr>
            <p:ph type="body" idx="4294967295"/>
          </p:nvPr>
        </p:nvSpPr>
        <p:spPr>
          <a:xfrm>
            <a:off x="7359400" y="2348817"/>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Identify and drive retention </a:t>
            </a:r>
            <a:r>
              <a:rPr lang="en" sz="1000">
                <a:solidFill>
                  <a:schemeClr val="dk2"/>
                </a:solidFill>
              </a:rPr>
              <a:t>of key talent. Build primary and secondary SME base. Plan for succession.</a:t>
            </a:r>
            <a:endParaRPr sz="1000">
              <a:solidFill>
                <a:schemeClr val="dk2"/>
              </a:solidFill>
            </a:endParaRPr>
          </a:p>
        </p:txBody>
      </p:sp>
      <p:sp>
        <p:nvSpPr>
          <p:cNvPr id="761" name="Google Shape;761;p43"/>
          <p:cNvSpPr txBox="1">
            <a:spLocks noGrp="1"/>
          </p:cNvSpPr>
          <p:nvPr>
            <p:ph type="body" idx="4294967295"/>
          </p:nvPr>
        </p:nvSpPr>
        <p:spPr>
          <a:xfrm>
            <a:off x="3694200" y="15026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Broaden Data Protection Messaging</a:t>
            </a:r>
            <a:r>
              <a:rPr lang="en" sz="1000">
                <a:solidFill>
                  <a:schemeClr val="dk2"/>
                </a:solidFill>
              </a:rPr>
              <a:t> pivot to the bigger Data Resilience focus for BC/DR and Cyber Protection.</a:t>
            </a:r>
            <a:endParaRPr sz="1000">
              <a:solidFill>
                <a:schemeClr val="dk2"/>
              </a:solidFill>
            </a:endParaRPr>
          </a:p>
        </p:txBody>
      </p:sp>
      <p:sp>
        <p:nvSpPr>
          <p:cNvPr id="762" name="Google Shape;762;p43"/>
          <p:cNvSpPr txBox="1">
            <a:spLocks noGrp="1"/>
          </p:cNvSpPr>
          <p:nvPr>
            <p:ph type="body" idx="4294967295"/>
          </p:nvPr>
        </p:nvSpPr>
        <p:spPr>
          <a:xfrm>
            <a:off x="7359400" y="3195033"/>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a:solidFill>
                  <a:schemeClr val="dk2"/>
                </a:solidFill>
              </a:rPr>
              <a:t>Invest in </a:t>
            </a:r>
            <a:r>
              <a:rPr lang="en" sz="1000" b="1">
                <a:solidFill>
                  <a:schemeClr val="dk2"/>
                </a:solidFill>
              </a:rPr>
              <a:t>You, Inc. </a:t>
            </a:r>
            <a:r>
              <a:rPr lang="en" sz="1000">
                <a:solidFill>
                  <a:schemeClr val="dk2"/>
                </a:solidFill>
              </a:rPr>
              <a:t>complete one skills development, mentoring program, etc. per quarter.</a:t>
            </a:r>
            <a:endParaRPr sz="1000">
              <a:solidFill>
                <a:schemeClr val="dk2"/>
              </a:solidFill>
            </a:endParaRPr>
          </a:p>
        </p:txBody>
      </p:sp>
      <p:sp>
        <p:nvSpPr>
          <p:cNvPr id="763" name="Google Shape;763;p43"/>
          <p:cNvSpPr txBox="1">
            <a:spLocks noGrp="1"/>
          </p:cNvSpPr>
          <p:nvPr>
            <p:ph type="body" idx="4294967295"/>
          </p:nvPr>
        </p:nvSpPr>
        <p:spPr>
          <a:xfrm>
            <a:off x="7359400" y="4041250"/>
            <a:ext cx="1634700" cy="889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Employee Recognition:</a:t>
            </a:r>
            <a:r>
              <a:rPr lang="en" sz="1000">
                <a:solidFill>
                  <a:schemeClr val="dk2"/>
                </a:solidFill>
              </a:rPr>
              <a:t> Send a weekly thank you, write a review on LinkedIn, formally acknowledge someone’s greatness!</a:t>
            </a:r>
            <a:endParaRPr sz="1000">
              <a:solidFill>
                <a:schemeClr val="dk2"/>
              </a:solidFill>
            </a:endParaRPr>
          </a:p>
        </p:txBody>
      </p:sp>
      <p:sp>
        <p:nvSpPr>
          <p:cNvPr id="764" name="Google Shape;764;p43"/>
          <p:cNvSpPr txBox="1">
            <a:spLocks noGrp="1"/>
          </p:cNvSpPr>
          <p:nvPr>
            <p:ph type="body" idx="4294967295"/>
          </p:nvPr>
        </p:nvSpPr>
        <p:spPr>
          <a:xfrm>
            <a:off x="110550" y="1513853"/>
            <a:ext cx="1634700" cy="4461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Increase Block Storage Market </a:t>
            </a:r>
            <a:r>
              <a:rPr lang="en" sz="1000">
                <a:solidFill>
                  <a:schemeClr val="dk2"/>
                </a:solidFill>
              </a:rPr>
              <a:t>awareness by 10% </a:t>
            </a:r>
            <a:endParaRPr sz="1000">
              <a:solidFill>
                <a:schemeClr val="dk2"/>
              </a:solidFill>
            </a:endParaRPr>
          </a:p>
        </p:txBody>
      </p:sp>
      <p:sp>
        <p:nvSpPr>
          <p:cNvPr id="765" name="Google Shape;765;p43"/>
          <p:cNvSpPr txBox="1">
            <a:spLocks noGrp="1"/>
          </p:cNvSpPr>
          <p:nvPr>
            <p:ph type="body" idx="4294967295"/>
          </p:nvPr>
        </p:nvSpPr>
        <p:spPr>
          <a:xfrm>
            <a:off x="110550" y="2049168"/>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Drive </a:t>
            </a:r>
            <a:r>
              <a:rPr lang="en" sz="1000" b="1" dirty="0" err="1">
                <a:solidFill>
                  <a:schemeClr val="dk2"/>
                </a:solidFill>
              </a:rPr>
              <a:t>STaaS</a:t>
            </a:r>
            <a:r>
              <a:rPr lang="en" sz="1000" b="1" dirty="0">
                <a:solidFill>
                  <a:schemeClr val="dk2"/>
                </a:solidFill>
              </a:rPr>
              <a:t> </a:t>
            </a:r>
            <a:r>
              <a:rPr lang="en" sz="1000" dirty="0">
                <a:solidFill>
                  <a:schemeClr val="dk2"/>
                </a:solidFill>
              </a:rPr>
              <a:t>influence no less than 50 opportunities driven to sales close/win in 2H</a:t>
            </a:r>
            <a:endParaRPr sz="1000" dirty="0">
              <a:solidFill>
                <a:schemeClr val="dk2"/>
              </a:solidFill>
            </a:endParaRPr>
          </a:p>
        </p:txBody>
      </p:sp>
      <p:sp>
        <p:nvSpPr>
          <p:cNvPr id="766" name="Google Shape;766;p43"/>
          <p:cNvSpPr txBox="1">
            <a:spLocks noGrp="1"/>
          </p:cNvSpPr>
          <p:nvPr>
            <p:ph type="body" idx="4294967295"/>
          </p:nvPr>
        </p:nvSpPr>
        <p:spPr>
          <a:xfrm>
            <a:off x="110550" y="2775584"/>
            <a:ext cx="1634700" cy="12339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FlashSystem Challenge </a:t>
            </a:r>
            <a:r>
              <a:rPr lang="en" sz="1000" dirty="0">
                <a:solidFill>
                  <a:schemeClr val="dk2"/>
                </a:solidFill>
              </a:rPr>
              <a:t>develop and present a viral customer engagement plan - including proposal, cost, options, and success metrics before [DATE]</a:t>
            </a:r>
            <a:endParaRPr sz="1000" dirty="0">
              <a:solidFill>
                <a:schemeClr val="dk2"/>
              </a:solidFill>
            </a:endParaRPr>
          </a:p>
        </p:txBody>
      </p:sp>
      <p:sp>
        <p:nvSpPr>
          <p:cNvPr id="767" name="Google Shape;767;p43"/>
          <p:cNvSpPr txBox="1">
            <a:spLocks noGrp="1"/>
          </p:cNvSpPr>
          <p:nvPr>
            <p:ph type="body" idx="4294967295"/>
          </p:nvPr>
        </p:nvSpPr>
        <p:spPr>
          <a:xfrm>
            <a:off x="5559375" y="3578638"/>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Master the Competition </a:t>
            </a:r>
            <a:r>
              <a:rPr lang="en" sz="1000">
                <a:solidFill>
                  <a:schemeClr val="dk2"/>
                </a:solidFill>
              </a:rPr>
              <a:t>complete battle cards for our top (3) competitors</a:t>
            </a:r>
            <a:endParaRPr sz="1000">
              <a:solidFill>
                <a:schemeClr val="dk2"/>
              </a:solidFill>
            </a:endParaRPr>
          </a:p>
        </p:txBody>
      </p:sp>
      <p:sp>
        <p:nvSpPr>
          <p:cNvPr id="768" name="Google Shape;768;p43"/>
          <p:cNvSpPr txBox="1">
            <a:spLocks noGrp="1"/>
          </p:cNvSpPr>
          <p:nvPr>
            <p:ph type="body" idx="4294967295"/>
          </p:nvPr>
        </p:nvSpPr>
        <p:spPr>
          <a:xfrm>
            <a:off x="5559363" y="15026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Inbound Marketing Responsibility </a:t>
            </a:r>
            <a:r>
              <a:rPr lang="en" sz="1000">
                <a:solidFill>
                  <a:schemeClr val="dk2"/>
                </a:solidFill>
              </a:rPr>
              <a:t>formalize market insights and key learnings into MRDs - at least (1) per quarter</a:t>
            </a:r>
            <a:endParaRPr sz="1000">
              <a:solidFill>
                <a:schemeClr val="dk2"/>
              </a:solidFill>
            </a:endParaRPr>
          </a:p>
        </p:txBody>
      </p:sp>
      <p:sp>
        <p:nvSpPr>
          <p:cNvPr id="769" name="Google Shape;769;p43"/>
          <p:cNvSpPr txBox="1">
            <a:spLocks noGrp="1"/>
          </p:cNvSpPr>
          <p:nvPr>
            <p:ph type="body" idx="4294967295"/>
          </p:nvPr>
        </p:nvSpPr>
        <p:spPr>
          <a:xfrm>
            <a:off x="5559375" y="2557275"/>
            <a:ext cx="1634700" cy="934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Know Your Business</a:t>
            </a:r>
            <a:r>
              <a:rPr lang="en" sz="1000">
                <a:solidFill>
                  <a:schemeClr val="dk2"/>
                </a:solidFill>
              </a:rPr>
              <a:t> learn how business is transacted and measured, keep and report on monthly dashboards</a:t>
            </a:r>
            <a:endParaRPr sz="1000">
              <a:solidFill>
                <a:schemeClr val="dk2"/>
              </a:solidFill>
            </a:endParaRPr>
          </a:p>
        </p:txBody>
      </p:sp>
      <p:sp>
        <p:nvSpPr>
          <p:cNvPr id="770" name="Google Shape;770;p43"/>
          <p:cNvSpPr txBox="1">
            <a:spLocks noGrp="1"/>
          </p:cNvSpPr>
          <p:nvPr>
            <p:ph type="body" idx="4294967295"/>
          </p:nvPr>
        </p:nvSpPr>
        <p:spPr>
          <a:xfrm>
            <a:off x="5559375" y="4302713"/>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Be Part of the Future </a:t>
            </a:r>
            <a:r>
              <a:rPr lang="en" sz="1000">
                <a:solidFill>
                  <a:schemeClr val="dk2"/>
                </a:solidFill>
              </a:rPr>
              <a:t>define, draft, and submit at least (1) patent.</a:t>
            </a:r>
            <a:endParaRPr sz="1000">
              <a:solidFill>
                <a:schemeClr val="dk2"/>
              </a:solidFill>
            </a:endParaRPr>
          </a:p>
        </p:txBody>
      </p:sp>
      <p:sp>
        <p:nvSpPr>
          <p:cNvPr id="771" name="Google Shape;771;p43"/>
          <p:cNvSpPr txBox="1">
            <a:spLocks noGrp="1"/>
          </p:cNvSpPr>
          <p:nvPr>
            <p:ph type="body" idx="4294967295"/>
          </p:nvPr>
        </p:nvSpPr>
        <p:spPr>
          <a:xfrm>
            <a:off x="1902375" y="2557275"/>
            <a:ext cx="1634700" cy="10926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Narrow the Focus </a:t>
            </a:r>
            <a:r>
              <a:rPr lang="en" sz="1000" dirty="0">
                <a:solidFill>
                  <a:schemeClr val="dk2"/>
                </a:solidFill>
              </a:rPr>
              <a:t>so that sales wins.  Generate 4 specific use cases by end of Q3, targeted sales plays, and a 45% or better rep participation rate.</a:t>
            </a:r>
            <a:endParaRPr sz="1000" dirty="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44"/>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SAMPLEPMM: </a:t>
            </a:r>
            <a:r>
              <a:rPr lang="en" b="1" dirty="0"/>
              <a:t>2H Product </a:t>
            </a:r>
            <a:r>
              <a:rPr lang="en" b="1" dirty="0">
                <a:solidFill>
                  <a:schemeClr val="accent6"/>
                </a:solidFill>
              </a:rPr>
              <a:t>STRETCH </a:t>
            </a:r>
            <a:r>
              <a:rPr lang="en" b="1" dirty="0"/>
              <a:t>Goals</a:t>
            </a:r>
            <a:r>
              <a:rPr lang="en" dirty="0"/>
              <a:t> </a:t>
            </a:r>
            <a:endParaRPr dirty="0"/>
          </a:p>
        </p:txBody>
      </p:sp>
      <p:cxnSp>
        <p:nvCxnSpPr>
          <p:cNvPr id="777" name="Google Shape;777;p44"/>
          <p:cNvCxnSpPr/>
          <p:nvPr/>
        </p:nvCxnSpPr>
        <p:spPr>
          <a:xfrm>
            <a:off x="734710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78" name="Google Shape;778;p44"/>
          <p:cNvSpPr txBox="1">
            <a:spLocks noGrp="1"/>
          </p:cNvSpPr>
          <p:nvPr>
            <p:ph type="body" idx="4294967295"/>
          </p:nvPr>
        </p:nvSpPr>
        <p:spPr>
          <a:xfrm>
            <a:off x="7371575"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People Development</a:t>
            </a:r>
            <a:endParaRPr sz="2100" b="1">
              <a:solidFill>
                <a:schemeClr val="accent3"/>
              </a:solidFill>
            </a:endParaRPr>
          </a:p>
        </p:txBody>
      </p:sp>
      <p:cxnSp>
        <p:nvCxnSpPr>
          <p:cNvPr id="779" name="Google Shape;779;p44"/>
          <p:cNvCxnSpPr/>
          <p:nvPr/>
        </p:nvCxnSpPr>
        <p:spPr>
          <a:xfrm>
            <a:off x="5534888"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80" name="Google Shape;780;p44"/>
          <p:cNvSpPr txBox="1">
            <a:spLocks noGrp="1"/>
          </p:cNvSpPr>
          <p:nvPr>
            <p:ph type="body" idx="4294967295"/>
          </p:nvPr>
        </p:nvSpPr>
        <p:spPr>
          <a:xfrm>
            <a:off x="5559363"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Business Velocity and Efficiency</a:t>
            </a:r>
            <a:endParaRPr sz="2100" b="1">
              <a:solidFill>
                <a:schemeClr val="accent3"/>
              </a:solidFill>
            </a:endParaRPr>
          </a:p>
        </p:txBody>
      </p:sp>
      <p:cxnSp>
        <p:nvCxnSpPr>
          <p:cNvPr id="781" name="Google Shape;781;p44"/>
          <p:cNvCxnSpPr/>
          <p:nvPr/>
        </p:nvCxnSpPr>
        <p:spPr>
          <a:xfrm>
            <a:off x="3722675"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82" name="Google Shape;782;p44"/>
          <p:cNvSpPr txBox="1">
            <a:spLocks noGrp="1"/>
          </p:cNvSpPr>
          <p:nvPr>
            <p:ph type="body" idx="4294967295"/>
          </p:nvPr>
        </p:nvSpPr>
        <p:spPr>
          <a:xfrm>
            <a:off x="3747150"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The Business of [Cyber] Security</a:t>
            </a:r>
            <a:endParaRPr sz="2100" b="1">
              <a:solidFill>
                <a:schemeClr val="accent3"/>
              </a:solidFill>
            </a:endParaRPr>
          </a:p>
        </p:txBody>
      </p:sp>
      <p:cxnSp>
        <p:nvCxnSpPr>
          <p:cNvPr id="783" name="Google Shape;783;p44"/>
          <p:cNvCxnSpPr/>
          <p:nvPr/>
        </p:nvCxnSpPr>
        <p:spPr>
          <a:xfrm>
            <a:off x="1910463"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84" name="Google Shape;784;p44"/>
          <p:cNvSpPr txBox="1">
            <a:spLocks noGrp="1"/>
          </p:cNvSpPr>
          <p:nvPr>
            <p:ph type="body" idx="4294967295"/>
          </p:nvPr>
        </p:nvSpPr>
        <p:spPr>
          <a:xfrm>
            <a:off x="1934938" y="860500"/>
            <a:ext cx="1634700" cy="530400"/>
          </a:xfrm>
          <a:prstGeom prst="rect">
            <a:avLst/>
          </a:prstGeom>
        </p:spPr>
        <p:txBody>
          <a:bodyPr spcFirstLastPara="1" wrap="square" lIns="91425" tIns="91425" rIns="91425" bIns="91425" anchor="b" anchorCtr="0">
            <a:normAutofit fontScale="40000" lnSpcReduction="20000"/>
          </a:bodyPr>
          <a:lstStyle/>
          <a:p>
            <a:pPr marL="0" lvl="0" indent="0" algn="ctr" rtl="0">
              <a:lnSpc>
                <a:spcPct val="100000"/>
              </a:lnSpc>
              <a:spcBef>
                <a:spcPts val="0"/>
              </a:spcBef>
              <a:spcAft>
                <a:spcPts val="0"/>
              </a:spcAft>
              <a:buNone/>
            </a:pPr>
            <a:r>
              <a:rPr lang="en" sz="4000" b="1">
                <a:solidFill>
                  <a:schemeClr val="accent3"/>
                </a:solidFill>
              </a:rPr>
              <a:t>Beyond Block </a:t>
            </a:r>
            <a:endParaRPr sz="4000" b="1">
              <a:solidFill>
                <a:schemeClr val="accent3"/>
              </a:solidFill>
            </a:endParaRPr>
          </a:p>
          <a:p>
            <a:pPr marL="0" lvl="0" indent="0" algn="ctr" rtl="0">
              <a:lnSpc>
                <a:spcPct val="100000"/>
              </a:lnSpc>
              <a:spcBef>
                <a:spcPts val="0"/>
              </a:spcBef>
              <a:spcAft>
                <a:spcPts val="0"/>
              </a:spcAft>
              <a:buNone/>
            </a:pPr>
            <a:r>
              <a:rPr lang="en" sz="2750" b="1">
                <a:solidFill>
                  <a:schemeClr val="accent3"/>
                </a:solidFill>
              </a:rPr>
              <a:t>(File, Cloud and SDS)</a:t>
            </a:r>
            <a:endParaRPr sz="2750" b="1">
              <a:solidFill>
                <a:schemeClr val="accent3"/>
              </a:solidFill>
            </a:endParaRPr>
          </a:p>
        </p:txBody>
      </p:sp>
      <p:cxnSp>
        <p:nvCxnSpPr>
          <p:cNvPr id="785" name="Google Shape;785;p44"/>
          <p:cNvCxnSpPr/>
          <p:nvPr/>
        </p:nvCxnSpPr>
        <p:spPr>
          <a:xfrm>
            <a:off x="9825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786" name="Google Shape;786;p44"/>
          <p:cNvSpPr txBox="1">
            <a:spLocks noGrp="1"/>
          </p:cNvSpPr>
          <p:nvPr>
            <p:ph type="body" idx="4294967295"/>
          </p:nvPr>
        </p:nvSpPr>
        <p:spPr>
          <a:xfrm>
            <a:off x="122725" y="860500"/>
            <a:ext cx="1634700" cy="530400"/>
          </a:xfrm>
          <a:prstGeom prst="rect">
            <a:avLst/>
          </a:prstGeom>
        </p:spPr>
        <p:txBody>
          <a:bodyPr spcFirstLastPara="1" wrap="square" lIns="91425" tIns="91425" rIns="91425" bIns="91425" anchor="b" anchorCtr="0">
            <a:normAutofit fontScale="77500" lnSpcReduction="20000"/>
          </a:bodyPr>
          <a:lstStyle/>
          <a:p>
            <a:pPr marL="0" lvl="0" indent="0" algn="ctr" rtl="0">
              <a:lnSpc>
                <a:spcPct val="100000"/>
              </a:lnSpc>
              <a:spcBef>
                <a:spcPts val="0"/>
              </a:spcBef>
              <a:spcAft>
                <a:spcPts val="0"/>
              </a:spcAft>
              <a:buNone/>
            </a:pPr>
            <a:r>
              <a:rPr lang="en" sz="2100" b="1">
                <a:solidFill>
                  <a:schemeClr val="accent3"/>
                </a:solidFill>
              </a:rPr>
              <a:t>Own Block </a:t>
            </a:r>
            <a:endParaRPr sz="2100" b="1">
              <a:solidFill>
                <a:schemeClr val="accent3"/>
              </a:solidFill>
            </a:endParaRPr>
          </a:p>
          <a:p>
            <a:pPr marL="0" lvl="0" indent="0" algn="ctr" rtl="0">
              <a:lnSpc>
                <a:spcPct val="100000"/>
              </a:lnSpc>
              <a:spcBef>
                <a:spcPts val="0"/>
              </a:spcBef>
              <a:spcAft>
                <a:spcPts val="0"/>
              </a:spcAft>
              <a:buNone/>
            </a:pPr>
            <a:r>
              <a:rPr lang="en" sz="1607" b="1">
                <a:solidFill>
                  <a:schemeClr val="accent3"/>
                </a:solidFill>
              </a:rPr>
              <a:t>(Bias on Enterprise)</a:t>
            </a:r>
            <a:endParaRPr sz="1607" b="1">
              <a:solidFill>
                <a:schemeClr val="accent3"/>
              </a:solidFill>
            </a:endParaRPr>
          </a:p>
        </p:txBody>
      </p:sp>
      <p:sp>
        <p:nvSpPr>
          <p:cNvPr id="787" name="Google Shape;787;p44"/>
          <p:cNvSpPr txBox="1">
            <a:spLocks noGrp="1"/>
          </p:cNvSpPr>
          <p:nvPr>
            <p:ph type="body" idx="4294967295"/>
          </p:nvPr>
        </p:nvSpPr>
        <p:spPr>
          <a:xfrm>
            <a:off x="1902375" y="1502600"/>
            <a:ext cx="17388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Simplify and Differentiate</a:t>
            </a:r>
            <a:r>
              <a:rPr lang="en" sz="1000">
                <a:solidFill>
                  <a:srgbClr val="C2C2C2"/>
                </a:solidFill>
              </a:rPr>
              <a:t> bold and unique “single product” led message for distributed file and object</a:t>
            </a:r>
            <a:endParaRPr sz="1000">
              <a:solidFill>
                <a:srgbClr val="C2C2C2"/>
              </a:solidFill>
            </a:endParaRPr>
          </a:p>
        </p:txBody>
      </p:sp>
      <p:sp>
        <p:nvSpPr>
          <p:cNvPr id="788" name="Google Shape;788;p44"/>
          <p:cNvSpPr txBox="1">
            <a:spLocks noGrp="1"/>
          </p:cNvSpPr>
          <p:nvPr>
            <p:ph type="body" idx="4294967295"/>
          </p:nvPr>
        </p:nvSpPr>
        <p:spPr>
          <a:xfrm>
            <a:off x="7359400" y="15026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dirty="0">
                <a:solidFill>
                  <a:srgbClr val="C2C2C2"/>
                </a:solidFill>
              </a:rPr>
              <a:t>Create a </a:t>
            </a:r>
            <a:r>
              <a:rPr lang="en" sz="1000" b="1" dirty="0">
                <a:solidFill>
                  <a:srgbClr val="C2C2C2"/>
                </a:solidFill>
              </a:rPr>
              <a:t>World-Class Product Marketing </a:t>
            </a:r>
            <a:r>
              <a:rPr lang="en" sz="1000" dirty="0">
                <a:solidFill>
                  <a:srgbClr val="C2C2C2"/>
                </a:solidFill>
              </a:rPr>
              <a:t>organization; mentor/learn from other PMMs.</a:t>
            </a:r>
            <a:endParaRPr sz="1000" dirty="0">
              <a:solidFill>
                <a:srgbClr val="C2C2C2"/>
              </a:solidFill>
            </a:endParaRPr>
          </a:p>
        </p:txBody>
      </p:sp>
      <p:sp>
        <p:nvSpPr>
          <p:cNvPr id="789" name="Google Shape;789;p44"/>
          <p:cNvSpPr txBox="1">
            <a:spLocks noGrp="1"/>
          </p:cNvSpPr>
          <p:nvPr>
            <p:ph type="body" idx="4294967295"/>
          </p:nvPr>
        </p:nvSpPr>
        <p:spPr>
          <a:xfrm>
            <a:off x="7359400" y="2348817"/>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Identify and drive retention </a:t>
            </a:r>
            <a:r>
              <a:rPr lang="en" sz="1000">
                <a:solidFill>
                  <a:srgbClr val="C2C2C2"/>
                </a:solidFill>
              </a:rPr>
              <a:t>of key talent. Build primary and secondary SME base. Plan for succession.</a:t>
            </a:r>
            <a:endParaRPr sz="1000">
              <a:solidFill>
                <a:srgbClr val="C2C2C2"/>
              </a:solidFill>
            </a:endParaRPr>
          </a:p>
        </p:txBody>
      </p:sp>
      <p:sp>
        <p:nvSpPr>
          <p:cNvPr id="790" name="Google Shape;790;p44"/>
          <p:cNvSpPr txBox="1">
            <a:spLocks noGrp="1"/>
          </p:cNvSpPr>
          <p:nvPr>
            <p:ph type="body" idx="4294967295"/>
          </p:nvPr>
        </p:nvSpPr>
        <p:spPr>
          <a:xfrm>
            <a:off x="3694200" y="15026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Broaden Data Protection Messaging</a:t>
            </a:r>
            <a:r>
              <a:rPr lang="en" sz="1000" dirty="0">
                <a:solidFill>
                  <a:srgbClr val="C2C2C2"/>
                </a:solidFill>
              </a:rPr>
              <a:t> pivot to the bigger Data Resilience focus for BC/DR and Cyber Protection.</a:t>
            </a:r>
            <a:endParaRPr sz="1000" dirty="0">
              <a:solidFill>
                <a:srgbClr val="C2C2C2"/>
              </a:solidFill>
            </a:endParaRPr>
          </a:p>
        </p:txBody>
      </p:sp>
      <p:sp>
        <p:nvSpPr>
          <p:cNvPr id="791" name="Google Shape;791;p44"/>
          <p:cNvSpPr txBox="1">
            <a:spLocks noGrp="1"/>
          </p:cNvSpPr>
          <p:nvPr>
            <p:ph type="body" idx="4294967295"/>
          </p:nvPr>
        </p:nvSpPr>
        <p:spPr>
          <a:xfrm>
            <a:off x="7359400" y="3195033"/>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a:solidFill>
                  <a:srgbClr val="C2C2C2"/>
                </a:solidFill>
              </a:rPr>
              <a:t>Invest in </a:t>
            </a:r>
            <a:r>
              <a:rPr lang="en" sz="1000" b="1">
                <a:solidFill>
                  <a:srgbClr val="C2C2C2"/>
                </a:solidFill>
              </a:rPr>
              <a:t>You, Inc. </a:t>
            </a:r>
            <a:r>
              <a:rPr lang="en" sz="1000">
                <a:solidFill>
                  <a:srgbClr val="C2C2C2"/>
                </a:solidFill>
              </a:rPr>
              <a:t>complete one skills development, mentoring program, etc. per quarter.</a:t>
            </a:r>
            <a:endParaRPr sz="1000">
              <a:solidFill>
                <a:srgbClr val="C2C2C2"/>
              </a:solidFill>
            </a:endParaRPr>
          </a:p>
        </p:txBody>
      </p:sp>
      <p:sp>
        <p:nvSpPr>
          <p:cNvPr id="792" name="Google Shape;792;p44"/>
          <p:cNvSpPr txBox="1">
            <a:spLocks noGrp="1"/>
          </p:cNvSpPr>
          <p:nvPr>
            <p:ph type="body" idx="4294967295"/>
          </p:nvPr>
        </p:nvSpPr>
        <p:spPr>
          <a:xfrm>
            <a:off x="3694200" y="2552706"/>
            <a:ext cx="1738800" cy="1233889"/>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Data Encryption Solution Play</a:t>
            </a:r>
            <a:r>
              <a:rPr lang="en" sz="1000" dirty="0">
                <a:solidFill>
                  <a:schemeClr val="dk2"/>
                </a:solidFill>
              </a:rPr>
              <a:t> partner with Thales to drive an always-on, no penalty data encryption solution. Target NA, S2 and 10 successful deployments by year end</a:t>
            </a:r>
            <a:endParaRPr sz="1000" dirty="0">
              <a:solidFill>
                <a:schemeClr val="dk2"/>
              </a:solidFill>
            </a:endParaRPr>
          </a:p>
        </p:txBody>
      </p:sp>
      <p:sp>
        <p:nvSpPr>
          <p:cNvPr id="793" name="Google Shape;793;p44"/>
          <p:cNvSpPr txBox="1">
            <a:spLocks noGrp="1"/>
          </p:cNvSpPr>
          <p:nvPr>
            <p:ph type="body" idx="4294967295"/>
          </p:nvPr>
        </p:nvSpPr>
        <p:spPr>
          <a:xfrm>
            <a:off x="3694199" y="3868900"/>
            <a:ext cx="1791825" cy="12339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Ransomware Recovery Runbook</a:t>
            </a:r>
            <a:r>
              <a:rPr lang="en" sz="1000" dirty="0">
                <a:solidFill>
                  <a:schemeClr val="dk2"/>
                </a:solidFill>
              </a:rPr>
              <a:t> partner with engineering delivering MRD on using storage config details to build and automate an array-based recovery runbook.</a:t>
            </a:r>
            <a:endParaRPr sz="1000" dirty="0">
              <a:solidFill>
                <a:schemeClr val="dk2"/>
              </a:solidFill>
            </a:endParaRPr>
          </a:p>
        </p:txBody>
      </p:sp>
      <p:sp>
        <p:nvSpPr>
          <p:cNvPr id="794" name="Google Shape;794;p44"/>
          <p:cNvSpPr txBox="1">
            <a:spLocks noGrp="1"/>
          </p:cNvSpPr>
          <p:nvPr>
            <p:ph type="body" idx="4294967295"/>
          </p:nvPr>
        </p:nvSpPr>
        <p:spPr>
          <a:xfrm>
            <a:off x="7359400" y="4041250"/>
            <a:ext cx="1634700" cy="889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Employee Recognition:</a:t>
            </a:r>
            <a:r>
              <a:rPr lang="en" sz="1000">
                <a:solidFill>
                  <a:srgbClr val="C2C2C2"/>
                </a:solidFill>
              </a:rPr>
              <a:t> Send a weekly thank you, write a review on LinkedIn, formally acknowledge someone’s greatness!</a:t>
            </a:r>
            <a:endParaRPr sz="1000">
              <a:solidFill>
                <a:srgbClr val="C2C2C2"/>
              </a:solidFill>
            </a:endParaRPr>
          </a:p>
        </p:txBody>
      </p:sp>
      <p:sp>
        <p:nvSpPr>
          <p:cNvPr id="795" name="Google Shape;795;p44"/>
          <p:cNvSpPr txBox="1">
            <a:spLocks noGrp="1"/>
          </p:cNvSpPr>
          <p:nvPr>
            <p:ph type="body" idx="4294967295"/>
          </p:nvPr>
        </p:nvSpPr>
        <p:spPr>
          <a:xfrm>
            <a:off x="110549" y="4274120"/>
            <a:ext cx="1791825" cy="853027"/>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Pump Up The Volume</a:t>
            </a:r>
            <a:r>
              <a:rPr lang="en" sz="1000" dirty="0">
                <a:solidFill>
                  <a:schemeClr val="dk2"/>
                </a:solidFill>
              </a:rPr>
              <a:t> install-base play targeting Safeguarded Copy with no less than 25% feature adoption rate.</a:t>
            </a:r>
            <a:endParaRPr sz="1000" dirty="0">
              <a:solidFill>
                <a:schemeClr val="dk2"/>
              </a:solidFill>
            </a:endParaRPr>
          </a:p>
        </p:txBody>
      </p:sp>
      <p:sp>
        <p:nvSpPr>
          <p:cNvPr id="796" name="Google Shape;796;p44"/>
          <p:cNvSpPr txBox="1">
            <a:spLocks noGrp="1"/>
          </p:cNvSpPr>
          <p:nvPr>
            <p:ph type="body" idx="4294967295"/>
          </p:nvPr>
        </p:nvSpPr>
        <p:spPr>
          <a:xfrm>
            <a:off x="110550" y="1513853"/>
            <a:ext cx="1634700" cy="4461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Increase Block Storage Market </a:t>
            </a:r>
            <a:r>
              <a:rPr lang="en" sz="1000">
                <a:solidFill>
                  <a:srgbClr val="C2C2C2"/>
                </a:solidFill>
              </a:rPr>
              <a:t>awareness by 10% </a:t>
            </a:r>
            <a:endParaRPr sz="1000">
              <a:solidFill>
                <a:srgbClr val="C2C2C2"/>
              </a:solidFill>
            </a:endParaRPr>
          </a:p>
        </p:txBody>
      </p:sp>
      <p:sp>
        <p:nvSpPr>
          <p:cNvPr id="797" name="Google Shape;797;p44"/>
          <p:cNvSpPr txBox="1">
            <a:spLocks noGrp="1"/>
          </p:cNvSpPr>
          <p:nvPr>
            <p:ph type="body" idx="4294967295"/>
          </p:nvPr>
        </p:nvSpPr>
        <p:spPr>
          <a:xfrm>
            <a:off x="110550" y="2049168"/>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Drive STaaS </a:t>
            </a:r>
            <a:r>
              <a:rPr lang="en" sz="1000">
                <a:solidFill>
                  <a:srgbClr val="C2C2C2"/>
                </a:solidFill>
              </a:rPr>
              <a:t>influence no less than 50 opportunities driven to sales close/win in 2H</a:t>
            </a:r>
            <a:endParaRPr sz="1000">
              <a:solidFill>
                <a:srgbClr val="C2C2C2"/>
              </a:solidFill>
            </a:endParaRPr>
          </a:p>
        </p:txBody>
      </p:sp>
      <p:sp>
        <p:nvSpPr>
          <p:cNvPr id="798" name="Google Shape;798;p44"/>
          <p:cNvSpPr txBox="1">
            <a:spLocks noGrp="1"/>
          </p:cNvSpPr>
          <p:nvPr>
            <p:ph type="body" idx="4294967295"/>
          </p:nvPr>
        </p:nvSpPr>
        <p:spPr>
          <a:xfrm>
            <a:off x="110550" y="2775584"/>
            <a:ext cx="1634700" cy="1440254"/>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FlashSystem Challenge </a:t>
            </a:r>
            <a:r>
              <a:rPr lang="en" sz="1000" dirty="0">
                <a:solidFill>
                  <a:srgbClr val="C2C2C2"/>
                </a:solidFill>
              </a:rPr>
              <a:t>develop and present a viral customer engagement plan - including proposal, cost, options, and success metrics before [DATE]</a:t>
            </a:r>
            <a:endParaRPr sz="1000" dirty="0">
              <a:solidFill>
                <a:srgbClr val="C2C2C2"/>
              </a:solidFill>
            </a:endParaRPr>
          </a:p>
        </p:txBody>
      </p:sp>
      <p:sp>
        <p:nvSpPr>
          <p:cNvPr id="799" name="Google Shape;799;p44"/>
          <p:cNvSpPr txBox="1">
            <a:spLocks noGrp="1"/>
          </p:cNvSpPr>
          <p:nvPr>
            <p:ph type="body" idx="4294967295"/>
          </p:nvPr>
        </p:nvSpPr>
        <p:spPr>
          <a:xfrm>
            <a:off x="5559375" y="3578638"/>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Master the Competition </a:t>
            </a:r>
            <a:r>
              <a:rPr lang="en" sz="1000">
                <a:solidFill>
                  <a:srgbClr val="C2C2C2"/>
                </a:solidFill>
              </a:rPr>
              <a:t>complete battle cards for our top (3) competitors</a:t>
            </a:r>
            <a:endParaRPr sz="1000">
              <a:solidFill>
                <a:srgbClr val="C2C2C2"/>
              </a:solidFill>
            </a:endParaRPr>
          </a:p>
        </p:txBody>
      </p:sp>
      <p:sp>
        <p:nvSpPr>
          <p:cNvPr id="800" name="Google Shape;800;p44"/>
          <p:cNvSpPr txBox="1">
            <a:spLocks noGrp="1"/>
          </p:cNvSpPr>
          <p:nvPr>
            <p:ph type="body" idx="4294967295"/>
          </p:nvPr>
        </p:nvSpPr>
        <p:spPr>
          <a:xfrm>
            <a:off x="5559363" y="15026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Inbound Marketing Responsibility </a:t>
            </a:r>
            <a:r>
              <a:rPr lang="en" sz="1000">
                <a:solidFill>
                  <a:srgbClr val="C2C2C2"/>
                </a:solidFill>
              </a:rPr>
              <a:t>formalize market insights and key learnings into MRDs - at least (1) per quarter</a:t>
            </a:r>
            <a:endParaRPr sz="1000">
              <a:solidFill>
                <a:srgbClr val="C2C2C2"/>
              </a:solidFill>
            </a:endParaRPr>
          </a:p>
        </p:txBody>
      </p:sp>
      <p:sp>
        <p:nvSpPr>
          <p:cNvPr id="801" name="Google Shape;801;p44"/>
          <p:cNvSpPr txBox="1">
            <a:spLocks noGrp="1"/>
          </p:cNvSpPr>
          <p:nvPr>
            <p:ph type="body" idx="4294967295"/>
          </p:nvPr>
        </p:nvSpPr>
        <p:spPr>
          <a:xfrm>
            <a:off x="5559375" y="2557275"/>
            <a:ext cx="1634700" cy="934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Know Your Business</a:t>
            </a:r>
            <a:r>
              <a:rPr lang="en" sz="1000" dirty="0">
                <a:solidFill>
                  <a:srgbClr val="C2C2C2"/>
                </a:solidFill>
              </a:rPr>
              <a:t> learn how business is transacted and measured, keep and report on monthly dashboards</a:t>
            </a:r>
            <a:endParaRPr sz="1000" dirty="0">
              <a:solidFill>
                <a:srgbClr val="C2C2C2"/>
              </a:solidFill>
            </a:endParaRPr>
          </a:p>
        </p:txBody>
      </p:sp>
      <p:sp>
        <p:nvSpPr>
          <p:cNvPr id="802" name="Google Shape;802;p44"/>
          <p:cNvSpPr txBox="1">
            <a:spLocks noGrp="1"/>
          </p:cNvSpPr>
          <p:nvPr>
            <p:ph type="body" idx="4294967295"/>
          </p:nvPr>
        </p:nvSpPr>
        <p:spPr>
          <a:xfrm>
            <a:off x="5559375" y="4302713"/>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Be Part of the Future </a:t>
            </a:r>
            <a:r>
              <a:rPr lang="en" sz="1000">
                <a:solidFill>
                  <a:srgbClr val="C2C2C2"/>
                </a:solidFill>
              </a:rPr>
              <a:t>define, draft, and submit at least (1) patent.</a:t>
            </a:r>
            <a:endParaRPr sz="1000">
              <a:solidFill>
                <a:srgbClr val="C2C2C2"/>
              </a:solidFill>
            </a:endParaRPr>
          </a:p>
        </p:txBody>
      </p:sp>
      <p:sp>
        <p:nvSpPr>
          <p:cNvPr id="803" name="Google Shape;803;p44"/>
          <p:cNvSpPr txBox="1">
            <a:spLocks noGrp="1"/>
          </p:cNvSpPr>
          <p:nvPr>
            <p:ph type="body" idx="4294967295"/>
          </p:nvPr>
        </p:nvSpPr>
        <p:spPr>
          <a:xfrm>
            <a:off x="1902375" y="2489308"/>
            <a:ext cx="1634700" cy="10926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Narrow the Focus </a:t>
            </a:r>
            <a:r>
              <a:rPr lang="en" sz="1000">
                <a:solidFill>
                  <a:srgbClr val="C2C2C2"/>
                </a:solidFill>
              </a:rPr>
              <a:t>so that sales wins.  Generate 4 specific use cases by end of Q3, targeted sales plays, and a 45% or better rep participation rate.</a:t>
            </a:r>
            <a:endParaRPr sz="1000">
              <a:solidFill>
                <a:srgbClr val="C2C2C2"/>
              </a:solidFill>
            </a:endParaRPr>
          </a:p>
        </p:txBody>
      </p:sp>
      <p:sp>
        <p:nvSpPr>
          <p:cNvPr id="804" name="Google Shape;804;p44"/>
          <p:cNvSpPr txBox="1">
            <a:spLocks noGrp="1"/>
          </p:cNvSpPr>
          <p:nvPr>
            <p:ph type="body" idx="4294967295"/>
          </p:nvPr>
        </p:nvSpPr>
        <p:spPr>
          <a:xfrm>
            <a:off x="1902375" y="3650790"/>
            <a:ext cx="16674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DAS Consolidation</a:t>
            </a:r>
            <a:r>
              <a:rPr lang="en" sz="1000" dirty="0">
                <a:solidFill>
                  <a:schemeClr val="dk2"/>
                </a:solidFill>
              </a:rPr>
              <a:t> </a:t>
            </a:r>
            <a:r>
              <a:rPr lang="en" sz="1000" b="1" dirty="0">
                <a:solidFill>
                  <a:schemeClr val="dk2"/>
                </a:solidFill>
              </a:rPr>
              <a:t>Play </a:t>
            </a:r>
            <a:r>
              <a:rPr lang="en" sz="1000" dirty="0">
                <a:solidFill>
                  <a:schemeClr val="dk2"/>
                </a:solidFill>
              </a:rPr>
              <a:t>leverage scale to drive DAS consolidation to shared storage with bias toward unstructured analytics</a:t>
            </a:r>
            <a:endParaRPr sz="1000" dirty="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45"/>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IBM Storage PMM: </a:t>
            </a:r>
            <a:r>
              <a:rPr lang="en" b="1"/>
              <a:t>2H Functional Goals</a:t>
            </a:r>
            <a:r>
              <a:rPr lang="en"/>
              <a:t> - Focus on Scale and Success</a:t>
            </a:r>
            <a:endParaRPr/>
          </a:p>
        </p:txBody>
      </p:sp>
      <p:cxnSp>
        <p:nvCxnSpPr>
          <p:cNvPr id="810" name="Google Shape;810;p45"/>
          <p:cNvCxnSpPr/>
          <p:nvPr/>
        </p:nvCxnSpPr>
        <p:spPr>
          <a:xfrm>
            <a:off x="734710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11" name="Google Shape;811;p45"/>
          <p:cNvSpPr txBox="1">
            <a:spLocks noGrp="1"/>
          </p:cNvSpPr>
          <p:nvPr>
            <p:ph type="body" idx="4294967295"/>
          </p:nvPr>
        </p:nvSpPr>
        <p:spPr>
          <a:xfrm>
            <a:off x="7371575"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Equip Sales for Success</a:t>
            </a:r>
            <a:endParaRPr sz="2100" b="1">
              <a:solidFill>
                <a:schemeClr val="accent3"/>
              </a:solidFill>
            </a:endParaRPr>
          </a:p>
        </p:txBody>
      </p:sp>
      <p:cxnSp>
        <p:nvCxnSpPr>
          <p:cNvPr id="812" name="Google Shape;812;p45"/>
          <p:cNvCxnSpPr/>
          <p:nvPr/>
        </p:nvCxnSpPr>
        <p:spPr>
          <a:xfrm>
            <a:off x="5534888"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13" name="Google Shape;813;p45"/>
          <p:cNvSpPr txBox="1">
            <a:spLocks noGrp="1"/>
          </p:cNvSpPr>
          <p:nvPr>
            <p:ph type="body" idx="4294967295"/>
          </p:nvPr>
        </p:nvSpPr>
        <p:spPr>
          <a:xfrm>
            <a:off x="5559363"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Communicate Market Position</a:t>
            </a:r>
            <a:endParaRPr sz="2100" b="1">
              <a:solidFill>
                <a:schemeClr val="accent3"/>
              </a:solidFill>
            </a:endParaRPr>
          </a:p>
        </p:txBody>
      </p:sp>
      <p:cxnSp>
        <p:nvCxnSpPr>
          <p:cNvPr id="814" name="Google Shape;814;p45"/>
          <p:cNvCxnSpPr/>
          <p:nvPr/>
        </p:nvCxnSpPr>
        <p:spPr>
          <a:xfrm>
            <a:off x="3722675"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15" name="Google Shape;815;p45"/>
          <p:cNvSpPr txBox="1">
            <a:spLocks noGrp="1"/>
          </p:cNvSpPr>
          <p:nvPr>
            <p:ph type="body" idx="4294967295"/>
          </p:nvPr>
        </p:nvSpPr>
        <p:spPr>
          <a:xfrm>
            <a:off x="3747150"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Customer and Market Knowledge</a:t>
            </a:r>
            <a:endParaRPr sz="2100" b="1">
              <a:solidFill>
                <a:schemeClr val="accent3"/>
              </a:solidFill>
            </a:endParaRPr>
          </a:p>
        </p:txBody>
      </p:sp>
      <p:cxnSp>
        <p:nvCxnSpPr>
          <p:cNvPr id="816" name="Google Shape;816;p45"/>
          <p:cNvCxnSpPr/>
          <p:nvPr/>
        </p:nvCxnSpPr>
        <p:spPr>
          <a:xfrm>
            <a:off x="1910463"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17" name="Google Shape;817;p45"/>
          <p:cNvSpPr txBox="1">
            <a:spLocks noGrp="1"/>
          </p:cNvSpPr>
          <p:nvPr>
            <p:ph type="body" idx="4294967295"/>
          </p:nvPr>
        </p:nvSpPr>
        <p:spPr>
          <a:xfrm>
            <a:off x="1934938"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Market Success Accountability</a:t>
            </a:r>
            <a:endParaRPr sz="2100" b="1">
              <a:solidFill>
                <a:schemeClr val="accent3"/>
              </a:solidFill>
            </a:endParaRPr>
          </a:p>
        </p:txBody>
      </p:sp>
      <p:cxnSp>
        <p:nvCxnSpPr>
          <p:cNvPr id="818" name="Google Shape;818;p45"/>
          <p:cNvCxnSpPr/>
          <p:nvPr/>
        </p:nvCxnSpPr>
        <p:spPr>
          <a:xfrm>
            <a:off x="9825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19" name="Google Shape;819;p45"/>
          <p:cNvSpPr txBox="1">
            <a:spLocks noGrp="1"/>
          </p:cNvSpPr>
          <p:nvPr>
            <p:ph type="body" idx="4294967295"/>
          </p:nvPr>
        </p:nvSpPr>
        <p:spPr>
          <a:xfrm>
            <a:off x="122725"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PMM Scale and Efficiency</a:t>
            </a:r>
            <a:endParaRPr sz="2100" b="1">
              <a:solidFill>
                <a:schemeClr val="accent3"/>
              </a:solidFill>
            </a:endParaRPr>
          </a:p>
        </p:txBody>
      </p:sp>
      <p:sp>
        <p:nvSpPr>
          <p:cNvPr id="820" name="Google Shape;820;p45"/>
          <p:cNvSpPr txBox="1">
            <a:spLocks noGrp="1"/>
          </p:cNvSpPr>
          <p:nvPr>
            <p:ph type="body" idx="4294967295"/>
          </p:nvPr>
        </p:nvSpPr>
        <p:spPr>
          <a:xfrm>
            <a:off x="7359400" y="2377392"/>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a:solidFill>
                  <a:schemeClr val="dk2"/>
                </a:solidFill>
              </a:rPr>
              <a:t>Accurate and updated</a:t>
            </a:r>
            <a:r>
              <a:rPr lang="en" sz="1000" b="1">
                <a:solidFill>
                  <a:schemeClr val="dk2"/>
                </a:solidFill>
              </a:rPr>
              <a:t> IBM Storage Content / Asset Tracker </a:t>
            </a:r>
            <a:r>
              <a:rPr lang="en" sz="1000">
                <a:solidFill>
                  <a:schemeClr val="dk2"/>
                </a:solidFill>
              </a:rPr>
              <a:t>refreshed monthly, link in newsletter.</a:t>
            </a:r>
            <a:endParaRPr sz="1000">
              <a:solidFill>
                <a:schemeClr val="dk2"/>
              </a:solidFill>
            </a:endParaRPr>
          </a:p>
        </p:txBody>
      </p:sp>
      <p:sp>
        <p:nvSpPr>
          <p:cNvPr id="821" name="Google Shape;821;p45"/>
          <p:cNvSpPr txBox="1">
            <a:spLocks noGrp="1"/>
          </p:cNvSpPr>
          <p:nvPr>
            <p:ph type="body" idx="4294967295"/>
          </p:nvPr>
        </p:nvSpPr>
        <p:spPr>
          <a:xfrm>
            <a:off x="1922775" y="1502600"/>
            <a:ext cx="1634700" cy="677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Quarterly Win/Loss analysis</a:t>
            </a:r>
            <a:r>
              <a:rPr lang="en" sz="1000">
                <a:solidFill>
                  <a:schemeClr val="dk2"/>
                </a:solidFill>
              </a:rPr>
              <a:t> completed no later than 3 weeks prior to earnings call</a:t>
            </a:r>
            <a:endParaRPr sz="1000">
              <a:solidFill>
                <a:schemeClr val="dk2"/>
              </a:solidFill>
            </a:endParaRPr>
          </a:p>
        </p:txBody>
      </p:sp>
      <p:sp>
        <p:nvSpPr>
          <p:cNvPr id="822" name="Google Shape;822;p45"/>
          <p:cNvSpPr txBox="1">
            <a:spLocks noGrp="1"/>
          </p:cNvSpPr>
          <p:nvPr>
            <p:ph type="body" idx="4294967295"/>
          </p:nvPr>
        </p:nvSpPr>
        <p:spPr>
          <a:xfrm>
            <a:off x="1934950" y="2319690"/>
            <a:ext cx="1634700" cy="773229"/>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Quarterly Reference</a:t>
            </a:r>
            <a:r>
              <a:rPr lang="en" sz="1000" dirty="0">
                <a:solidFill>
                  <a:schemeClr val="dk2"/>
                </a:solidFill>
              </a:rPr>
              <a:t> dashboard report no later than 3 weeks prior to current qtr. end.</a:t>
            </a:r>
            <a:endParaRPr sz="1000" dirty="0">
              <a:solidFill>
                <a:schemeClr val="dk2"/>
              </a:solidFill>
            </a:endParaRPr>
          </a:p>
        </p:txBody>
      </p:sp>
      <p:sp>
        <p:nvSpPr>
          <p:cNvPr id="823" name="Google Shape;823;p45"/>
          <p:cNvSpPr txBox="1">
            <a:spLocks noGrp="1"/>
          </p:cNvSpPr>
          <p:nvPr>
            <p:ph type="body" idx="4294967295"/>
          </p:nvPr>
        </p:nvSpPr>
        <p:spPr>
          <a:xfrm>
            <a:off x="1934949" y="3232609"/>
            <a:ext cx="1747075"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Launch Success</a:t>
            </a:r>
            <a:r>
              <a:rPr lang="en" sz="1000" dirty="0">
                <a:solidFill>
                  <a:schemeClr val="dk2"/>
                </a:solidFill>
              </a:rPr>
              <a:t> make all product launches INSANE -- meeting no less than 80% of pre-launch objectives</a:t>
            </a:r>
            <a:endParaRPr sz="1000" dirty="0">
              <a:solidFill>
                <a:schemeClr val="dk2"/>
              </a:solidFill>
            </a:endParaRPr>
          </a:p>
        </p:txBody>
      </p:sp>
      <p:sp>
        <p:nvSpPr>
          <p:cNvPr id="824" name="Google Shape;824;p45"/>
          <p:cNvSpPr txBox="1">
            <a:spLocks noGrp="1"/>
          </p:cNvSpPr>
          <p:nvPr>
            <p:ph type="body" idx="4294967295"/>
          </p:nvPr>
        </p:nvSpPr>
        <p:spPr>
          <a:xfrm>
            <a:off x="7359400" y="15026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Quarterly Enablement</a:t>
            </a:r>
            <a:r>
              <a:rPr lang="en" sz="1000">
                <a:solidFill>
                  <a:schemeClr val="dk2"/>
                </a:solidFill>
              </a:rPr>
              <a:t> metrics and reporting no less than 3 weeks prior to current qtr. end.</a:t>
            </a:r>
            <a:endParaRPr sz="1000">
              <a:solidFill>
                <a:schemeClr val="dk2"/>
              </a:solidFill>
            </a:endParaRPr>
          </a:p>
        </p:txBody>
      </p:sp>
      <p:sp>
        <p:nvSpPr>
          <p:cNvPr id="825" name="Google Shape;825;p45"/>
          <p:cNvSpPr txBox="1">
            <a:spLocks noGrp="1"/>
          </p:cNvSpPr>
          <p:nvPr>
            <p:ph type="body" idx="4294967295"/>
          </p:nvPr>
        </p:nvSpPr>
        <p:spPr>
          <a:xfrm>
            <a:off x="3694200" y="15026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Complete Buyer Persona Database</a:t>
            </a:r>
            <a:r>
              <a:rPr lang="en" sz="1000">
                <a:solidFill>
                  <a:schemeClr val="dk2"/>
                </a:solidFill>
              </a:rPr>
              <a:t> for decision makers, influencers, and implementers reviewed and updated quarterly.</a:t>
            </a:r>
            <a:endParaRPr sz="1000">
              <a:solidFill>
                <a:schemeClr val="dk2"/>
              </a:solidFill>
            </a:endParaRPr>
          </a:p>
        </p:txBody>
      </p:sp>
      <p:sp>
        <p:nvSpPr>
          <p:cNvPr id="826" name="Google Shape;826;p45"/>
          <p:cNvSpPr txBox="1">
            <a:spLocks noGrp="1"/>
          </p:cNvSpPr>
          <p:nvPr>
            <p:ph type="body" idx="4294967295"/>
          </p:nvPr>
        </p:nvSpPr>
        <p:spPr>
          <a:xfrm>
            <a:off x="5534900" y="15026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Published Social Media Plan</a:t>
            </a:r>
            <a:r>
              <a:rPr lang="en" sz="1000">
                <a:solidFill>
                  <a:schemeClr val="dk2"/>
                </a:solidFill>
              </a:rPr>
              <a:t> current month+1 with end of month channel performance reports.</a:t>
            </a:r>
            <a:endParaRPr sz="1000">
              <a:solidFill>
                <a:schemeClr val="dk2"/>
              </a:solidFill>
            </a:endParaRPr>
          </a:p>
        </p:txBody>
      </p:sp>
      <p:sp>
        <p:nvSpPr>
          <p:cNvPr id="827" name="Google Shape;827;p45"/>
          <p:cNvSpPr txBox="1">
            <a:spLocks noGrp="1"/>
          </p:cNvSpPr>
          <p:nvPr>
            <p:ph type="body" idx="4294967295"/>
          </p:nvPr>
        </p:nvSpPr>
        <p:spPr>
          <a:xfrm>
            <a:off x="5534900" y="23722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Source and Publish Monthly Storage Newsletter</a:t>
            </a:r>
            <a:r>
              <a:rPr lang="en" sz="1000">
                <a:solidFill>
                  <a:schemeClr val="dk2"/>
                </a:solidFill>
              </a:rPr>
              <a:t> transmitted on the first Monday of the month to internal and external field sales.</a:t>
            </a:r>
            <a:endParaRPr sz="1000">
              <a:solidFill>
                <a:schemeClr val="dk2"/>
              </a:solidFill>
            </a:endParaRPr>
          </a:p>
        </p:txBody>
      </p:sp>
      <p:sp>
        <p:nvSpPr>
          <p:cNvPr id="828" name="Google Shape;828;p45"/>
          <p:cNvSpPr txBox="1">
            <a:spLocks noGrp="1"/>
          </p:cNvSpPr>
          <p:nvPr>
            <p:ph type="body" idx="4294967295"/>
          </p:nvPr>
        </p:nvSpPr>
        <p:spPr>
          <a:xfrm>
            <a:off x="3694200" y="2557275"/>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Case Studies / Reviews</a:t>
            </a:r>
            <a:r>
              <a:rPr lang="en" sz="1000">
                <a:solidFill>
                  <a:schemeClr val="dk2"/>
                </a:solidFill>
              </a:rPr>
              <a:t> grow Gartner Peer Insight reviews by 50% QoQ. Keep updated case study repository adding (2) per quarter</a:t>
            </a:r>
            <a:endParaRPr sz="1000">
              <a:solidFill>
                <a:schemeClr val="dk2"/>
              </a:solidFill>
            </a:endParaRPr>
          </a:p>
        </p:txBody>
      </p:sp>
      <p:sp>
        <p:nvSpPr>
          <p:cNvPr id="829" name="Google Shape;829;p45"/>
          <p:cNvSpPr txBox="1">
            <a:spLocks noGrp="1"/>
          </p:cNvSpPr>
          <p:nvPr>
            <p:ph type="body" idx="4294967295"/>
          </p:nvPr>
        </p:nvSpPr>
        <p:spPr>
          <a:xfrm>
            <a:off x="1934950" y="4175700"/>
            <a:ext cx="17211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GTM Strategy Ownership and  Success</a:t>
            </a:r>
            <a:r>
              <a:rPr lang="en" sz="1000" dirty="0">
                <a:solidFill>
                  <a:schemeClr val="dk2"/>
                </a:solidFill>
              </a:rPr>
              <a:t> Plan by [DATE] - guides EVERYDAY activity; if it’s not on the plan, it’s not relevant</a:t>
            </a:r>
            <a:endParaRPr sz="1000" dirty="0">
              <a:solidFill>
                <a:schemeClr val="dk2"/>
              </a:solidFill>
            </a:endParaRPr>
          </a:p>
        </p:txBody>
      </p:sp>
      <p:sp>
        <p:nvSpPr>
          <p:cNvPr id="830" name="Google Shape;830;p45"/>
          <p:cNvSpPr txBox="1">
            <a:spLocks noGrp="1"/>
          </p:cNvSpPr>
          <p:nvPr>
            <p:ph type="body" idx="4294967295"/>
          </p:nvPr>
        </p:nvSpPr>
        <p:spPr>
          <a:xfrm>
            <a:off x="110550" y="3481050"/>
            <a:ext cx="1634700" cy="934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Quarterly Analyst and Influencer Briefings</a:t>
            </a:r>
            <a:r>
              <a:rPr lang="en" sz="1000">
                <a:solidFill>
                  <a:schemeClr val="dk2"/>
                </a:solidFill>
              </a:rPr>
              <a:t> based on defined format, target at least Tier 1 analysts firms and influencers</a:t>
            </a:r>
            <a:endParaRPr sz="1000">
              <a:solidFill>
                <a:schemeClr val="dk2"/>
              </a:solidFill>
            </a:endParaRPr>
          </a:p>
        </p:txBody>
      </p:sp>
      <p:sp>
        <p:nvSpPr>
          <p:cNvPr id="831" name="Google Shape;831;p45"/>
          <p:cNvSpPr txBox="1">
            <a:spLocks noGrp="1"/>
          </p:cNvSpPr>
          <p:nvPr>
            <p:ph type="body" idx="4294967295"/>
          </p:nvPr>
        </p:nvSpPr>
        <p:spPr>
          <a:xfrm>
            <a:off x="110550" y="1513838"/>
            <a:ext cx="1634700" cy="364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Align to PMM Framework </a:t>
            </a:r>
            <a:r>
              <a:rPr lang="en" sz="1000" dirty="0">
                <a:solidFill>
                  <a:schemeClr val="dk2"/>
                </a:solidFill>
              </a:rPr>
              <a:t>by [DATE]</a:t>
            </a:r>
            <a:endParaRPr sz="1000" dirty="0">
              <a:solidFill>
                <a:schemeClr val="dk2"/>
              </a:solidFill>
            </a:endParaRPr>
          </a:p>
        </p:txBody>
      </p:sp>
      <p:sp>
        <p:nvSpPr>
          <p:cNvPr id="832" name="Google Shape;832;p45"/>
          <p:cNvSpPr txBox="1">
            <a:spLocks noGrp="1"/>
          </p:cNvSpPr>
          <p:nvPr>
            <p:ph type="body" idx="4294967295"/>
          </p:nvPr>
        </p:nvSpPr>
        <p:spPr>
          <a:xfrm>
            <a:off x="110550" y="1932375"/>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Stay Agile and Dynamic </a:t>
            </a:r>
            <a:r>
              <a:rPr lang="en" sz="1000">
                <a:solidFill>
                  <a:schemeClr val="dk2"/>
                </a:solidFill>
              </a:rPr>
              <a:t>participate in daily or weekly standups</a:t>
            </a:r>
            <a:endParaRPr sz="1000">
              <a:solidFill>
                <a:schemeClr val="dk2"/>
              </a:solidFill>
            </a:endParaRPr>
          </a:p>
        </p:txBody>
      </p:sp>
      <p:sp>
        <p:nvSpPr>
          <p:cNvPr id="833" name="Google Shape;833;p45"/>
          <p:cNvSpPr txBox="1">
            <a:spLocks noGrp="1"/>
          </p:cNvSpPr>
          <p:nvPr>
            <p:ph type="body" idx="4294967295"/>
          </p:nvPr>
        </p:nvSpPr>
        <p:spPr>
          <a:xfrm>
            <a:off x="122725" y="2623613"/>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Protect Your Time </a:t>
            </a:r>
            <a:r>
              <a:rPr lang="en" sz="1000" dirty="0">
                <a:solidFill>
                  <a:schemeClr val="dk2"/>
                </a:solidFill>
              </a:rPr>
              <a:t>no meetings without agendas, no tasks that can’t be measured or mapped to revenue</a:t>
            </a:r>
            <a:endParaRPr sz="1000" dirty="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46"/>
          <p:cNvSpPr txBox="1">
            <a:spLocks noGrp="1"/>
          </p:cNvSpPr>
          <p:nvPr>
            <p:ph type="body" idx="4294967295"/>
          </p:nvPr>
        </p:nvSpPr>
        <p:spPr>
          <a:xfrm>
            <a:off x="7359400" y="2377392"/>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a:solidFill>
                  <a:srgbClr val="C2C2C2"/>
                </a:solidFill>
              </a:rPr>
              <a:t>Accurate and updated</a:t>
            </a:r>
            <a:r>
              <a:rPr lang="en" sz="1000" b="1">
                <a:solidFill>
                  <a:srgbClr val="C2C2C2"/>
                </a:solidFill>
              </a:rPr>
              <a:t> IBM Storage Content / Asset Tracker </a:t>
            </a:r>
            <a:r>
              <a:rPr lang="en" sz="1000">
                <a:solidFill>
                  <a:srgbClr val="C2C2C2"/>
                </a:solidFill>
              </a:rPr>
              <a:t>refreshed monthly, link in newsletter.</a:t>
            </a:r>
            <a:endParaRPr sz="1000">
              <a:solidFill>
                <a:srgbClr val="C2C2C2"/>
              </a:solidFill>
            </a:endParaRPr>
          </a:p>
        </p:txBody>
      </p:sp>
      <p:sp>
        <p:nvSpPr>
          <p:cNvPr id="839" name="Google Shape;839;p4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IBM Storage PMM: </a:t>
            </a:r>
            <a:r>
              <a:rPr lang="en" b="1"/>
              <a:t>2H Functional </a:t>
            </a:r>
            <a:r>
              <a:rPr lang="en" b="1">
                <a:solidFill>
                  <a:schemeClr val="accent6"/>
                </a:solidFill>
              </a:rPr>
              <a:t>STRETCH </a:t>
            </a:r>
            <a:r>
              <a:rPr lang="en" b="1"/>
              <a:t>Goals</a:t>
            </a:r>
            <a:endParaRPr/>
          </a:p>
        </p:txBody>
      </p:sp>
      <p:cxnSp>
        <p:nvCxnSpPr>
          <p:cNvPr id="840" name="Google Shape;840;p46"/>
          <p:cNvCxnSpPr/>
          <p:nvPr/>
        </p:nvCxnSpPr>
        <p:spPr>
          <a:xfrm>
            <a:off x="734710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41" name="Google Shape;841;p46"/>
          <p:cNvSpPr txBox="1">
            <a:spLocks noGrp="1"/>
          </p:cNvSpPr>
          <p:nvPr>
            <p:ph type="body" idx="4294967295"/>
          </p:nvPr>
        </p:nvSpPr>
        <p:spPr>
          <a:xfrm>
            <a:off x="7371575"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Equip Sales for Success</a:t>
            </a:r>
            <a:endParaRPr sz="2100" b="1">
              <a:solidFill>
                <a:schemeClr val="accent3"/>
              </a:solidFill>
            </a:endParaRPr>
          </a:p>
        </p:txBody>
      </p:sp>
      <p:cxnSp>
        <p:nvCxnSpPr>
          <p:cNvPr id="842" name="Google Shape;842;p46"/>
          <p:cNvCxnSpPr/>
          <p:nvPr/>
        </p:nvCxnSpPr>
        <p:spPr>
          <a:xfrm>
            <a:off x="5534888"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43" name="Google Shape;843;p46"/>
          <p:cNvSpPr txBox="1">
            <a:spLocks noGrp="1"/>
          </p:cNvSpPr>
          <p:nvPr>
            <p:ph type="body" idx="4294967295"/>
          </p:nvPr>
        </p:nvSpPr>
        <p:spPr>
          <a:xfrm>
            <a:off x="5559363"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Communicate Market Position</a:t>
            </a:r>
            <a:endParaRPr sz="2100" b="1">
              <a:solidFill>
                <a:schemeClr val="accent3"/>
              </a:solidFill>
            </a:endParaRPr>
          </a:p>
        </p:txBody>
      </p:sp>
      <p:cxnSp>
        <p:nvCxnSpPr>
          <p:cNvPr id="844" name="Google Shape;844;p46"/>
          <p:cNvCxnSpPr/>
          <p:nvPr/>
        </p:nvCxnSpPr>
        <p:spPr>
          <a:xfrm>
            <a:off x="3722675"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45" name="Google Shape;845;p46"/>
          <p:cNvSpPr txBox="1">
            <a:spLocks noGrp="1"/>
          </p:cNvSpPr>
          <p:nvPr>
            <p:ph type="body" idx="4294967295"/>
          </p:nvPr>
        </p:nvSpPr>
        <p:spPr>
          <a:xfrm>
            <a:off x="3747150"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Customer and Market Knowledge</a:t>
            </a:r>
            <a:endParaRPr sz="2100" b="1">
              <a:solidFill>
                <a:schemeClr val="accent3"/>
              </a:solidFill>
            </a:endParaRPr>
          </a:p>
        </p:txBody>
      </p:sp>
      <p:cxnSp>
        <p:nvCxnSpPr>
          <p:cNvPr id="846" name="Google Shape;846;p46"/>
          <p:cNvCxnSpPr/>
          <p:nvPr/>
        </p:nvCxnSpPr>
        <p:spPr>
          <a:xfrm>
            <a:off x="1910463"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47" name="Google Shape;847;p46"/>
          <p:cNvSpPr txBox="1">
            <a:spLocks noGrp="1"/>
          </p:cNvSpPr>
          <p:nvPr>
            <p:ph type="body" idx="4294967295"/>
          </p:nvPr>
        </p:nvSpPr>
        <p:spPr>
          <a:xfrm>
            <a:off x="1934938"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Market Success Accountability</a:t>
            </a:r>
            <a:endParaRPr sz="2100" b="1">
              <a:solidFill>
                <a:schemeClr val="accent3"/>
              </a:solidFill>
            </a:endParaRPr>
          </a:p>
        </p:txBody>
      </p:sp>
      <p:cxnSp>
        <p:nvCxnSpPr>
          <p:cNvPr id="848" name="Google Shape;848;p46"/>
          <p:cNvCxnSpPr/>
          <p:nvPr/>
        </p:nvCxnSpPr>
        <p:spPr>
          <a:xfrm>
            <a:off x="98250" y="1415725"/>
            <a:ext cx="1659300" cy="0"/>
          </a:xfrm>
          <a:prstGeom prst="straightConnector1">
            <a:avLst/>
          </a:prstGeom>
          <a:noFill/>
          <a:ln w="19050" cap="flat" cmpd="sng">
            <a:solidFill>
              <a:schemeClr val="lt2"/>
            </a:solidFill>
            <a:prstDash val="solid"/>
            <a:round/>
            <a:headEnd type="none" w="sm" len="sm"/>
            <a:tailEnd type="none" w="sm" len="sm"/>
          </a:ln>
        </p:spPr>
      </p:cxnSp>
      <p:sp>
        <p:nvSpPr>
          <p:cNvPr id="849" name="Google Shape;849;p46"/>
          <p:cNvSpPr txBox="1">
            <a:spLocks noGrp="1"/>
          </p:cNvSpPr>
          <p:nvPr>
            <p:ph type="body" idx="4294967295"/>
          </p:nvPr>
        </p:nvSpPr>
        <p:spPr>
          <a:xfrm>
            <a:off x="122725" y="860500"/>
            <a:ext cx="1634700" cy="530400"/>
          </a:xfrm>
          <a:prstGeom prst="rect">
            <a:avLst/>
          </a:prstGeom>
        </p:spPr>
        <p:txBody>
          <a:bodyPr spcFirstLastPara="1" wrap="square" lIns="91425" tIns="91425" rIns="91425" bIns="91425" anchor="b" anchorCtr="0">
            <a:normAutofit fontScale="62500" lnSpcReduction="20000"/>
          </a:bodyPr>
          <a:lstStyle/>
          <a:p>
            <a:pPr marL="0" lvl="0" indent="0" algn="ctr" rtl="0">
              <a:lnSpc>
                <a:spcPct val="100000"/>
              </a:lnSpc>
              <a:spcBef>
                <a:spcPts val="0"/>
              </a:spcBef>
              <a:spcAft>
                <a:spcPts val="0"/>
              </a:spcAft>
              <a:buNone/>
            </a:pPr>
            <a:r>
              <a:rPr lang="en" sz="2100" b="1">
                <a:solidFill>
                  <a:schemeClr val="accent3"/>
                </a:solidFill>
              </a:rPr>
              <a:t>PMM Scale and Efficiency</a:t>
            </a:r>
            <a:endParaRPr sz="2100" b="1">
              <a:solidFill>
                <a:schemeClr val="accent3"/>
              </a:solidFill>
            </a:endParaRPr>
          </a:p>
        </p:txBody>
      </p:sp>
      <p:sp>
        <p:nvSpPr>
          <p:cNvPr id="850" name="Google Shape;850;p46"/>
          <p:cNvSpPr txBox="1">
            <a:spLocks noGrp="1"/>
          </p:cNvSpPr>
          <p:nvPr>
            <p:ph type="body" idx="4294967295"/>
          </p:nvPr>
        </p:nvSpPr>
        <p:spPr>
          <a:xfrm>
            <a:off x="1922775" y="1502600"/>
            <a:ext cx="1634700" cy="677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Quarterly Win/Loss analysis</a:t>
            </a:r>
            <a:r>
              <a:rPr lang="en" sz="1000">
                <a:solidFill>
                  <a:srgbClr val="C2C2C2"/>
                </a:solidFill>
              </a:rPr>
              <a:t> completed no later than 3 weeks prior to earnings call</a:t>
            </a:r>
            <a:endParaRPr sz="1000">
              <a:solidFill>
                <a:srgbClr val="C2C2C2"/>
              </a:solidFill>
            </a:endParaRPr>
          </a:p>
        </p:txBody>
      </p:sp>
      <p:sp>
        <p:nvSpPr>
          <p:cNvPr id="851" name="Google Shape;851;p46"/>
          <p:cNvSpPr txBox="1">
            <a:spLocks noGrp="1"/>
          </p:cNvSpPr>
          <p:nvPr>
            <p:ph type="body" idx="4294967295"/>
          </p:nvPr>
        </p:nvSpPr>
        <p:spPr>
          <a:xfrm>
            <a:off x="1934950" y="2311594"/>
            <a:ext cx="1634700" cy="677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Quarterly Reference</a:t>
            </a:r>
            <a:r>
              <a:rPr lang="en" sz="1000">
                <a:solidFill>
                  <a:srgbClr val="C2C2C2"/>
                </a:solidFill>
              </a:rPr>
              <a:t> dashboard report no later than 3 weeks prior to current qtr. end.</a:t>
            </a:r>
            <a:endParaRPr sz="1000">
              <a:solidFill>
                <a:srgbClr val="C2C2C2"/>
              </a:solidFill>
            </a:endParaRPr>
          </a:p>
        </p:txBody>
      </p:sp>
      <p:sp>
        <p:nvSpPr>
          <p:cNvPr id="852" name="Google Shape;852;p46"/>
          <p:cNvSpPr txBox="1">
            <a:spLocks noGrp="1"/>
          </p:cNvSpPr>
          <p:nvPr>
            <p:ph type="body" idx="4294967295"/>
          </p:nvPr>
        </p:nvSpPr>
        <p:spPr>
          <a:xfrm>
            <a:off x="1934950" y="3120588"/>
            <a:ext cx="17211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Launch Success</a:t>
            </a:r>
            <a:r>
              <a:rPr lang="en" sz="1000" dirty="0">
                <a:solidFill>
                  <a:srgbClr val="C2C2C2"/>
                </a:solidFill>
              </a:rPr>
              <a:t> make all product launches INSANE -- meeting no less than 80% of pre-launch objectives</a:t>
            </a:r>
            <a:endParaRPr sz="1000" dirty="0">
              <a:solidFill>
                <a:srgbClr val="C2C2C2"/>
              </a:solidFill>
            </a:endParaRPr>
          </a:p>
        </p:txBody>
      </p:sp>
      <p:sp>
        <p:nvSpPr>
          <p:cNvPr id="853" name="Google Shape;853;p46"/>
          <p:cNvSpPr txBox="1">
            <a:spLocks noGrp="1"/>
          </p:cNvSpPr>
          <p:nvPr>
            <p:ph type="body" idx="4294967295"/>
          </p:nvPr>
        </p:nvSpPr>
        <p:spPr>
          <a:xfrm>
            <a:off x="7359400" y="15026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Quarterly Enablement</a:t>
            </a:r>
            <a:r>
              <a:rPr lang="en" sz="1000">
                <a:solidFill>
                  <a:srgbClr val="C2C2C2"/>
                </a:solidFill>
              </a:rPr>
              <a:t> metrics and reporting no less than 3 weeks prior to current qtr. end.</a:t>
            </a:r>
            <a:endParaRPr sz="1000">
              <a:solidFill>
                <a:srgbClr val="C2C2C2"/>
              </a:solidFill>
            </a:endParaRPr>
          </a:p>
        </p:txBody>
      </p:sp>
      <p:sp>
        <p:nvSpPr>
          <p:cNvPr id="854" name="Google Shape;854;p46"/>
          <p:cNvSpPr txBox="1">
            <a:spLocks noGrp="1"/>
          </p:cNvSpPr>
          <p:nvPr>
            <p:ph type="body" idx="4294967295"/>
          </p:nvPr>
        </p:nvSpPr>
        <p:spPr>
          <a:xfrm>
            <a:off x="7359400" y="3252183"/>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Sales Content Steering Committee </a:t>
            </a:r>
            <a:r>
              <a:rPr lang="en" sz="1000">
                <a:solidFill>
                  <a:schemeClr val="dk2"/>
                </a:solidFill>
              </a:rPr>
              <a:t>geo representation, held monthly with focus on stage-based assets.</a:t>
            </a:r>
            <a:endParaRPr sz="1000">
              <a:solidFill>
                <a:schemeClr val="dk2"/>
              </a:solidFill>
            </a:endParaRPr>
          </a:p>
        </p:txBody>
      </p:sp>
      <p:sp>
        <p:nvSpPr>
          <p:cNvPr id="855" name="Google Shape;855;p46"/>
          <p:cNvSpPr txBox="1">
            <a:spLocks noGrp="1"/>
          </p:cNvSpPr>
          <p:nvPr>
            <p:ph type="body" idx="4294967295"/>
          </p:nvPr>
        </p:nvSpPr>
        <p:spPr>
          <a:xfrm>
            <a:off x="3694200" y="1502600"/>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Complete Buyer Persona Database</a:t>
            </a:r>
            <a:r>
              <a:rPr lang="en" sz="1000">
                <a:solidFill>
                  <a:srgbClr val="C2C2C2"/>
                </a:solidFill>
              </a:rPr>
              <a:t> for decision makers, influencers, and implementers reviewed and updated quarterly.</a:t>
            </a:r>
            <a:endParaRPr sz="1000">
              <a:solidFill>
                <a:srgbClr val="C2C2C2"/>
              </a:solidFill>
            </a:endParaRPr>
          </a:p>
        </p:txBody>
      </p:sp>
      <p:sp>
        <p:nvSpPr>
          <p:cNvPr id="856" name="Google Shape;856;p46"/>
          <p:cNvSpPr txBox="1">
            <a:spLocks noGrp="1"/>
          </p:cNvSpPr>
          <p:nvPr>
            <p:ph type="body" idx="4294967295"/>
          </p:nvPr>
        </p:nvSpPr>
        <p:spPr>
          <a:xfrm>
            <a:off x="5534900" y="15026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Published Social Media Plan</a:t>
            </a:r>
            <a:r>
              <a:rPr lang="en" sz="1000" dirty="0">
                <a:solidFill>
                  <a:srgbClr val="C2C2C2"/>
                </a:solidFill>
              </a:rPr>
              <a:t> current month+1 with end of month channel performance reports.</a:t>
            </a:r>
            <a:endParaRPr sz="1000" dirty="0">
              <a:solidFill>
                <a:srgbClr val="C2C2C2"/>
              </a:solidFill>
            </a:endParaRPr>
          </a:p>
        </p:txBody>
      </p:sp>
      <p:sp>
        <p:nvSpPr>
          <p:cNvPr id="857" name="Google Shape;857;p46"/>
          <p:cNvSpPr txBox="1">
            <a:spLocks noGrp="1"/>
          </p:cNvSpPr>
          <p:nvPr>
            <p:ph type="body" idx="4294967295"/>
          </p:nvPr>
        </p:nvSpPr>
        <p:spPr>
          <a:xfrm>
            <a:off x="5534900" y="2359267"/>
            <a:ext cx="1634700" cy="110885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Source and Publish Monthly Storage Newsletter</a:t>
            </a:r>
            <a:r>
              <a:rPr lang="en" sz="1000" dirty="0">
                <a:solidFill>
                  <a:srgbClr val="C2C2C2"/>
                </a:solidFill>
              </a:rPr>
              <a:t> transmitted on the first Monday of the month to internal and external field sales.</a:t>
            </a:r>
            <a:endParaRPr sz="1000" dirty="0">
              <a:solidFill>
                <a:srgbClr val="C2C2C2"/>
              </a:solidFill>
            </a:endParaRPr>
          </a:p>
        </p:txBody>
      </p:sp>
      <p:sp>
        <p:nvSpPr>
          <p:cNvPr id="858" name="Google Shape;858;p46"/>
          <p:cNvSpPr txBox="1">
            <a:spLocks noGrp="1"/>
          </p:cNvSpPr>
          <p:nvPr>
            <p:ph type="body" idx="4294967295"/>
          </p:nvPr>
        </p:nvSpPr>
        <p:spPr>
          <a:xfrm>
            <a:off x="5534900" y="3521384"/>
            <a:ext cx="1634700" cy="8409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a:solidFill>
                  <a:schemeClr val="dk2"/>
                </a:solidFill>
              </a:rPr>
              <a:t>Website Refresh </a:t>
            </a:r>
            <a:r>
              <a:rPr lang="en" sz="1000">
                <a:solidFill>
                  <a:schemeClr val="dk2"/>
                </a:solidFill>
              </a:rPr>
              <a:t>reviewed monthly on the first Monday of the month to internal and external field sales.</a:t>
            </a:r>
            <a:endParaRPr sz="1000">
              <a:solidFill>
                <a:schemeClr val="dk2"/>
              </a:solidFill>
            </a:endParaRPr>
          </a:p>
        </p:txBody>
      </p:sp>
      <p:sp>
        <p:nvSpPr>
          <p:cNvPr id="859" name="Google Shape;859;p46"/>
          <p:cNvSpPr txBox="1">
            <a:spLocks noGrp="1"/>
          </p:cNvSpPr>
          <p:nvPr>
            <p:ph type="body" idx="4294967295"/>
          </p:nvPr>
        </p:nvSpPr>
        <p:spPr>
          <a:xfrm>
            <a:off x="5534900" y="4415550"/>
            <a:ext cx="1634700" cy="677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Maintain accurate events calendar </a:t>
            </a:r>
            <a:r>
              <a:rPr lang="en" sz="1000" dirty="0">
                <a:solidFill>
                  <a:schemeClr val="dk2"/>
                </a:solidFill>
              </a:rPr>
              <a:t>supporting them as needed</a:t>
            </a:r>
            <a:endParaRPr sz="1000" dirty="0">
              <a:solidFill>
                <a:schemeClr val="dk2"/>
              </a:solidFill>
            </a:endParaRPr>
          </a:p>
        </p:txBody>
      </p:sp>
      <p:sp>
        <p:nvSpPr>
          <p:cNvPr id="860" name="Google Shape;860;p46"/>
          <p:cNvSpPr txBox="1">
            <a:spLocks noGrp="1"/>
          </p:cNvSpPr>
          <p:nvPr>
            <p:ph type="body" idx="4294967295"/>
          </p:nvPr>
        </p:nvSpPr>
        <p:spPr>
          <a:xfrm>
            <a:off x="3694200" y="3717000"/>
            <a:ext cx="1634700" cy="1426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A Day in the Life:</a:t>
            </a:r>
            <a:r>
              <a:rPr lang="en" sz="1000" dirty="0">
                <a:solidFill>
                  <a:schemeClr val="dk2"/>
                </a:solidFill>
              </a:rPr>
              <a:t> Pick (2) customers per quarter - get to know them, find out what their challenges are, why they chose IBM, share your experience on our PMM quarterly business review</a:t>
            </a:r>
            <a:endParaRPr sz="1000" dirty="0">
              <a:solidFill>
                <a:schemeClr val="dk2"/>
              </a:solidFill>
            </a:endParaRPr>
          </a:p>
        </p:txBody>
      </p:sp>
      <p:sp>
        <p:nvSpPr>
          <p:cNvPr id="861" name="Google Shape;861;p46"/>
          <p:cNvSpPr txBox="1">
            <a:spLocks noGrp="1"/>
          </p:cNvSpPr>
          <p:nvPr>
            <p:ph type="body" idx="4294967295"/>
          </p:nvPr>
        </p:nvSpPr>
        <p:spPr>
          <a:xfrm>
            <a:off x="3694200" y="2557275"/>
            <a:ext cx="16347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Case Studies / Reviews</a:t>
            </a:r>
            <a:r>
              <a:rPr lang="en" sz="1000">
                <a:solidFill>
                  <a:srgbClr val="C2C2C2"/>
                </a:solidFill>
              </a:rPr>
              <a:t> grow Gartner Peer Insight reviews by 50% QoQ. Keep updated case study repository adding (2) per quarter</a:t>
            </a:r>
            <a:endParaRPr sz="1000">
              <a:solidFill>
                <a:srgbClr val="C2C2C2"/>
              </a:solidFill>
            </a:endParaRPr>
          </a:p>
        </p:txBody>
      </p:sp>
      <p:sp>
        <p:nvSpPr>
          <p:cNvPr id="862" name="Google Shape;862;p46"/>
          <p:cNvSpPr txBox="1">
            <a:spLocks noGrp="1"/>
          </p:cNvSpPr>
          <p:nvPr>
            <p:ph type="body" idx="4294967295"/>
          </p:nvPr>
        </p:nvSpPr>
        <p:spPr>
          <a:xfrm>
            <a:off x="7359400" y="4313300"/>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chemeClr val="dk2"/>
              </a:buClr>
              <a:buSzPts val="1000"/>
              <a:buChar char="●"/>
            </a:pPr>
            <a:r>
              <a:rPr lang="en" sz="1000" b="1" dirty="0">
                <a:solidFill>
                  <a:schemeClr val="dk2"/>
                </a:solidFill>
              </a:rPr>
              <a:t>Consistent and accurate content</a:t>
            </a:r>
            <a:r>
              <a:rPr lang="en" sz="1000" dirty="0">
                <a:solidFill>
                  <a:schemeClr val="dk2"/>
                </a:solidFill>
              </a:rPr>
              <a:t> layout in </a:t>
            </a:r>
            <a:r>
              <a:rPr lang="en" sz="1000" b="1" dirty="0" err="1">
                <a:solidFill>
                  <a:schemeClr val="dk2"/>
                </a:solidFill>
              </a:rPr>
              <a:t>Siesmic</a:t>
            </a:r>
            <a:r>
              <a:rPr lang="en" sz="1000" dirty="0">
                <a:solidFill>
                  <a:schemeClr val="dk2"/>
                </a:solidFill>
              </a:rPr>
              <a:t>, reviewed monthly.</a:t>
            </a:r>
            <a:endParaRPr sz="1000" dirty="0">
              <a:solidFill>
                <a:schemeClr val="dk2"/>
              </a:solidFill>
            </a:endParaRPr>
          </a:p>
        </p:txBody>
      </p:sp>
      <p:sp>
        <p:nvSpPr>
          <p:cNvPr id="863" name="Google Shape;863;p46"/>
          <p:cNvSpPr txBox="1">
            <a:spLocks noGrp="1"/>
          </p:cNvSpPr>
          <p:nvPr>
            <p:ph type="body" idx="4294967295"/>
          </p:nvPr>
        </p:nvSpPr>
        <p:spPr>
          <a:xfrm>
            <a:off x="110550" y="3481050"/>
            <a:ext cx="1634700" cy="934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Quarterly Analyst and Influencer Briefings</a:t>
            </a:r>
            <a:r>
              <a:rPr lang="en" sz="1000">
                <a:solidFill>
                  <a:srgbClr val="C2C2C2"/>
                </a:solidFill>
              </a:rPr>
              <a:t> based on defined format, target at least Tier 1 analysts firms and influencers</a:t>
            </a:r>
            <a:endParaRPr sz="1000">
              <a:solidFill>
                <a:srgbClr val="C2C2C2"/>
              </a:solidFill>
            </a:endParaRPr>
          </a:p>
        </p:txBody>
      </p:sp>
      <p:sp>
        <p:nvSpPr>
          <p:cNvPr id="864" name="Google Shape;864;p46"/>
          <p:cNvSpPr txBox="1">
            <a:spLocks noGrp="1"/>
          </p:cNvSpPr>
          <p:nvPr>
            <p:ph type="body" idx="4294967295"/>
          </p:nvPr>
        </p:nvSpPr>
        <p:spPr>
          <a:xfrm>
            <a:off x="110550" y="1513838"/>
            <a:ext cx="1634700" cy="3645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Align to PMM Framework </a:t>
            </a:r>
            <a:r>
              <a:rPr lang="en" sz="1000" dirty="0">
                <a:solidFill>
                  <a:srgbClr val="C2C2C2"/>
                </a:solidFill>
              </a:rPr>
              <a:t>by [DATE]</a:t>
            </a:r>
            <a:endParaRPr sz="1000" dirty="0">
              <a:solidFill>
                <a:srgbClr val="C2C2C2"/>
              </a:solidFill>
            </a:endParaRPr>
          </a:p>
        </p:txBody>
      </p:sp>
      <p:sp>
        <p:nvSpPr>
          <p:cNvPr id="865" name="Google Shape;865;p46"/>
          <p:cNvSpPr txBox="1">
            <a:spLocks noGrp="1"/>
          </p:cNvSpPr>
          <p:nvPr>
            <p:ph type="body" idx="4294967295"/>
          </p:nvPr>
        </p:nvSpPr>
        <p:spPr>
          <a:xfrm>
            <a:off x="110550" y="1932375"/>
            <a:ext cx="1634700" cy="6372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Stay Agile and Dynamic </a:t>
            </a:r>
            <a:r>
              <a:rPr lang="en" sz="1000">
                <a:solidFill>
                  <a:srgbClr val="C2C2C2"/>
                </a:solidFill>
              </a:rPr>
              <a:t>participate in daily or weekly standups</a:t>
            </a:r>
            <a:endParaRPr sz="1000">
              <a:solidFill>
                <a:srgbClr val="C2C2C2"/>
              </a:solidFill>
            </a:endParaRPr>
          </a:p>
        </p:txBody>
      </p:sp>
      <p:sp>
        <p:nvSpPr>
          <p:cNvPr id="866" name="Google Shape;866;p46"/>
          <p:cNvSpPr txBox="1">
            <a:spLocks noGrp="1"/>
          </p:cNvSpPr>
          <p:nvPr>
            <p:ph type="body" idx="4294967295"/>
          </p:nvPr>
        </p:nvSpPr>
        <p:spPr>
          <a:xfrm>
            <a:off x="122725" y="2623613"/>
            <a:ext cx="1634700" cy="8034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a:solidFill>
                  <a:srgbClr val="C2C2C2"/>
                </a:solidFill>
              </a:rPr>
              <a:t>Protect Your Time </a:t>
            </a:r>
            <a:r>
              <a:rPr lang="en" sz="1000">
                <a:solidFill>
                  <a:srgbClr val="C2C2C2"/>
                </a:solidFill>
              </a:rPr>
              <a:t>no meetings without agendas, no tasks that can’t be measured or mapped to revenue</a:t>
            </a:r>
            <a:endParaRPr sz="1000">
              <a:solidFill>
                <a:srgbClr val="C2C2C2"/>
              </a:solidFill>
            </a:endParaRPr>
          </a:p>
        </p:txBody>
      </p:sp>
      <p:sp>
        <p:nvSpPr>
          <p:cNvPr id="867" name="Google Shape;867;p46"/>
          <p:cNvSpPr txBox="1">
            <a:spLocks noGrp="1"/>
          </p:cNvSpPr>
          <p:nvPr>
            <p:ph type="body" idx="4294967295"/>
          </p:nvPr>
        </p:nvSpPr>
        <p:spPr>
          <a:xfrm>
            <a:off x="1934950" y="4055583"/>
            <a:ext cx="1721100" cy="967800"/>
          </a:xfrm>
          <a:prstGeom prst="rect">
            <a:avLst/>
          </a:prstGeom>
        </p:spPr>
        <p:txBody>
          <a:bodyPr spcFirstLastPara="1" wrap="square" lIns="91425" tIns="0" rIns="91425" bIns="91425" anchor="t" anchorCtr="0">
            <a:noAutofit/>
          </a:bodyPr>
          <a:lstStyle/>
          <a:p>
            <a:pPr marL="114300" lvl="0" indent="-177800" algn="l" rtl="0">
              <a:lnSpc>
                <a:spcPct val="100000"/>
              </a:lnSpc>
              <a:spcBef>
                <a:spcPts val="0"/>
              </a:spcBef>
              <a:spcAft>
                <a:spcPts val="0"/>
              </a:spcAft>
              <a:buClr>
                <a:srgbClr val="C2C2C2"/>
              </a:buClr>
              <a:buSzPts val="1000"/>
              <a:buChar char="●"/>
            </a:pPr>
            <a:r>
              <a:rPr lang="en" sz="1000" b="1" dirty="0">
                <a:solidFill>
                  <a:srgbClr val="C2C2C2"/>
                </a:solidFill>
              </a:rPr>
              <a:t>GTM Strategy Ownership and  Success</a:t>
            </a:r>
            <a:r>
              <a:rPr lang="en" sz="1000" dirty="0">
                <a:solidFill>
                  <a:srgbClr val="C2C2C2"/>
                </a:solidFill>
              </a:rPr>
              <a:t> Plan by 02/01/2022 - guides EVERYDAY activity; if it’s not on the plan, it’s not relevant</a:t>
            </a:r>
            <a:endParaRPr sz="1000" dirty="0">
              <a:solidFill>
                <a:srgbClr val="C2C2C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2065350"/>
            <a:ext cx="8222100" cy="1375200"/>
          </a:xfrm>
          <a:prstGeom prst="rect">
            <a:avLst/>
          </a:prstGeom>
        </p:spPr>
        <p:txBody>
          <a:bodyPr spcFirstLastPara="1" wrap="square" lIns="91425" tIns="91425" rIns="91425" bIns="91425" anchor="ctr" anchorCtr="0">
            <a:normAutofit/>
          </a:bodyPr>
          <a:lstStyle/>
          <a:p>
            <a:pPr lvl="0"/>
            <a:r>
              <a:rPr lang="en" b="1" dirty="0">
                <a:solidFill>
                  <a:schemeClr val="accent6"/>
                </a:solidFill>
              </a:rPr>
              <a:t>Product Marketing </a:t>
            </a:r>
            <a:r>
              <a:rPr lang="en" dirty="0"/>
              <a:t>On a Page </a:t>
            </a:r>
            <a:endParaRPr b="1" dirty="0">
              <a:solidFill>
                <a:schemeClr val="accent6"/>
              </a:solidFill>
            </a:endParaRPr>
          </a:p>
        </p:txBody>
      </p:sp>
    </p:spTree>
    <p:extLst>
      <p:ext uri="{BB962C8B-B14F-4D97-AF65-F5344CB8AC3E}">
        <p14:creationId xmlns:p14="http://schemas.microsoft.com/office/powerpoint/2010/main" val="2901989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47"/>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The Role of PMM on a Page</a:t>
            </a:r>
            <a:endParaRPr dirty="0"/>
          </a:p>
        </p:txBody>
      </p:sp>
      <p:sp>
        <p:nvSpPr>
          <p:cNvPr id="873" name="Google Shape;873;p47"/>
          <p:cNvSpPr/>
          <p:nvPr/>
        </p:nvSpPr>
        <p:spPr>
          <a:xfrm>
            <a:off x="94800" y="778250"/>
            <a:ext cx="2269800" cy="354300"/>
          </a:xfrm>
          <a:prstGeom prst="rect">
            <a:avLst/>
          </a:prstGeom>
          <a:solidFill>
            <a:schemeClr val="accent5"/>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rPr>
              <a:t>Disciplines</a:t>
            </a:r>
            <a:endParaRPr b="1">
              <a:solidFill>
                <a:srgbClr val="FFFFFF"/>
              </a:solidFill>
            </a:endParaRPr>
          </a:p>
        </p:txBody>
      </p:sp>
      <p:sp>
        <p:nvSpPr>
          <p:cNvPr id="874" name="Google Shape;874;p47"/>
          <p:cNvSpPr/>
          <p:nvPr/>
        </p:nvSpPr>
        <p:spPr>
          <a:xfrm>
            <a:off x="2410500" y="778250"/>
            <a:ext cx="4323000" cy="354300"/>
          </a:xfrm>
          <a:prstGeom prst="rect">
            <a:avLst/>
          </a:prstGeom>
          <a:solidFill>
            <a:schemeClr val="accent5"/>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rPr>
              <a:t>Key Stakeholders</a:t>
            </a:r>
            <a:endParaRPr b="1">
              <a:solidFill>
                <a:srgbClr val="FFFFFF"/>
              </a:solidFill>
            </a:endParaRPr>
          </a:p>
        </p:txBody>
      </p:sp>
      <p:sp>
        <p:nvSpPr>
          <p:cNvPr id="875" name="Google Shape;875;p47"/>
          <p:cNvSpPr/>
          <p:nvPr/>
        </p:nvSpPr>
        <p:spPr>
          <a:xfrm>
            <a:off x="6796650" y="778250"/>
            <a:ext cx="2269800" cy="354300"/>
          </a:xfrm>
          <a:prstGeom prst="rect">
            <a:avLst/>
          </a:prstGeom>
          <a:solidFill>
            <a:schemeClr val="accent5"/>
          </a:solid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rPr>
              <a:t>Process Interlocks</a:t>
            </a:r>
            <a:endParaRPr b="1">
              <a:solidFill>
                <a:srgbClr val="FFFFFF"/>
              </a:solidFill>
            </a:endParaRPr>
          </a:p>
        </p:txBody>
      </p:sp>
      <p:sp>
        <p:nvSpPr>
          <p:cNvPr id="876" name="Google Shape;876;p47"/>
          <p:cNvSpPr/>
          <p:nvPr/>
        </p:nvSpPr>
        <p:spPr>
          <a:xfrm>
            <a:off x="94800" y="2495550"/>
            <a:ext cx="6647400" cy="354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rPr>
              <a:t>Activities</a:t>
            </a:r>
            <a:endParaRPr b="1">
              <a:solidFill>
                <a:srgbClr val="FFFFFF"/>
              </a:solidFill>
            </a:endParaRPr>
          </a:p>
        </p:txBody>
      </p:sp>
      <p:sp>
        <p:nvSpPr>
          <p:cNvPr id="877" name="Google Shape;877;p47"/>
          <p:cNvSpPr/>
          <p:nvPr/>
        </p:nvSpPr>
        <p:spPr>
          <a:xfrm>
            <a:off x="6796650" y="2495550"/>
            <a:ext cx="2269800" cy="354300"/>
          </a:xfrm>
          <a:prstGeom prst="rect">
            <a:avLst/>
          </a:prstGeom>
          <a:solidFill>
            <a:srgbClr val="6AA84F"/>
          </a:solidFill>
          <a:ln w="9525"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rPr>
              <a:t>Success Metrics</a:t>
            </a:r>
            <a:endParaRPr b="1">
              <a:solidFill>
                <a:srgbClr val="FFFFFF"/>
              </a:solidFill>
            </a:endParaRPr>
          </a:p>
        </p:txBody>
      </p:sp>
      <p:sp>
        <p:nvSpPr>
          <p:cNvPr id="878" name="Google Shape;878;p47"/>
          <p:cNvSpPr/>
          <p:nvPr/>
        </p:nvSpPr>
        <p:spPr>
          <a:xfrm>
            <a:off x="2410500" y="1132550"/>
            <a:ext cx="2161500" cy="2910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accent5"/>
                </a:solidFill>
              </a:rPr>
              <a:t>Within Marketing</a:t>
            </a:r>
            <a:endParaRPr sz="1200" b="1">
              <a:solidFill>
                <a:schemeClr val="accent5"/>
              </a:solidFill>
            </a:endParaRPr>
          </a:p>
        </p:txBody>
      </p:sp>
      <p:sp>
        <p:nvSpPr>
          <p:cNvPr id="879" name="Google Shape;879;p47"/>
          <p:cNvSpPr/>
          <p:nvPr/>
        </p:nvSpPr>
        <p:spPr>
          <a:xfrm>
            <a:off x="4572000" y="1132550"/>
            <a:ext cx="2161500" cy="2910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accent5"/>
                </a:solidFill>
              </a:rPr>
              <a:t>Outside Marketing</a:t>
            </a:r>
            <a:endParaRPr sz="1200" b="1">
              <a:solidFill>
                <a:schemeClr val="accent5"/>
              </a:solidFill>
            </a:endParaRPr>
          </a:p>
        </p:txBody>
      </p:sp>
      <p:sp>
        <p:nvSpPr>
          <p:cNvPr id="880" name="Google Shape;880;p47"/>
          <p:cNvSpPr/>
          <p:nvPr/>
        </p:nvSpPr>
        <p:spPr>
          <a:xfrm>
            <a:off x="94800" y="1132550"/>
            <a:ext cx="2266500" cy="13212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84150" algn="l" rtl="0">
              <a:spcBef>
                <a:spcPts val="0"/>
              </a:spcBef>
              <a:spcAft>
                <a:spcPts val="0"/>
              </a:spcAft>
              <a:buClr>
                <a:schemeClr val="accent5"/>
              </a:buClr>
              <a:buSzPts val="1100"/>
              <a:buChar char="●"/>
            </a:pPr>
            <a:r>
              <a:rPr lang="en" sz="1100">
                <a:solidFill>
                  <a:schemeClr val="accent5"/>
                </a:solidFill>
              </a:rPr>
              <a:t>Segmentation and Targeting</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Persona Development</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Competitive Research</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Messaging</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GTM Strategy / Workflow</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Field Enablement</a:t>
            </a:r>
            <a:endParaRPr sz="1100">
              <a:solidFill>
                <a:schemeClr val="accent5"/>
              </a:solidFill>
            </a:endParaRPr>
          </a:p>
        </p:txBody>
      </p:sp>
      <p:sp>
        <p:nvSpPr>
          <p:cNvPr id="881" name="Google Shape;881;p47"/>
          <p:cNvSpPr/>
          <p:nvPr/>
        </p:nvSpPr>
        <p:spPr>
          <a:xfrm>
            <a:off x="2410500" y="1423550"/>
            <a:ext cx="2161500" cy="10302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84150" algn="l" rtl="0">
              <a:spcBef>
                <a:spcPts val="0"/>
              </a:spcBef>
              <a:spcAft>
                <a:spcPts val="0"/>
              </a:spcAft>
              <a:buClr>
                <a:schemeClr val="accent5"/>
              </a:buClr>
              <a:buSzPts val="1100"/>
              <a:buChar char="●"/>
            </a:pPr>
            <a:r>
              <a:rPr lang="en" sz="1100">
                <a:solidFill>
                  <a:schemeClr val="accent5"/>
                </a:solidFill>
              </a:rPr>
              <a:t>Content Strategy and Ops</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Field, Channel and Demand</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Brand and Comms</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Marketing Ops</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Campaigns and Programs</a:t>
            </a:r>
            <a:endParaRPr sz="1100">
              <a:solidFill>
                <a:schemeClr val="accent5"/>
              </a:solidFill>
            </a:endParaRPr>
          </a:p>
        </p:txBody>
      </p:sp>
      <p:sp>
        <p:nvSpPr>
          <p:cNvPr id="882" name="Google Shape;882;p47"/>
          <p:cNvSpPr/>
          <p:nvPr/>
        </p:nvSpPr>
        <p:spPr>
          <a:xfrm>
            <a:off x="6796650" y="1132550"/>
            <a:ext cx="2266500" cy="13212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84150" algn="l" rtl="0">
              <a:spcBef>
                <a:spcPts val="0"/>
              </a:spcBef>
              <a:spcAft>
                <a:spcPts val="0"/>
              </a:spcAft>
              <a:buClr>
                <a:schemeClr val="accent5"/>
              </a:buClr>
              <a:buSzPts val="1100"/>
              <a:buChar char="●"/>
            </a:pPr>
            <a:r>
              <a:rPr lang="en" sz="1100">
                <a:solidFill>
                  <a:schemeClr val="accent5"/>
                </a:solidFill>
              </a:rPr>
              <a:t>GTM Planning</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Campaign Planning</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Content Development</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Budgeting</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Field Enablement</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Influencer Strategy</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AR / PR Strategy</a:t>
            </a:r>
            <a:endParaRPr sz="1100">
              <a:solidFill>
                <a:schemeClr val="accent5"/>
              </a:solidFill>
            </a:endParaRPr>
          </a:p>
        </p:txBody>
      </p:sp>
      <p:sp>
        <p:nvSpPr>
          <p:cNvPr id="883" name="Google Shape;883;p47"/>
          <p:cNvSpPr/>
          <p:nvPr/>
        </p:nvSpPr>
        <p:spPr>
          <a:xfrm>
            <a:off x="4572000" y="1423550"/>
            <a:ext cx="2161500" cy="10302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84150" algn="l" rtl="0">
              <a:spcBef>
                <a:spcPts val="0"/>
              </a:spcBef>
              <a:spcAft>
                <a:spcPts val="0"/>
              </a:spcAft>
              <a:buClr>
                <a:schemeClr val="accent5"/>
              </a:buClr>
              <a:buSzPts val="1100"/>
              <a:buChar char="●"/>
            </a:pPr>
            <a:r>
              <a:rPr lang="en" sz="1100">
                <a:solidFill>
                  <a:schemeClr val="accent5"/>
                </a:solidFill>
              </a:rPr>
              <a:t>Field Leadership</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Sales Enablement Team</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Offering Management</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Legal</a:t>
            </a:r>
            <a:endParaRPr sz="1100">
              <a:solidFill>
                <a:schemeClr val="accent5"/>
              </a:solidFill>
            </a:endParaRPr>
          </a:p>
          <a:p>
            <a:pPr marL="228600" lvl="0" indent="-184150" algn="l" rtl="0">
              <a:spcBef>
                <a:spcPts val="0"/>
              </a:spcBef>
              <a:spcAft>
                <a:spcPts val="0"/>
              </a:spcAft>
              <a:buClr>
                <a:schemeClr val="accent5"/>
              </a:buClr>
              <a:buSzPts val="1100"/>
              <a:buChar char="●"/>
            </a:pPr>
            <a:r>
              <a:rPr lang="en" sz="1100">
                <a:solidFill>
                  <a:schemeClr val="accent5"/>
                </a:solidFill>
              </a:rPr>
              <a:t>Service and Support</a:t>
            </a:r>
            <a:endParaRPr sz="1100">
              <a:solidFill>
                <a:schemeClr val="accent5"/>
              </a:solidFill>
            </a:endParaRPr>
          </a:p>
        </p:txBody>
      </p:sp>
      <p:sp>
        <p:nvSpPr>
          <p:cNvPr id="884" name="Google Shape;884;p47"/>
          <p:cNvSpPr/>
          <p:nvPr/>
        </p:nvSpPr>
        <p:spPr>
          <a:xfrm>
            <a:off x="94800" y="2849850"/>
            <a:ext cx="1364400" cy="291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GTM Strategy</a:t>
            </a:r>
            <a:endParaRPr sz="1100" b="1">
              <a:solidFill>
                <a:schemeClr val="dk2"/>
              </a:solidFill>
            </a:endParaRPr>
          </a:p>
        </p:txBody>
      </p:sp>
      <p:sp>
        <p:nvSpPr>
          <p:cNvPr id="885" name="Google Shape;885;p47"/>
          <p:cNvSpPr/>
          <p:nvPr/>
        </p:nvSpPr>
        <p:spPr>
          <a:xfrm>
            <a:off x="94800" y="3140850"/>
            <a:ext cx="1364400" cy="19125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77800" algn="l" rtl="0">
              <a:spcBef>
                <a:spcPts val="0"/>
              </a:spcBef>
              <a:spcAft>
                <a:spcPts val="0"/>
              </a:spcAft>
              <a:buClr>
                <a:schemeClr val="dk2"/>
              </a:buClr>
              <a:buSzPts val="1000"/>
              <a:buChar char="●"/>
            </a:pPr>
            <a:r>
              <a:rPr lang="en" sz="1000">
                <a:solidFill>
                  <a:schemeClr val="dk2"/>
                </a:solidFill>
              </a:rPr>
              <a:t>Audience Segmentation</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Portfolio to Buyer’s Need Mapping</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GTM Framework </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Status and Reporting</a:t>
            </a:r>
            <a:endParaRPr sz="1000">
              <a:solidFill>
                <a:schemeClr val="dk2"/>
              </a:solidFill>
            </a:endParaRPr>
          </a:p>
        </p:txBody>
      </p:sp>
      <p:sp>
        <p:nvSpPr>
          <p:cNvPr id="886" name="Google Shape;886;p47"/>
          <p:cNvSpPr/>
          <p:nvPr/>
        </p:nvSpPr>
        <p:spPr>
          <a:xfrm>
            <a:off x="1459200" y="2849850"/>
            <a:ext cx="1249500" cy="291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Buyer Insights</a:t>
            </a:r>
            <a:endParaRPr sz="1100" b="1">
              <a:solidFill>
                <a:schemeClr val="dk2"/>
              </a:solidFill>
            </a:endParaRPr>
          </a:p>
        </p:txBody>
      </p:sp>
      <p:sp>
        <p:nvSpPr>
          <p:cNvPr id="887" name="Google Shape;887;p47"/>
          <p:cNvSpPr/>
          <p:nvPr/>
        </p:nvSpPr>
        <p:spPr>
          <a:xfrm>
            <a:off x="1459200" y="3140850"/>
            <a:ext cx="1249500" cy="19125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77800" algn="l" rtl="0">
              <a:spcBef>
                <a:spcPts val="0"/>
              </a:spcBef>
              <a:spcAft>
                <a:spcPts val="0"/>
              </a:spcAft>
              <a:buClr>
                <a:schemeClr val="dk2"/>
              </a:buClr>
              <a:buSzPts val="1000"/>
              <a:buChar char="●"/>
            </a:pPr>
            <a:r>
              <a:rPr lang="en" sz="1000">
                <a:solidFill>
                  <a:schemeClr val="dk2"/>
                </a:solidFill>
              </a:rPr>
              <a:t>Persona Development</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Buyer’s Journey Mapping</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Persona Specific Messaging</a:t>
            </a:r>
            <a:endParaRPr sz="1000">
              <a:solidFill>
                <a:schemeClr val="dk2"/>
              </a:solidFill>
            </a:endParaRPr>
          </a:p>
        </p:txBody>
      </p:sp>
      <p:sp>
        <p:nvSpPr>
          <p:cNvPr id="888" name="Google Shape;888;p47"/>
          <p:cNvSpPr/>
          <p:nvPr/>
        </p:nvSpPr>
        <p:spPr>
          <a:xfrm>
            <a:off x="2708700" y="2849850"/>
            <a:ext cx="1440900" cy="291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Messaging</a:t>
            </a:r>
            <a:endParaRPr sz="1100" b="1">
              <a:solidFill>
                <a:schemeClr val="dk2"/>
              </a:solidFill>
            </a:endParaRPr>
          </a:p>
        </p:txBody>
      </p:sp>
      <p:sp>
        <p:nvSpPr>
          <p:cNvPr id="889" name="Google Shape;889;p47"/>
          <p:cNvSpPr/>
          <p:nvPr/>
        </p:nvSpPr>
        <p:spPr>
          <a:xfrm>
            <a:off x="2708700" y="3140850"/>
            <a:ext cx="1440900" cy="19125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77800" algn="l" rtl="0">
              <a:spcBef>
                <a:spcPts val="0"/>
              </a:spcBef>
              <a:spcAft>
                <a:spcPts val="0"/>
              </a:spcAft>
              <a:buClr>
                <a:schemeClr val="dk2"/>
              </a:buClr>
              <a:buSzPts val="1000"/>
              <a:buChar char="●"/>
            </a:pPr>
            <a:r>
              <a:rPr lang="en" sz="1000">
                <a:solidFill>
                  <a:schemeClr val="dk2"/>
                </a:solidFill>
              </a:rPr>
              <a:t>Accurate and Complete Product Messaging Guide</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Value Props and Narratives</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Define content needs</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KPI Reporting</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Cross-Portfolio</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Blue-on-Blue if it makes sense</a:t>
            </a:r>
            <a:endParaRPr sz="1000">
              <a:solidFill>
                <a:schemeClr val="dk2"/>
              </a:solidFill>
            </a:endParaRPr>
          </a:p>
        </p:txBody>
      </p:sp>
      <p:sp>
        <p:nvSpPr>
          <p:cNvPr id="890" name="Google Shape;890;p47"/>
          <p:cNvSpPr/>
          <p:nvPr/>
        </p:nvSpPr>
        <p:spPr>
          <a:xfrm>
            <a:off x="4149600" y="2849850"/>
            <a:ext cx="1364400" cy="291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Offers to Market</a:t>
            </a:r>
            <a:endParaRPr sz="1100" b="1">
              <a:solidFill>
                <a:schemeClr val="dk2"/>
              </a:solidFill>
            </a:endParaRPr>
          </a:p>
        </p:txBody>
      </p:sp>
      <p:sp>
        <p:nvSpPr>
          <p:cNvPr id="891" name="Google Shape;891;p47"/>
          <p:cNvSpPr/>
          <p:nvPr/>
        </p:nvSpPr>
        <p:spPr>
          <a:xfrm>
            <a:off x="4149600" y="3140850"/>
            <a:ext cx="1364400" cy="19125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77800" algn="l" rtl="0">
              <a:spcBef>
                <a:spcPts val="0"/>
              </a:spcBef>
              <a:spcAft>
                <a:spcPts val="0"/>
              </a:spcAft>
              <a:buClr>
                <a:schemeClr val="dk2"/>
              </a:buClr>
              <a:buSzPts val="1000"/>
              <a:buChar char="●"/>
            </a:pPr>
            <a:r>
              <a:rPr lang="en" sz="1000">
                <a:solidFill>
                  <a:schemeClr val="dk2"/>
                </a:solidFill>
              </a:rPr>
              <a:t>Define Launch Tiers</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Define Launch Calendar</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Align to Campaigns and Programs</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Create, Execute, and Measure Launch Plan</a:t>
            </a:r>
            <a:endParaRPr sz="1000">
              <a:solidFill>
                <a:schemeClr val="dk2"/>
              </a:solidFill>
            </a:endParaRPr>
          </a:p>
        </p:txBody>
      </p:sp>
      <p:sp>
        <p:nvSpPr>
          <p:cNvPr id="892" name="Google Shape;892;p47"/>
          <p:cNvSpPr/>
          <p:nvPr/>
        </p:nvSpPr>
        <p:spPr>
          <a:xfrm>
            <a:off x="5512200" y="2849850"/>
            <a:ext cx="1230000" cy="291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Enablement</a:t>
            </a:r>
            <a:endParaRPr sz="1100" b="1">
              <a:solidFill>
                <a:schemeClr val="dk2"/>
              </a:solidFill>
            </a:endParaRPr>
          </a:p>
        </p:txBody>
      </p:sp>
      <p:sp>
        <p:nvSpPr>
          <p:cNvPr id="893" name="Google Shape;893;p47"/>
          <p:cNvSpPr/>
          <p:nvPr/>
        </p:nvSpPr>
        <p:spPr>
          <a:xfrm>
            <a:off x="5512200" y="3140850"/>
            <a:ext cx="1230000" cy="1912500"/>
          </a:xfrm>
          <a:prstGeom prst="rect">
            <a:avLst/>
          </a:prstGeom>
          <a:noFill/>
          <a:ln w="9525" cap="flat" cmpd="sng">
            <a:solidFill>
              <a:srgbClr val="073763"/>
            </a:solidFill>
            <a:prstDash val="solid"/>
            <a:round/>
            <a:headEnd type="none" w="sm" len="sm"/>
            <a:tailEnd type="none" w="sm" len="sm"/>
          </a:ln>
        </p:spPr>
        <p:txBody>
          <a:bodyPr spcFirstLastPara="1" wrap="square" lIns="91425" tIns="91425" rIns="91425" bIns="91425" anchor="t" anchorCtr="0">
            <a:noAutofit/>
          </a:bodyPr>
          <a:lstStyle/>
          <a:p>
            <a:pPr marL="228600" lvl="0" indent="-177800" algn="l" rtl="0">
              <a:spcBef>
                <a:spcPts val="0"/>
              </a:spcBef>
              <a:spcAft>
                <a:spcPts val="0"/>
              </a:spcAft>
              <a:buClr>
                <a:schemeClr val="dk2"/>
              </a:buClr>
              <a:buSzPts val="1000"/>
              <a:buChar char="●"/>
            </a:pPr>
            <a:r>
              <a:rPr lang="en" sz="1000">
                <a:solidFill>
                  <a:schemeClr val="dk2"/>
                </a:solidFill>
              </a:rPr>
              <a:t>Stage-Based Enablement</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Content and Messaging for Targeted Personas</a:t>
            </a:r>
            <a:endParaRPr sz="1000">
              <a:solidFill>
                <a:schemeClr val="dk2"/>
              </a:solidFill>
            </a:endParaRPr>
          </a:p>
          <a:p>
            <a:pPr marL="228600" lvl="0" indent="-177800" algn="l" rtl="0">
              <a:spcBef>
                <a:spcPts val="0"/>
              </a:spcBef>
              <a:spcAft>
                <a:spcPts val="0"/>
              </a:spcAft>
              <a:buClr>
                <a:schemeClr val="dk2"/>
              </a:buClr>
              <a:buSzPts val="1000"/>
              <a:buChar char="●"/>
            </a:pPr>
            <a:r>
              <a:rPr lang="en" sz="1000">
                <a:solidFill>
                  <a:schemeClr val="dk2"/>
                </a:solidFill>
              </a:rPr>
              <a:t>Participation Rate and Asset Perf. Tracking</a:t>
            </a:r>
            <a:endParaRPr sz="1000">
              <a:solidFill>
                <a:schemeClr val="dk2"/>
              </a:solidFill>
            </a:endParaRPr>
          </a:p>
        </p:txBody>
      </p:sp>
      <p:sp>
        <p:nvSpPr>
          <p:cNvPr id="894" name="Google Shape;894;p47"/>
          <p:cNvSpPr/>
          <p:nvPr/>
        </p:nvSpPr>
        <p:spPr>
          <a:xfrm>
            <a:off x="6796650" y="2849850"/>
            <a:ext cx="2266500" cy="22035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228600" lvl="0" indent="-171450" algn="l" rtl="0">
              <a:spcBef>
                <a:spcPts val="0"/>
              </a:spcBef>
              <a:spcAft>
                <a:spcPts val="0"/>
              </a:spcAft>
              <a:buClr>
                <a:schemeClr val="accent2"/>
              </a:buClr>
              <a:buSzPts val="900"/>
              <a:buChar char="●"/>
            </a:pPr>
            <a:r>
              <a:rPr lang="en" sz="900">
                <a:solidFill>
                  <a:schemeClr val="accent2"/>
                </a:solidFill>
              </a:rPr>
              <a:t>Revenue / Win Target</a:t>
            </a:r>
            <a:endParaRPr sz="700">
              <a:solidFill>
                <a:schemeClr val="accent2"/>
              </a:solidFill>
            </a:endParaRPr>
          </a:p>
          <a:p>
            <a:pPr marL="228600" lvl="0" indent="-171450" algn="l" rtl="0">
              <a:spcBef>
                <a:spcPts val="0"/>
              </a:spcBef>
              <a:spcAft>
                <a:spcPts val="0"/>
              </a:spcAft>
              <a:buClr>
                <a:schemeClr val="accent2"/>
              </a:buClr>
              <a:buSzPts val="900"/>
              <a:buChar char="●"/>
            </a:pPr>
            <a:r>
              <a:rPr lang="en" sz="900">
                <a:solidFill>
                  <a:schemeClr val="accent2"/>
                </a:solidFill>
              </a:rPr>
              <a:t>GTM Initiatives</a:t>
            </a:r>
            <a:endParaRPr sz="9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Pipeline Value, Volume &amp; Velocity</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Win Rates, Conversion Rates</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AR, PR, Influencer Amplification</a:t>
            </a:r>
            <a:endParaRPr sz="700">
              <a:solidFill>
                <a:schemeClr val="accent2"/>
              </a:solidFill>
            </a:endParaRPr>
          </a:p>
          <a:p>
            <a:pPr marL="228600" lvl="0" indent="-142875" algn="l" rtl="0">
              <a:spcBef>
                <a:spcPts val="0"/>
              </a:spcBef>
              <a:spcAft>
                <a:spcPts val="0"/>
              </a:spcAft>
              <a:buClr>
                <a:schemeClr val="accent2"/>
              </a:buClr>
              <a:buSzPts val="900"/>
              <a:buChar char="●"/>
            </a:pPr>
            <a:r>
              <a:rPr lang="en" sz="900">
                <a:solidFill>
                  <a:schemeClr val="accent2"/>
                </a:solidFill>
              </a:rPr>
              <a:t>Enablement</a:t>
            </a:r>
            <a:endParaRPr sz="9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Asset Utilization</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Rep Participation Rates</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Deal Cycles, Win/Loss Ratios</a:t>
            </a:r>
            <a:endParaRPr sz="700">
              <a:solidFill>
                <a:schemeClr val="accent2"/>
              </a:solidFill>
            </a:endParaRPr>
          </a:p>
          <a:p>
            <a:pPr marL="228600" lvl="0" indent="-142875" algn="l" rtl="0">
              <a:spcBef>
                <a:spcPts val="0"/>
              </a:spcBef>
              <a:spcAft>
                <a:spcPts val="0"/>
              </a:spcAft>
              <a:buClr>
                <a:schemeClr val="accent2"/>
              </a:buClr>
              <a:buSzPts val="900"/>
              <a:buChar char="●"/>
            </a:pPr>
            <a:r>
              <a:rPr lang="en" sz="900">
                <a:solidFill>
                  <a:schemeClr val="accent2"/>
                </a:solidFill>
              </a:rPr>
              <a:t>Marketing Support</a:t>
            </a:r>
            <a:endParaRPr sz="9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Campaign Performance</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Site Traffic / Social</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MQLs and SQLs </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Win/Loss Ratios</a:t>
            </a:r>
            <a:endParaRPr sz="700">
              <a:solidFill>
                <a:schemeClr val="accent2"/>
              </a:solidFill>
            </a:endParaRPr>
          </a:p>
          <a:p>
            <a:pPr marL="228600" lvl="0" indent="-142875" algn="l" rtl="0">
              <a:spcBef>
                <a:spcPts val="0"/>
              </a:spcBef>
              <a:spcAft>
                <a:spcPts val="0"/>
              </a:spcAft>
              <a:buClr>
                <a:schemeClr val="accent2"/>
              </a:buClr>
              <a:buSzPts val="900"/>
              <a:buChar char="●"/>
            </a:pPr>
            <a:r>
              <a:rPr lang="en" sz="900">
                <a:solidFill>
                  <a:schemeClr val="accent2"/>
                </a:solidFill>
              </a:rPr>
              <a:t>Product / Feature Adoption</a:t>
            </a:r>
            <a:endParaRPr sz="9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Onboarding Data</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Feature Adoption</a:t>
            </a:r>
            <a:endParaRPr sz="700">
              <a:solidFill>
                <a:schemeClr val="accent2"/>
              </a:solidFill>
            </a:endParaRPr>
          </a:p>
          <a:p>
            <a:pPr marL="371475" lvl="1" indent="-101600" algn="l" rtl="0">
              <a:spcBef>
                <a:spcPts val="0"/>
              </a:spcBef>
              <a:spcAft>
                <a:spcPts val="0"/>
              </a:spcAft>
              <a:buClr>
                <a:schemeClr val="accent2"/>
              </a:buClr>
              <a:buSzPts val="700"/>
              <a:buChar char="○"/>
            </a:pPr>
            <a:r>
              <a:rPr lang="en" sz="700">
                <a:solidFill>
                  <a:schemeClr val="accent2"/>
                </a:solidFill>
              </a:rPr>
              <a:t>Churn Rates</a:t>
            </a:r>
            <a:endParaRPr sz="700">
              <a:solidFill>
                <a:schemeClr val="accent2"/>
              </a:solidFill>
            </a:endParaRPr>
          </a:p>
          <a:p>
            <a:pPr marL="457200" lvl="0" indent="0" algn="l" rtl="0">
              <a:spcBef>
                <a:spcPts val="0"/>
              </a:spcBef>
              <a:spcAft>
                <a:spcPts val="0"/>
              </a:spcAft>
              <a:buNone/>
            </a:pPr>
            <a:endParaRPr sz="800">
              <a:solidFill>
                <a:schemeClr val="accent2"/>
              </a:solidFill>
            </a:endParaRPr>
          </a:p>
          <a:p>
            <a:pPr marL="457200" lvl="0" indent="0" algn="l" rtl="0">
              <a:spcBef>
                <a:spcPts val="0"/>
              </a:spcBef>
              <a:spcAft>
                <a:spcPts val="0"/>
              </a:spcAft>
              <a:buNone/>
            </a:pPr>
            <a:endParaRPr sz="800">
              <a:solidFill>
                <a:schemeClr val="accent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460950" y="2065350"/>
            <a:ext cx="8222100" cy="1375200"/>
          </a:xfrm>
          <a:prstGeom prst="rect">
            <a:avLst/>
          </a:prstGeom>
        </p:spPr>
        <p:txBody>
          <a:bodyPr spcFirstLastPara="1" wrap="square" lIns="91425" tIns="91425" rIns="91425" bIns="91425" anchor="ctr" anchorCtr="0">
            <a:normAutofit fontScale="90000"/>
          </a:bodyPr>
          <a:lstStyle/>
          <a:p>
            <a:pPr lvl="0"/>
            <a:r>
              <a:rPr lang="en" b="1" dirty="0">
                <a:solidFill>
                  <a:schemeClr val="accent6"/>
                </a:solidFill>
              </a:rPr>
              <a:t>IBM Storage Product Marketing </a:t>
            </a:r>
            <a:r>
              <a:rPr lang="en" dirty="0"/>
              <a:t>Deliverables </a:t>
            </a:r>
            <a:endParaRPr b="1" dirty="0">
              <a:solidFill>
                <a:schemeClr val="accent6"/>
              </a:solidFill>
            </a:endParaRPr>
          </a:p>
        </p:txBody>
      </p:sp>
    </p:spTree>
    <p:extLst>
      <p:ext uri="{BB962C8B-B14F-4D97-AF65-F5344CB8AC3E}">
        <p14:creationId xmlns:p14="http://schemas.microsoft.com/office/powerpoint/2010/main" val="2443146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48"/>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Standard PMM Bill of Materials</a:t>
            </a:r>
            <a:endParaRPr/>
          </a:p>
        </p:txBody>
      </p:sp>
      <p:sp>
        <p:nvSpPr>
          <p:cNvPr id="900" name="Google Shape;900;p48"/>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basic set of deliverables a product-focused Product Marketing Manager is responsible for.</a:t>
            </a:r>
            <a:endParaRPr/>
          </a:p>
          <a:p>
            <a:pPr marL="0" lvl="0" indent="0" algn="l" rtl="0">
              <a:spcBef>
                <a:spcPts val="1200"/>
              </a:spcBef>
              <a:spcAft>
                <a:spcPts val="1200"/>
              </a:spcAft>
              <a:buNone/>
            </a:pPr>
            <a:r>
              <a:rPr lang="en"/>
              <a:t>This is just a basic list - more items may come and go depending on the effort, project, and/or task.</a:t>
            </a:r>
            <a:endParaRPr/>
          </a:p>
        </p:txBody>
      </p:sp>
      <p:sp>
        <p:nvSpPr>
          <p:cNvPr id="901" name="Google Shape;901;p48"/>
          <p:cNvSpPr txBox="1">
            <a:spLocks noGrp="1"/>
          </p:cNvSpPr>
          <p:nvPr>
            <p:ph type="body" idx="1"/>
          </p:nvPr>
        </p:nvSpPr>
        <p:spPr>
          <a:xfrm>
            <a:off x="3909300" y="156750"/>
            <a:ext cx="3868800"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a:solidFill>
                  <a:schemeClr val="dk2"/>
                </a:solidFill>
              </a:rPr>
              <a:t>The Product / Solution </a:t>
            </a:r>
            <a:r>
              <a:rPr lang="en">
                <a:solidFill>
                  <a:schemeClr val="dk2"/>
                </a:solidFill>
              </a:rPr>
              <a:t>messaging guide</a:t>
            </a:r>
            <a:endParaRPr>
              <a:solidFill>
                <a:schemeClr val="dk2"/>
              </a:solidFill>
            </a:endParaRPr>
          </a:p>
        </p:txBody>
      </p:sp>
      <p:sp>
        <p:nvSpPr>
          <p:cNvPr id="902" name="Google Shape;902;p48"/>
          <p:cNvSpPr txBox="1">
            <a:spLocks noGrp="1"/>
          </p:cNvSpPr>
          <p:nvPr>
            <p:ph type="body" idx="1"/>
          </p:nvPr>
        </p:nvSpPr>
        <p:spPr>
          <a:xfrm>
            <a:off x="3909300" y="645557"/>
            <a:ext cx="3868800"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a:solidFill>
                  <a:schemeClr val="dk2"/>
                </a:solidFill>
              </a:rPr>
              <a:t>All Core Sales Enablement</a:t>
            </a:r>
            <a:r>
              <a:rPr lang="en">
                <a:solidFill>
                  <a:schemeClr val="dk2"/>
                </a:solidFill>
              </a:rPr>
              <a:t> assets by sales stage</a:t>
            </a:r>
            <a:endParaRPr>
              <a:solidFill>
                <a:schemeClr val="dk2"/>
              </a:solidFill>
            </a:endParaRPr>
          </a:p>
        </p:txBody>
      </p:sp>
      <p:sp>
        <p:nvSpPr>
          <p:cNvPr id="903" name="Google Shape;903;p48"/>
          <p:cNvSpPr txBox="1">
            <a:spLocks noGrp="1"/>
          </p:cNvSpPr>
          <p:nvPr>
            <p:ph type="body" idx="1"/>
          </p:nvPr>
        </p:nvSpPr>
        <p:spPr>
          <a:xfrm>
            <a:off x="3909300" y="1134364"/>
            <a:ext cx="5234700"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a:solidFill>
                  <a:schemeClr val="dk2"/>
                </a:solidFill>
              </a:rPr>
              <a:t>GTM Strategy</a:t>
            </a:r>
            <a:r>
              <a:rPr lang="en">
                <a:solidFill>
                  <a:schemeClr val="dk2"/>
                </a:solidFill>
              </a:rPr>
              <a:t> - the single source of business growth truth</a:t>
            </a:r>
            <a:endParaRPr>
              <a:solidFill>
                <a:schemeClr val="dk2"/>
              </a:solidFill>
            </a:endParaRPr>
          </a:p>
        </p:txBody>
      </p:sp>
      <p:sp>
        <p:nvSpPr>
          <p:cNvPr id="904" name="Google Shape;904;p48"/>
          <p:cNvSpPr txBox="1">
            <a:spLocks noGrp="1"/>
          </p:cNvSpPr>
          <p:nvPr>
            <p:ph type="body" idx="1"/>
          </p:nvPr>
        </p:nvSpPr>
        <p:spPr>
          <a:xfrm>
            <a:off x="3909300" y="1623172"/>
            <a:ext cx="5234700"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a:solidFill>
                  <a:schemeClr val="dk2"/>
                </a:solidFill>
              </a:rPr>
              <a:t>AR, PR, Influencer Presentations</a:t>
            </a:r>
            <a:r>
              <a:rPr lang="en">
                <a:solidFill>
                  <a:schemeClr val="dk2"/>
                </a:solidFill>
              </a:rPr>
              <a:t> product demonstrations (recorded)</a:t>
            </a:r>
            <a:endParaRPr>
              <a:solidFill>
                <a:schemeClr val="dk2"/>
              </a:solidFill>
            </a:endParaRPr>
          </a:p>
        </p:txBody>
      </p:sp>
      <p:sp>
        <p:nvSpPr>
          <p:cNvPr id="905" name="Google Shape;905;p48"/>
          <p:cNvSpPr txBox="1">
            <a:spLocks noGrp="1"/>
          </p:cNvSpPr>
          <p:nvPr>
            <p:ph type="body" idx="1"/>
          </p:nvPr>
        </p:nvSpPr>
        <p:spPr>
          <a:xfrm>
            <a:off x="3909300" y="2111979"/>
            <a:ext cx="5234700" cy="534300"/>
          </a:xfrm>
          <a:prstGeom prst="rect">
            <a:avLst/>
          </a:prstGeom>
        </p:spPr>
        <p:txBody>
          <a:bodyPr spcFirstLastPara="1" wrap="square" lIns="91425" tIns="91425" rIns="91425" bIns="91425" anchor="ctr" anchorCtr="0">
            <a:normAutofit fontScale="92500"/>
          </a:bodyPr>
          <a:lstStyle/>
          <a:p>
            <a:pPr marL="114300" lvl="0" indent="-190500" algn="l" rtl="0">
              <a:spcBef>
                <a:spcPts val="0"/>
              </a:spcBef>
              <a:spcAft>
                <a:spcPts val="0"/>
              </a:spcAft>
              <a:buClr>
                <a:schemeClr val="dk2"/>
              </a:buClr>
              <a:buSzPts val="1200"/>
              <a:buChar char="●"/>
            </a:pPr>
            <a:r>
              <a:rPr lang="en" b="1">
                <a:solidFill>
                  <a:schemeClr val="dk2"/>
                </a:solidFill>
              </a:rPr>
              <a:t>Product Maturity Model</a:t>
            </a:r>
            <a:r>
              <a:rPr lang="en">
                <a:solidFill>
                  <a:schemeClr val="dk2"/>
                </a:solidFill>
              </a:rPr>
              <a:t> or other self-assessment with recommendations</a:t>
            </a:r>
            <a:endParaRPr>
              <a:solidFill>
                <a:schemeClr val="dk2"/>
              </a:solidFill>
            </a:endParaRPr>
          </a:p>
        </p:txBody>
      </p:sp>
      <p:sp>
        <p:nvSpPr>
          <p:cNvPr id="906" name="Google Shape;906;p48"/>
          <p:cNvSpPr txBox="1">
            <a:spLocks noGrp="1"/>
          </p:cNvSpPr>
          <p:nvPr>
            <p:ph type="body" idx="1"/>
          </p:nvPr>
        </p:nvSpPr>
        <p:spPr>
          <a:xfrm>
            <a:off x="3909300" y="2600786"/>
            <a:ext cx="5234700"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a:solidFill>
                  <a:schemeClr val="dk2"/>
                </a:solidFill>
              </a:rPr>
              <a:t>Standard EBC Presentation </a:t>
            </a:r>
            <a:r>
              <a:rPr lang="en">
                <a:solidFill>
                  <a:schemeClr val="dk2"/>
                </a:solidFill>
              </a:rPr>
              <a:t>with customer-facing product roadmap</a:t>
            </a:r>
            <a:endParaRPr>
              <a:solidFill>
                <a:schemeClr val="dk2"/>
              </a:solidFill>
            </a:endParaRPr>
          </a:p>
        </p:txBody>
      </p:sp>
      <p:sp>
        <p:nvSpPr>
          <p:cNvPr id="907" name="Google Shape;907;p48"/>
          <p:cNvSpPr txBox="1">
            <a:spLocks noGrp="1"/>
          </p:cNvSpPr>
          <p:nvPr>
            <p:ph type="body" idx="1"/>
          </p:nvPr>
        </p:nvSpPr>
        <p:spPr>
          <a:xfrm>
            <a:off x="3909300" y="3578401"/>
            <a:ext cx="3868800" cy="534300"/>
          </a:xfrm>
          <a:prstGeom prst="rect">
            <a:avLst/>
          </a:prstGeom>
        </p:spPr>
        <p:txBody>
          <a:bodyPr spcFirstLastPara="1" wrap="square" lIns="91425" tIns="91425" rIns="91425" bIns="91425" anchor="ctr" anchorCtr="0">
            <a:normAutofit/>
          </a:bodyPr>
          <a:lstStyle/>
          <a:p>
            <a:pPr marL="114300" lvl="0" indent="-190500" algn="l" rtl="0">
              <a:spcBef>
                <a:spcPts val="0"/>
              </a:spcBef>
              <a:spcAft>
                <a:spcPts val="0"/>
              </a:spcAft>
              <a:buClr>
                <a:schemeClr val="dk2"/>
              </a:buClr>
              <a:buSzPts val="1200"/>
              <a:buChar char="●"/>
            </a:pPr>
            <a:r>
              <a:rPr lang="en" b="1">
                <a:solidFill>
                  <a:schemeClr val="dk2"/>
                </a:solidFill>
              </a:rPr>
              <a:t>Launch Delta </a:t>
            </a:r>
            <a:r>
              <a:rPr lang="en">
                <a:solidFill>
                  <a:schemeClr val="dk2"/>
                </a:solidFill>
              </a:rPr>
              <a:t>messaging and copy blocks</a:t>
            </a:r>
            <a:endParaRPr>
              <a:solidFill>
                <a:schemeClr val="dk2"/>
              </a:solidFill>
            </a:endParaRPr>
          </a:p>
        </p:txBody>
      </p:sp>
      <p:sp>
        <p:nvSpPr>
          <p:cNvPr id="908" name="Google Shape;908;p48"/>
          <p:cNvSpPr txBox="1">
            <a:spLocks noGrp="1"/>
          </p:cNvSpPr>
          <p:nvPr>
            <p:ph type="body" idx="1"/>
          </p:nvPr>
        </p:nvSpPr>
        <p:spPr>
          <a:xfrm>
            <a:off x="3909300" y="4067200"/>
            <a:ext cx="5234700" cy="534300"/>
          </a:xfrm>
          <a:prstGeom prst="rect">
            <a:avLst/>
          </a:prstGeom>
        </p:spPr>
        <p:txBody>
          <a:bodyPr spcFirstLastPara="1" wrap="square" lIns="91425" tIns="91425" rIns="91425" bIns="91425" anchor="ctr" anchorCtr="0">
            <a:normAutofit fontScale="85000" lnSpcReduction="20000"/>
          </a:bodyPr>
          <a:lstStyle/>
          <a:p>
            <a:pPr marL="114300" lvl="0" indent="-179070" algn="l" rtl="0">
              <a:spcBef>
                <a:spcPts val="0"/>
              </a:spcBef>
              <a:spcAft>
                <a:spcPts val="0"/>
              </a:spcAft>
              <a:buClr>
                <a:schemeClr val="dk2"/>
              </a:buClr>
              <a:buSzPct val="83606"/>
              <a:buChar char="●"/>
            </a:pPr>
            <a:r>
              <a:rPr lang="en" sz="1435" b="1">
                <a:solidFill>
                  <a:schemeClr val="dk2"/>
                </a:solidFill>
              </a:rPr>
              <a:t>Launch Presentation</a:t>
            </a:r>
            <a:r>
              <a:rPr lang="en" sz="1435">
                <a:solidFill>
                  <a:schemeClr val="dk2"/>
                </a:solidFill>
              </a:rPr>
              <a:t> </a:t>
            </a:r>
            <a:r>
              <a:rPr lang="en">
                <a:solidFill>
                  <a:schemeClr val="dk2"/>
                </a:solidFill>
              </a:rPr>
              <a:t>(visual representation of launch deliverables across all functions and on a delivery schedule)</a:t>
            </a:r>
            <a:endParaRPr>
              <a:solidFill>
                <a:schemeClr val="dk2"/>
              </a:solidFill>
            </a:endParaRPr>
          </a:p>
        </p:txBody>
      </p:sp>
      <p:sp>
        <p:nvSpPr>
          <p:cNvPr id="909" name="Google Shape;909;p48"/>
          <p:cNvSpPr txBox="1">
            <a:spLocks noGrp="1"/>
          </p:cNvSpPr>
          <p:nvPr>
            <p:ph type="body" idx="1"/>
          </p:nvPr>
        </p:nvSpPr>
        <p:spPr>
          <a:xfrm>
            <a:off x="3909300" y="4556015"/>
            <a:ext cx="5234700" cy="534300"/>
          </a:xfrm>
          <a:prstGeom prst="rect">
            <a:avLst/>
          </a:prstGeom>
        </p:spPr>
        <p:txBody>
          <a:bodyPr spcFirstLastPara="1" wrap="square" lIns="91425" tIns="91425" rIns="91425" bIns="91425" anchor="ctr" anchorCtr="0">
            <a:normAutofit fontScale="92500"/>
          </a:bodyPr>
          <a:lstStyle/>
          <a:p>
            <a:pPr marL="114300" lvl="0" indent="-190500" algn="l" rtl="0">
              <a:spcBef>
                <a:spcPts val="0"/>
              </a:spcBef>
              <a:spcAft>
                <a:spcPts val="0"/>
              </a:spcAft>
              <a:buClr>
                <a:schemeClr val="dk2"/>
              </a:buClr>
              <a:buSzPts val="1200"/>
              <a:buChar char="●"/>
            </a:pPr>
            <a:r>
              <a:rPr lang="en" b="1">
                <a:solidFill>
                  <a:schemeClr val="dk2"/>
                </a:solidFill>
              </a:rPr>
              <a:t>Launch Pitch Deck</a:t>
            </a:r>
            <a:r>
              <a:rPr lang="en">
                <a:solidFill>
                  <a:schemeClr val="dk2"/>
                </a:solidFill>
              </a:rPr>
              <a:t> </a:t>
            </a:r>
            <a:r>
              <a:rPr lang="en" sz="1000">
                <a:solidFill>
                  <a:schemeClr val="dk2"/>
                </a:solidFill>
              </a:rPr>
              <a:t>(for analyst, press, influencer briefings and global spokesperson enablement and amplification)</a:t>
            </a:r>
            <a:endParaRPr sz="1000">
              <a:solidFill>
                <a:schemeClr val="dk2"/>
              </a:solidFill>
            </a:endParaRPr>
          </a:p>
        </p:txBody>
      </p:sp>
      <p:sp>
        <p:nvSpPr>
          <p:cNvPr id="910" name="Google Shape;910;p48"/>
          <p:cNvSpPr txBox="1">
            <a:spLocks noGrp="1"/>
          </p:cNvSpPr>
          <p:nvPr>
            <p:ph type="body" idx="1"/>
          </p:nvPr>
        </p:nvSpPr>
        <p:spPr>
          <a:xfrm>
            <a:off x="3279850" y="3089593"/>
            <a:ext cx="3868800" cy="534300"/>
          </a:xfrm>
          <a:prstGeom prst="rect">
            <a:avLst/>
          </a:prstGeom>
        </p:spPr>
        <p:txBody>
          <a:bodyPr spcFirstLastPara="1" wrap="square" lIns="91425" tIns="91425" rIns="91425" bIns="91425" anchor="ctr" anchorCtr="0">
            <a:normAutofit fontScale="92500" lnSpcReduction="20000"/>
          </a:bodyPr>
          <a:lstStyle/>
          <a:p>
            <a:pPr marL="0" lvl="0" indent="0" algn="l" rtl="0">
              <a:spcBef>
                <a:spcPts val="0"/>
              </a:spcBef>
              <a:spcAft>
                <a:spcPts val="1200"/>
              </a:spcAft>
              <a:buNone/>
            </a:pPr>
            <a:r>
              <a:rPr lang="en" sz="1400" b="1">
                <a:solidFill>
                  <a:schemeClr val="dk2"/>
                </a:solidFill>
              </a:rPr>
              <a:t>Special Items for Product / Solution Launches</a:t>
            </a:r>
            <a:endParaRPr sz="1400">
              <a:solidFill>
                <a:schemeClr val="dk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49"/>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The Product Messaging Guide</a:t>
            </a:r>
            <a:endParaRPr/>
          </a:p>
        </p:txBody>
      </p:sp>
      <p:sp>
        <p:nvSpPr>
          <p:cNvPr id="916" name="Google Shape;916;p49"/>
          <p:cNvSpPr txBox="1">
            <a:spLocks noGrp="1"/>
          </p:cNvSpPr>
          <p:nvPr>
            <p:ph type="body" idx="1"/>
          </p:nvPr>
        </p:nvSpPr>
        <p:spPr>
          <a:xfrm>
            <a:off x="226075" y="1465800"/>
            <a:ext cx="2942128"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This is the single source of marketing truth for the storage products that are considered “Growth Targets” by the business.</a:t>
            </a:r>
          </a:p>
        </p:txBody>
      </p:sp>
      <p:pic>
        <p:nvPicPr>
          <p:cNvPr id="917" name="Google Shape;917;p49"/>
          <p:cNvPicPr preferRelativeResize="0"/>
          <p:nvPr/>
        </p:nvPicPr>
        <p:blipFill>
          <a:blip r:embed="rId3">
            <a:alphaModFix/>
          </a:blip>
          <a:stretch>
            <a:fillRect/>
          </a:stretch>
        </p:blipFill>
        <p:spPr>
          <a:xfrm>
            <a:off x="3860453" y="152400"/>
            <a:ext cx="4637867" cy="4838699"/>
          </a:xfrm>
          <a:prstGeom prst="rect">
            <a:avLst/>
          </a:prstGeom>
          <a:noFill/>
          <a:ln w="9525" cap="flat" cmpd="sng">
            <a:solidFill>
              <a:schemeClr val="lt2"/>
            </a:solidFill>
            <a:prstDash val="solid"/>
            <a:round/>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50"/>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Stage-Based Sales Enablement</a:t>
            </a:r>
            <a:endParaRPr/>
          </a:p>
        </p:txBody>
      </p:sp>
      <p:sp>
        <p:nvSpPr>
          <p:cNvPr id="923" name="Google Shape;923;p50"/>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With a complete product messaging guide, you can copy/paste your way to creating every key sales asset to enable our field to transact deals faster!</a:t>
            </a:r>
            <a:endParaRPr/>
          </a:p>
        </p:txBody>
      </p:sp>
      <p:pic>
        <p:nvPicPr>
          <p:cNvPr id="924" name="Google Shape;924;p50"/>
          <p:cNvPicPr preferRelativeResize="0"/>
          <p:nvPr/>
        </p:nvPicPr>
        <p:blipFill>
          <a:blip r:embed="rId3">
            <a:alphaModFix/>
          </a:blip>
          <a:stretch>
            <a:fillRect/>
          </a:stretch>
        </p:blipFill>
        <p:spPr>
          <a:xfrm>
            <a:off x="3403062" y="990000"/>
            <a:ext cx="5624013" cy="3163501"/>
          </a:xfrm>
          <a:prstGeom prst="rect">
            <a:avLst/>
          </a:prstGeom>
          <a:noFill/>
          <a:ln w="9525" cap="flat" cmpd="sng">
            <a:solidFill>
              <a:schemeClr val="lt2"/>
            </a:solidFill>
            <a:prstDash val="solid"/>
            <a:round/>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8"/>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Questions</a:t>
            </a:r>
            <a:endParaRPr/>
          </a:p>
        </p:txBody>
      </p:sp>
      <p:sp>
        <p:nvSpPr>
          <p:cNvPr id="257" name="Google Shape;257;p28"/>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t>I know you must have some.</a:t>
            </a:r>
            <a:r>
              <a:rPr lang="en" sz="1400" b="1"/>
              <a:t> </a:t>
            </a:r>
            <a:r>
              <a:rPr lang="en" sz="1400"/>
              <a:t>If you don’t, I get to ask you something</a:t>
            </a:r>
            <a:endParaRPr sz="1400"/>
          </a:p>
        </p:txBody>
      </p:sp>
      <p:pic>
        <p:nvPicPr>
          <p:cNvPr id="258" name="Google Shape;258;p28"/>
          <p:cNvPicPr preferRelativeResize="0"/>
          <p:nvPr/>
        </p:nvPicPr>
        <p:blipFill rotWithShape="1">
          <a:blip r:embed="rId3">
            <a:alphaModFix/>
          </a:blip>
          <a:srcRect l="11942" r="11942"/>
          <a:stretch/>
        </p:blipFill>
        <p:spPr>
          <a:xfrm>
            <a:off x="3274676" y="0"/>
            <a:ext cx="5869325" cy="5143504"/>
          </a:xfrm>
          <a:prstGeom prst="rect">
            <a:avLst/>
          </a:prstGeom>
          <a:noFill/>
          <a:ln>
            <a:noFill/>
          </a:ln>
        </p:spPr>
      </p:pic>
    </p:spTree>
    <p:extLst>
      <p:ext uri="{BB962C8B-B14F-4D97-AF65-F5344CB8AC3E}">
        <p14:creationId xmlns:p14="http://schemas.microsoft.com/office/powerpoint/2010/main" val="3603648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51"/>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That’s It</a:t>
            </a:r>
            <a:endParaRPr/>
          </a:p>
        </p:txBody>
      </p:sp>
      <p:sp>
        <p:nvSpPr>
          <p:cNvPr id="930" name="Google Shape;930;p51"/>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t>Let’s Talk About This</a:t>
            </a:r>
            <a:endParaRPr sz="1400"/>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13985</TotalTime>
  <Words>5604</Words>
  <Application>Microsoft Macintosh PowerPoint</Application>
  <PresentationFormat>On-screen Show (16:9)</PresentationFormat>
  <Paragraphs>591</Paragraphs>
  <Slides>47</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Proxima Nova</vt:lpstr>
      <vt:lpstr>Roboto</vt:lpstr>
      <vt:lpstr>Material</vt:lpstr>
      <vt:lpstr>A Little Bit About Me</vt:lpstr>
      <vt:lpstr>About me - professionally speaking</vt:lpstr>
      <vt:lpstr>Career Highlights</vt:lpstr>
      <vt:lpstr>About me - personally speaking</vt:lpstr>
      <vt:lpstr>My Go-To Reference Material</vt:lpstr>
      <vt:lpstr>My Personal “WHY” Statement</vt:lpstr>
      <vt:lpstr>An Overview of the Role of Product Marketing</vt:lpstr>
      <vt:lpstr>Agenda</vt:lpstr>
      <vt:lpstr>Introduction to Product Marketing</vt:lpstr>
      <vt:lpstr>What is a Product Marketer?</vt:lpstr>
      <vt:lpstr>What is a Product Marketer?</vt:lpstr>
      <vt:lpstr>Core Product Marketing Manager Skills</vt:lpstr>
      <vt:lpstr>Main Tasks of Product Marketing</vt:lpstr>
      <vt:lpstr>Standard PMM Bill of Materials</vt:lpstr>
      <vt:lpstr>Typical PMM Go-To Reference Materials</vt:lpstr>
      <vt:lpstr>Questions</vt:lpstr>
      <vt:lpstr>How Most Companies Approach Product Marketing</vt:lpstr>
      <vt:lpstr>How Most Companies Do PMM</vt:lpstr>
      <vt:lpstr>How SUCCESSFUL Companies Approach Product Marketing</vt:lpstr>
      <vt:lpstr>What Great Product Marketing Looks Like</vt:lpstr>
      <vt:lpstr>So How is Product Marketing different Compared to Other Functions</vt:lpstr>
      <vt:lpstr>Product Marketing Function vs. Product Management Function</vt:lpstr>
      <vt:lpstr>Product Marketing Function vs. Marketing Manager Function</vt:lpstr>
      <vt:lpstr>So How Do PMMs Fit Support Other Groups?</vt:lpstr>
      <vt:lpstr>What is The State of Traditional Product Marketing</vt:lpstr>
      <vt:lpstr>Current State vs. Desired State of PMM</vt:lpstr>
      <vt:lpstr>Where Does Product Marketing Fit</vt:lpstr>
      <vt:lpstr>What’s the Focus When PMM Reports to the CMO</vt:lpstr>
      <vt:lpstr>What Does GREAT Product Marketing Look Like?</vt:lpstr>
      <vt:lpstr>How Does Great Product Marketing Flow</vt:lpstr>
      <vt:lpstr>Questions</vt:lpstr>
      <vt:lpstr>What are My Expectations of You</vt:lpstr>
      <vt:lpstr>What I Expect From You</vt:lpstr>
      <vt:lpstr>What I Expect Out of Our Team</vt:lpstr>
      <vt:lpstr>How Do You Get There? SAMPLE Team Goals</vt:lpstr>
      <vt:lpstr>SAMPLE: 2H Product Goals - Focus on Awareness and Business Growth</vt:lpstr>
      <vt:lpstr>SAMPLEPMM: 2H Product STRETCH Goals </vt:lpstr>
      <vt:lpstr>IBM Storage PMM: 2H Functional Goals - Focus on Scale and Success</vt:lpstr>
      <vt:lpstr>IBM Storage PMM: 2H Functional STRETCH Goals</vt:lpstr>
      <vt:lpstr>Product Marketing On a Page </vt:lpstr>
      <vt:lpstr>The Role of PMM on a Page</vt:lpstr>
      <vt:lpstr>IBM Storage Product Marketing Deliverables </vt:lpstr>
      <vt:lpstr>Standard PMM Bill of Materials</vt:lpstr>
      <vt:lpstr>The Product Messaging Guide</vt:lpstr>
      <vt:lpstr>Stage-Based Sales Enablement</vt:lpstr>
      <vt:lpstr>Questions</vt:lpstr>
      <vt:lpstr>That’s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Storage PMM Team Meeting</dc:title>
  <cp:lastModifiedBy>Scott Baker</cp:lastModifiedBy>
  <cp:revision>11</cp:revision>
  <dcterms:modified xsi:type="dcterms:W3CDTF">2026-07-31T22:20:44Z</dcterms:modified>
</cp:coreProperties>
</file>